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90024"/>
          </a:solidFill>
          <a:ln w="12700">
            <a:solidFill>
              <a:srgbClr val="C900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37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ARMO • NEXT.JS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18288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780"/>
                </a:solidFill>
              </a:rPr>
              <a:t>Java / Spring Boot mental model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02124"/>
                </a:solidFill>
              </a:rPr>
              <a:t>Armo Next.js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143000" y="219456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86D76"/>
                </a:solidFill>
              </a:rPr>
              <a:t>Understand it using your Spring Boot Controller → Service → POJO/DTO → Repository mental model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383280" y="3063240"/>
            <a:ext cx="5394960" cy="0"/>
          </a:xfrm>
          <a:prstGeom prst="line">
            <a:avLst/>
          </a:prstGeom>
          <a:noFill/>
          <a:ln w="38100">
            <a:solidFill>
              <a:srgbClr val="C900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338328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86D76"/>
                </a:solidFill>
              </a:rPr>
              <a:t>Based on the supplied Armo Reputation Risk Screening implementation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39776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0024"/>
                </a:solidFill>
              </a:rPr>
              <a:t>Beginner-friendly • file-by-file • request flows • Java analogies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</a:rPr>
              <a:t>1. The big idea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6D76"/>
                </a:solidFill>
              </a:rPr>
              <a:t>Next.js contains both UI code and server/API code in the same project.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017520" cy="2011680"/>
          </a:xfrm>
          <a:prstGeom prst="roundRect">
            <a:avLst>
              <a:gd name="adj" fmla="val 2727"/>
            </a:avLst>
          </a:prstGeom>
          <a:solidFill>
            <a:srgbClr val="EAF2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609344"/>
            <a:ext cx="54864" cy="1993392"/>
          </a:xfrm>
          <a:prstGeom prst="rect">
            <a:avLst/>
          </a:prstGeom>
          <a:solidFill>
            <a:srgbClr val="3D73C5"/>
          </a:solidFill>
          <a:ln w="12700">
            <a:solidFill>
              <a:srgbClr val="3D73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46504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Frontend / Browser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103120"/>
            <a:ext cx="265176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React components (.tsx)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Hooks and state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Forms, buttons, tabs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Calls API clients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22192" y="2423160"/>
            <a:ext cx="502920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600200"/>
            <a:ext cx="3154680" cy="2011680"/>
          </a:xfrm>
          <a:prstGeom prst="roundRect">
            <a:avLst>
              <a:gd name="adj" fmla="val 2727"/>
            </a:avLst>
          </a:prstGeom>
          <a:solidFill>
            <a:srgbClr val="FFF3F5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9704" y="1609344"/>
            <a:ext cx="54864" cy="1993392"/>
          </a:xfrm>
          <a:prstGeom prst="rect">
            <a:avLst/>
          </a:prstGeom>
          <a:solidFill>
            <a:srgbClr val="C90024"/>
          </a:solidFill>
          <a:ln w="12700">
            <a:solidFill>
              <a:srgbClr val="C900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746504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Next.js Server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81728" y="2103120"/>
            <a:ext cx="2788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API route.ts 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Validation with Zod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Server-only services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Returns JSON / server-rendered UI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18120" y="2423160"/>
            <a:ext cx="502920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1600200"/>
            <a:ext cx="2971800" cy="2011680"/>
          </a:xfrm>
          <a:prstGeom prst="roundRect">
            <a:avLst>
              <a:gd name="adj" fmla="val 2727"/>
            </a:avLst>
          </a:prstGeom>
          <a:solidFill>
            <a:srgbClr val="EAF7F0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13064" y="1609344"/>
            <a:ext cx="54864" cy="1993392"/>
          </a:xfrm>
          <a:prstGeom prst="rect">
            <a:avLst/>
          </a:prstGeom>
          <a:solidFill>
            <a:srgbClr val="27895B"/>
          </a:solidFill>
          <a:ln w="12700">
            <a:solidFill>
              <a:srgbClr val="2789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05088" y="1746504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Data / Provider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05088" y="2103120"/>
            <a:ext cx="260604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entity-data.ts today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Fictional fixtures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Later: DB, internal API, screening provider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069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</a:rPr>
              <a:t>Spring Boot mindset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423160" y="4069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0024"/>
                </a:solidFill>
              </a:rPr>
              <a:t>Controller → Service → Repository → DTO/POJO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44805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6D76"/>
                </a:solidFill>
              </a:rPr>
              <a:t>still works — the names are different, but the responsibilities are familiar.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8A93"/>
                </a:solidFill>
              </a:rPr>
              <a:t>Source: project Architecture section and server/client component description.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</a:rPr>
              <a:t>2. Java → Next.js mapping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6D76"/>
                </a:solidFill>
              </a:rPr>
              <a:t>Use this as your translation table while reading the code.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698480" cy="4251960"/>
        </p:xfrm>
        <a:graphic>
          <a:graphicData uri="http://schemas.openxmlformats.org/drawingml/2006/table">
            <a:tbl>
              <a:tblPr/>
              <a:tblGrid>
                <a:gridCol w="3840480"/>
                <a:gridCol w="68580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</a:rPr>
                        <a:t>Spring Boot concept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</a:rPr>
                        <a:t>Armo Next.js file / concept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</a:rPr>
                        <a:t>@RestController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</a:rPr>
                        <a:t>app/api/**/route.ts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</a:rPr>
                        <a:t>@Service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</a:rPr>
                        <a:t>services/*-service.ts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</a:rPr>
                        <a:t>POJO / DTO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</a:rPr>
                        <a:t>types.ts (types inferred from schemas)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</a:rPr>
                        <a:t>Bean Validation / @Valid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</a:rPr>
                        <a:t>schema.ts + Zod safeParse/parse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</a:rPr>
                        <a:t>Feign / REST client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</a:rPr>
                        <a:t>services/*-api.ts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</a:rPr>
                        <a:t>Repository / mock DB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</a:rPr>
                        <a:t>features/entity-search/entity-data.ts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</a:rPr>
                        <a:t>View / React screen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</a:rPr>
                        <a:t>.tsx components under features/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</a:rPr>
                        <a:t>@PathVariable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</a:rPr>
                        <a:t>[id] route + params.id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59436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0024"/>
                </a:solidFill>
              </a:rPr>
              <a:t>Mental shortcut: find the UI → API client → route/controller → service → data/type.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</a:rPr>
              <a:t>3. Project structure — where each responsibility lives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6D76"/>
                </a:solidFill>
              </a:rPr>
              <a:t>The source is organized by route, reusable component, feature, service, and tests.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2103120" cy="3566160"/>
          </a:xfrm>
          <a:prstGeom prst="roundRect">
            <a:avLst>
              <a:gd name="adj" fmla="val 2609"/>
            </a:avLst>
          </a:prstGeom>
          <a:solidFill>
            <a:srgbClr val="FFF3F5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517904"/>
            <a:ext cx="54864" cy="3547872"/>
          </a:xfrm>
          <a:prstGeom prst="rect">
            <a:avLst/>
          </a:prstGeom>
          <a:solidFill>
            <a:srgbClr val="C90024"/>
          </a:solidFill>
          <a:ln w="12700">
            <a:solidFill>
              <a:srgbClr val="C900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65506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app/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011680"/>
            <a:ext cx="173736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layout.tsx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page.tsx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entities/[id]/page.tsx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api/entities/route.ts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api/screenings/route.ts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Routing + server entry points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80360" y="1508760"/>
            <a:ext cx="2103120" cy="3566160"/>
          </a:xfrm>
          <a:prstGeom prst="roundRect">
            <a:avLst>
              <a:gd name="adj" fmla="val 2609"/>
            </a:avLst>
          </a:prstGeom>
          <a:solidFill>
            <a:srgbClr val="EAF2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9504" y="1517904"/>
            <a:ext cx="54864" cy="3547872"/>
          </a:xfrm>
          <a:prstGeom prst="rect">
            <a:avLst/>
          </a:prstGeom>
          <a:solidFill>
            <a:srgbClr val="3D73C5"/>
          </a:solidFill>
          <a:ln w="12700">
            <a:solidFill>
              <a:srgbClr val="3D73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1528" y="165506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components/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81528" y="2011680"/>
            <a:ext cx="173736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layout/app-shell.tsx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layout/navigation.ts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ui/button.tsx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ui/input.tsx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Reusable application UI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66360" y="1508760"/>
            <a:ext cx="2743200" cy="3566160"/>
          </a:xfrm>
          <a:prstGeom prst="roundRect">
            <a:avLst>
              <a:gd name="adj" fmla="val 2000"/>
            </a:avLst>
          </a:prstGeom>
          <a:solidFill>
            <a:srgbClr val="F3EC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75504" y="1517904"/>
            <a:ext cx="54864" cy="3547872"/>
          </a:xfrm>
          <a:prstGeom prst="rect">
            <a:avLst/>
          </a:prstGeom>
          <a:solidFill>
            <a:srgbClr val="7554A5"/>
          </a:solidFill>
          <a:ln w="12700">
            <a:solidFill>
              <a:srgbClr val="7554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67528" y="165506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features/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67528" y="2011680"/>
            <a:ext cx="237744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entity-search/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  entity-search.tsx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  schema.ts / types.ts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  entity-data.ts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case-workspace/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  case-workspace.tsx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  case-state.ts / types.ts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Feature UI + feature models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92440" y="1508760"/>
            <a:ext cx="3474720" cy="3566160"/>
          </a:xfrm>
          <a:prstGeom prst="roundRect">
            <a:avLst>
              <a:gd name="adj" fmla="val 1579"/>
            </a:avLst>
          </a:prstGeom>
          <a:solidFill>
            <a:srgbClr val="EAF7F0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517904"/>
            <a:ext cx="54864" cy="3547872"/>
          </a:xfrm>
          <a:prstGeom prst="rect">
            <a:avLst/>
          </a:prstGeom>
          <a:solidFill>
            <a:srgbClr val="27895B"/>
          </a:solidFill>
          <a:ln w="12700">
            <a:solidFill>
              <a:srgbClr val="2789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165506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services/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93608" y="2011680"/>
            <a:ext cx="310896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entity-api.ts — browser API client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entity-service.ts — server adapter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screening-api.ts — browser API client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screening-service.ts — server adapter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Boundary between UI/API/provider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8A93"/>
                </a:solidFill>
              </a:rPr>
              <a:t>The project README explicitly labels browser-side API clients and server-only adapters.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</a:rPr>
              <a:t>4. Application entry and common layout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6D76"/>
                </a:solidFill>
              </a:rPr>
              <a:t>RootLayout supplies the permanent shell; the current page is inserted as children.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2880360" cy="3429000"/>
          </a:xfrm>
          <a:prstGeom prst="roundRect">
            <a:avLst>
              <a:gd name="adj" fmla="val 1905"/>
            </a:avLst>
          </a:prstGeom>
          <a:solidFill>
            <a:srgbClr val="FFF3F5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517904"/>
            <a:ext cx="54864" cy="3410712"/>
          </a:xfrm>
          <a:prstGeom prst="rect">
            <a:avLst/>
          </a:prstGeom>
          <a:solidFill>
            <a:srgbClr val="C90024"/>
          </a:solidFill>
          <a:ln w="12700">
            <a:solidFill>
              <a:srgbClr val="C900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655064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app/layout.tsx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2011680"/>
            <a:ext cx="251460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Root layout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Global metadata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&lt;html&gt; and &lt;body&gt;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Wraps every page with &lt;AppShell&gt;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Think: common application template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49040" y="2788920"/>
            <a:ext cx="457200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508760"/>
            <a:ext cx="3063240" cy="3429000"/>
          </a:xfrm>
          <a:prstGeom prst="roundRect">
            <a:avLst>
              <a:gd name="adj" fmla="val 1791"/>
            </a:avLst>
          </a:prstGeom>
          <a:solidFill>
            <a:srgbClr val="EAF2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98264" y="1517904"/>
            <a:ext cx="54864" cy="3410712"/>
          </a:xfrm>
          <a:prstGeom prst="rect">
            <a:avLst/>
          </a:prstGeom>
          <a:solidFill>
            <a:srgbClr val="3D73C5"/>
          </a:solidFill>
          <a:ln w="12700">
            <a:solidFill>
              <a:srgbClr val="3D73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655064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AppShell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0288" y="2011680"/>
            <a:ext cx="269748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Header + logo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Sidebar navigation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usePathname()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mobileOpen / collapsed state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&lt;main&gt;{children}&lt;/main&gt;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Think: reusable UI shell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35240" y="2788920"/>
            <a:ext cx="457200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508760"/>
            <a:ext cx="3154680" cy="3429000"/>
          </a:xfrm>
          <a:prstGeom prst="roundRect">
            <a:avLst>
              <a:gd name="adj" fmla="val 1739"/>
            </a:avLst>
          </a:prstGeom>
          <a:solidFill>
            <a:srgbClr val="EAF7F0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1517904"/>
            <a:ext cx="54864" cy="3410712"/>
          </a:xfrm>
          <a:prstGeom prst="rect">
            <a:avLst/>
          </a:prstGeom>
          <a:solidFill>
            <a:srgbClr val="27895B"/>
          </a:solidFill>
          <a:ln w="12700">
            <a:solidFill>
              <a:srgbClr val="2789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1655064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Current page.tsx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76488" y="2011680"/>
            <a:ext cx="27889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/ → EntitySearch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/cases → CaseQueuePage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/entities/ENT-001 → EntityPage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This page becomes children.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3492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86D76"/>
                </a:solidFill>
              </a:rPr>
              <a:t>React/Vite analogy: index.html + App.tsx responsibilities are distributed across Next.js layout and routing.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</a:rPr>
              <a:t>5. Entity Search — complete request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6D76"/>
                </a:solidFill>
              </a:rPr>
              <a:t>Example: user types “Meridian” and clicks Search.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828800"/>
            <a:ext cx="1508760" cy="2057400"/>
          </a:xfrm>
          <a:prstGeom prst="roundRect">
            <a:avLst>
              <a:gd name="adj" fmla="val 3636"/>
            </a:avLst>
          </a:prstGeom>
          <a:solidFill>
            <a:srgbClr val="EAF2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" y="1837944"/>
            <a:ext cx="54864" cy="2039112"/>
          </a:xfrm>
          <a:prstGeom prst="rect">
            <a:avLst/>
          </a:prstGeom>
          <a:solidFill>
            <a:srgbClr val="3D73C5"/>
          </a:solidFill>
          <a:ln w="12700">
            <a:solidFill>
              <a:srgbClr val="3D73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97510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EntitySearch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1208" y="2331720"/>
            <a:ext cx="1143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Form + hooks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handleSubmit()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74520" y="2651760"/>
            <a:ext cx="256032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1828800"/>
            <a:ext cx="1508760" cy="2057400"/>
          </a:xfrm>
          <a:prstGeom prst="roundRect">
            <a:avLst>
              <a:gd name="adj" fmla="val 3636"/>
            </a:avLst>
          </a:prstGeom>
          <a:solidFill>
            <a:srgbClr val="EAF2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66544" y="1837944"/>
            <a:ext cx="54864" cy="2039112"/>
          </a:xfrm>
          <a:prstGeom prst="rect">
            <a:avLst/>
          </a:prstGeom>
          <a:solidFill>
            <a:srgbClr val="3D73C5"/>
          </a:solidFill>
          <a:ln w="12700">
            <a:solidFill>
              <a:srgbClr val="3D73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58568" y="197510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entity-api.ts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58568" y="2331720"/>
            <a:ext cx="1143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fetch 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/api/entities?q=...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1880" y="2651760"/>
            <a:ext cx="256032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86200" y="1828800"/>
            <a:ext cx="1508760" cy="2057400"/>
          </a:xfrm>
          <a:prstGeom prst="roundRect">
            <a:avLst>
              <a:gd name="adj" fmla="val 3636"/>
            </a:avLst>
          </a:prstGeom>
          <a:solidFill>
            <a:srgbClr val="FFF3F5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95344" y="1837944"/>
            <a:ext cx="54864" cy="2039112"/>
          </a:xfrm>
          <a:prstGeom prst="rect">
            <a:avLst/>
          </a:prstGeom>
          <a:solidFill>
            <a:srgbClr val="C90024"/>
          </a:solidFill>
          <a:ln w="12700">
            <a:solidFill>
              <a:srgbClr val="C900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87368" y="197510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route.ts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87368" y="2331720"/>
            <a:ext cx="1143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Controller-like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validate request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40680" y="2651760"/>
            <a:ext cx="256032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15000" y="1828800"/>
            <a:ext cx="1508760" cy="2057400"/>
          </a:xfrm>
          <a:prstGeom prst="roundRect">
            <a:avLst>
              <a:gd name="adj" fmla="val 3636"/>
            </a:avLst>
          </a:prstGeom>
          <a:solidFill>
            <a:srgbClr val="EAF7F0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24144" y="1837944"/>
            <a:ext cx="54864" cy="2039112"/>
          </a:xfrm>
          <a:prstGeom prst="rect">
            <a:avLst/>
          </a:prstGeom>
          <a:solidFill>
            <a:srgbClr val="27895B"/>
          </a:solidFill>
          <a:ln w="12700">
            <a:solidFill>
              <a:srgbClr val="2789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16168" y="197510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entity-service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16168" y="2331720"/>
            <a:ext cx="1143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searchEntities(query)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69480" y="2651760"/>
            <a:ext cx="256032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1828800"/>
            <a:ext cx="1508760" cy="2057400"/>
          </a:xfrm>
          <a:prstGeom prst="roundRect">
            <a:avLst>
              <a:gd name="adj" fmla="val 3636"/>
            </a:avLst>
          </a:prstGeom>
          <a:solidFill>
            <a:srgbClr val="EAF7F0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52944" y="1837944"/>
            <a:ext cx="54864" cy="2039112"/>
          </a:xfrm>
          <a:prstGeom prst="rect">
            <a:avLst/>
          </a:prstGeom>
          <a:solidFill>
            <a:srgbClr val="27895B"/>
          </a:solidFill>
          <a:ln w="12700">
            <a:solidFill>
              <a:srgbClr val="2789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44968" y="197510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entity-data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44968" y="2331720"/>
            <a:ext cx="1143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filter mock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Entity[]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98280" y="2651760"/>
            <a:ext cx="256032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72600" y="1828800"/>
            <a:ext cx="1508760" cy="2057400"/>
          </a:xfrm>
          <a:prstGeom prst="roundRect">
            <a:avLst>
              <a:gd name="adj" fmla="val 3636"/>
            </a:avLst>
          </a:prstGeom>
          <a:solidFill>
            <a:srgbClr val="F3EC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81744" y="1837944"/>
            <a:ext cx="54864" cy="2039112"/>
          </a:xfrm>
          <a:prstGeom prst="rect">
            <a:avLst/>
          </a:prstGeom>
          <a:solidFill>
            <a:srgbClr val="7554A5"/>
          </a:solidFill>
          <a:ln w="12700">
            <a:solidFill>
              <a:srgbClr val="7554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73768" y="197510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Response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573768" y="2331720"/>
            <a:ext cx="1143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JSON → 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render matches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4251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86D76"/>
                </a:solidFill>
              </a:rPr>
              <a:t>Return path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875520" y="4160520"/>
            <a:ext cx="-7315200" cy="0"/>
          </a:xfrm>
          <a:prstGeom prst="line">
            <a:avLst/>
          </a:prstGeom>
          <a:noFill/>
          <a:ln w="25400">
            <a:solidFill>
              <a:srgbClr val="C90024"/>
            </a:solidFill>
            <a:prstDash val="solid"/>
            <a:headEnd type="triangle"/>
          </a:ln>
        </p:spPr>
      </p:sp>
      <p:sp>
        <p:nvSpPr>
          <p:cNvPr id="35" name="Text 33"/>
          <p:cNvSpPr/>
          <p:nvPr/>
        </p:nvSpPr>
        <p:spPr>
          <a:xfrm>
            <a:off x="1280160" y="47548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Entity[] comes back through JSON, is validated, stored in React state, then rendered as EntityResult components.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</a:rPr>
              <a:t>6. EntitySearch.tsx = browser UI/controller-like orchestration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6D76"/>
                </a:solidFill>
              </a:rPr>
              <a:t>This component owns the search form state and browser event flow.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291840" cy="4160520"/>
          </a:xfrm>
          <a:prstGeom prst="roundRect">
            <a:avLst>
              <a:gd name="adj" fmla="val 1667"/>
            </a:avLst>
          </a:prstGeom>
          <a:solidFill>
            <a:srgbClr val="EAF2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517904"/>
            <a:ext cx="54864" cy="4142232"/>
          </a:xfrm>
          <a:prstGeom prst="rect">
            <a:avLst/>
          </a:prstGeom>
          <a:solidFill>
            <a:srgbClr val="3D73C5"/>
          </a:solidFill>
          <a:ln w="12700">
            <a:solidFill>
              <a:srgbClr val="3D73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55064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Important hooks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011680"/>
            <a:ext cx="29260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useState("") → query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useState&lt;Entity[]&gt;([]) → results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useState(false) → loading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useRef(...) → active request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useEffect(...) → cleanup / abort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handleSubmit() reacts to form submit.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1508760"/>
            <a:ext cx="3291840" cy="4160520"/>
          </a:xfrm>
          <a:prstGeom prst="roundRect">
            <a:avLst>
              <a:gd name="adj" fmla="val 1667"/>
            </a:avLst>
          </a:prstGeom>
          <a:solidFill>
            <a:srgbClr val="FFF3F5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9664" y="1517904"/>
            <a:ext cx="54864" cy="4142232"/>
          </a:xfrm>
          <a:prstGeom prst="rect">
            <a:avLst/>
          </a:prstGeom>
          <a:solidFill>
            <a:srgbClr val="C90024"/>
          </a:solidFill>
          <a:ln w="12700">
            <a:solidFill>
              <a:srgbClr val="C900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61688" y="1655064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handleSubmit() flow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61688" y="2011680"/>
            <a:ext cx="29260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1. preventDefault()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2. reject duplicate request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3. validate query with Zod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4. set loading/error state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5. call searchEntityDirectory()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6. setEntities(response.entities)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7. UI automatically re-renders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0960" y="1508760"/>
            <a:ext cx="3794760" cy="4160520"/>
          </a:xfrm>
          <a:prstGeom prst="roundRect">
            <a:avLst>
              <a:gd name="adj" fmla="val 1446"/>
            </a:avLst>
          </a:prstGeom>
          <a:solidFill>
            <a:srgbClr val="EAF7F0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90104" y="1517904"/>
            <a:ext cx="54864" cy="4142232"/>
          </a:xfrm>
          <a:prstGeom prst="rect">
            <a:avLst/>
          </a:prstGeom>
          <a:solidFill>
            <a:srgbClr val="27895B"/>
          </a:solidFill>
          <a:ln w="12700">
            <a:solidFill>
              <a:srgbClr val="2789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82128" y="1655064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Java mental 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82128" y="2011680"/>
            <a:ext cx="342900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Not a Spring @Controller.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Think closer to a frontend screen/controller that holds view state and invokes a REST client.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setEntities(...) is like updating the view model; React then redraws the relevant UI.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</a:rPr>
              <a:t>7. entity-api.ts = Feign / REST client on the browser side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6D76"/>
                </a:solidFill>
              </a:rPr>
              <a:t>It hides fetch details from the UI and validates the response contract.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3200400" cy="3474720"/>
          </a:xfrm>
          <a:prstGeom prst="roundRect">
            <a:avLst>
              <a:gd name="adj" fmla="val 1714"/>
            </a:avLst>
          </a:prstGeom>
          <a:solidFill>
            <a:srgbClr val="EAF2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609344"/>
            <a:ext cx="54864" cy="3456432"/>
          </a:xfrm>
          <a:prstGeom prst="rect">
            <a:avLst/>
          </a:prstGeom>
          <a:solidFill>
            <a:srgbClr val="3D73C5"/>
          </a:solidFill>
          <a:ln w="12700">
            <a:solidFill>
              <a:srgbClr val="3D73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4650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Input contract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2103120"/>
            <a:ext cx="283464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EntitySearchRequest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{ query: string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Validates request using entitySearchRequestSchema.parse(request).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2834640"/>
            <a:ext cx="457200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600200"/>
            <a:ext cx="3200400" cy="3474720"/>
          </a:xfrm>
          <a:prstGeom prst="roundRect">
            <a:avLst>
              <a:gd name="adj" fmla="val 1714"/>
            </a:avLst>
          </a:prstGeom>
          <a:solidFill>
            <a:srgbClr val="FFF3F5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1144" y="1609344"/>
            <a:ext cx="54864" cy="3456432"/>
          </a:xfrm>
          <a:prstGeom prst="rect">
            <a:avLst/>
          </a:prstGeom>
          <a:solidFill>
            <a:srgbClr val="C90024"/>
          </a:solidFill>
          <a:ln w="12700">
            <a:solidFill>
              <a:srgbClr val="C900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74650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HTTP call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73168" y="2103120"/>
            <a:ext cx="283464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GET /api/entities?q=Meridian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Accept: application/json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cache: no-store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AbortSignal supported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2834640"/>
            <a:ext cx="457200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58200" y="1600200"/>
            <a:ext cx="3063240" cy="3474720"/>
          </a:xfrm>
          <a:prstGeom prst="roundRect">
            <a:avLst>
              <a:gd name="adj" fmla="val 1791"/>
            </a:avLst>
          </a:prstGeom>
          <a:solidFill>
            <a:srgbClr val="EAF7F0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67344" y="1609344"/>
            <a:ext cx="54864" cy="3456432"/>
          </a:xfrm>
          <a:prstGeom prst="rect">
            <a:avLst/>
          </a:prstGeom>
          <a:solidFill>
            <a:srgbClr val="27895B"/>
          </a:solidFill>
          <a:ln w="12700">
            <a:solidFill>
              <a:srgbClr val="2789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59368" y="1746504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Response contract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59368" y="2103120"/>
            <a:ext cx="269748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Checks response.ok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Parses 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Validates with entitySearchResponseSchema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Returns EntitySearchResponse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0024"/>
                </a:solidFill>
              </a:rPr>
              <a:t>Java analogy: a typed Feign/WebClient wrapper rather than writing HTTP code inside every component.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</a:rPr>
              <a:t>8. app/api/entities/route.ts = Controller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6D76"/>
                </a:solidFill>
              </a:rPr>
              <a:t>This is the strongest Spring Boot controller analogy in the search flow.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3154680" cy="3840480"/>
          </a:xfrm>
          <a:prstGeom prst="roundRect">
            <a:avLst>
              <a:gd name="adj" fmla="val 1739"/>
            </a:avLst>
          </a:prstGeom>
          <a:solidFill>
            <a:srgbClr val="FFF3F5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563624"/>
            <a:ext cx="54864" cy="3822192"/>
          </a:xfrm>
          <a:prstGeom prst="rect">
            <a:avLst/>
          </a:prstGeom>
          <a:solidFill>
            <a:srgbClr val="C90024"/>
          </a:solidFill>
          <a:ln w="12700">
            <a:solidFill>
              <a:srgbClr val="C900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00784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1 — Receive request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2057400"/>
            <a:ext cx="278892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export async function GET(request)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Reads q from request.nextUrl.searchParams.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1554480"/>
            <a:ext cx="3154680" cy="3840480"/>
          </a:xfrm>
          <a:prstGeom prst="roundRect">
            <a:avLst>
              <a:gd name="adj" fmla="val 1739"/>
            </a:avLst>
          </a:prstGeom>
          <a:solidFill>
            <a:srgbClr val="EAF2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78224" y="1563624"/>
            <a:ext cx="54864" cy="3822192"/>
          </a:xfrm>
          <a:prstGeom prst="rect">
            <a:avLst/>
          </a:prstGeom>
          <a:solidFill>
            <a:srgbClr val="3D73C5"/>
          </a:solidFill>
          <a:ln w="12700">
            <a:solidFill>
              <a:srgbClr val="3D73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70248" y="1700784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2 — Validate + call service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70248" y="2057400"/>
            <a:ext cx="278892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entitySearchRequestSchema.safeParse(...)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If invalid → HTTP 400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await searchEntities(query)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52360" y="1554480"/>
            <a:ext cx="3977640" cy="3840480"/>
          </a:xfrm>
          <a:prstGeom prst="roundRect">
            <a:avLst>
              <a:gd name="adj" fmla="val 1429"/>
            </a:avLst>
          </a:prstGeom>
          <a:solidFill>
            <a:srgbClr val="EAF7F0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61504" y="1563624"/>
            <a:ext cx="54864" cy="3822192"/>
          </a:xfrm>
          <a:prstGeom prst="rect">
            <a:avLst/>
          </a:prstGeom>
          <a:solidFill>
            <a:srgbClr val="27895B"/>
          </a:solidFill>
          <a:ln w="12700">
            <a:solidFill>
              <a:srgbClr val="2789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53528" y="1700784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3 — Build HTTP response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53528" y="2057400"/>
            <a:ext cx="361188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Success → JSON { query, entities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Service failure → HTTP 503 + generic error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Cache-Control: private, no-store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57150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@GetMapping + @RequestParam + @Valid + ResponseEntity — same responsibility, different syntax.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</a:rPr>
              <a:t>9. schema.ts + types.ts = validation + DTO/POJO contracts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6D76"/>
                </a:solidFill>
              </a:rPr>
              <a:t>Zod defines runtime rules; TypeScript derives compile-time types from those rules.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3291840" cy="4160520"/>
          </a:xfrm>
          <a:prstGeom prst="roundRect">
            <a:avLst>
              <a:gd name="adj" fmla="val 1667"/>
            </a:avLst>
          </a:prstGeom>
          <a:solidFill>
            <a:srgbClr val="F3EC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517904"/>
            <a:ext cx="54864" cy="4142232"/>
          </a:xfrm>
          <a:prstGeom prst="rect">
            <a:avLst/>
          </a:prstGeom>
          <a:solidFill>
            <a:srgbClr val="7554A5"/>
          </a:solidFill>
          <a:ln w="12700">
            <a:solidFill>
              <a:srgbClr val="7554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655064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schema.ts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2011680"/>
            <a:ext cx="29260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entitySearchQuerySchema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trim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min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max 120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reject control chars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entitySchema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id, name, legalName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country, sector, gcif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group[] + ownership rules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508760"/>
            <a:ext cx="3291840" cy="4160520"/>
          </a:xfrm>
          <a:prstGeom prst="roundRect">
            <a:avLst>
              <a:gd name="adj" fmla="val 1667"/>
            </a:avLst>
          </a:prstGeom>
          <a:solidFill>
            <a:srgbClr val="EAF2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61104" y="1517904"/>
            <a:ext cx="54864" cy="4142232"/>
          </a:xfrm>
          <a:prstGeom prst="rect">
            <a:avLst/>
          </a:prstGeom>
          <a:solidFill>
            <a:srgbClr val="3D73C5"/>
          </a:solidFill>
          <a:ln w="12700">
            <a:solidFill>
              <a:srgbClr val="3D73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3128" y="1655064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types.ts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53128" y="2011680"/>
            <a:ext cx="29260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type Entity = z.infer&lt;typeof entitySchema&gt;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type EntitySearchRequest =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type EntitySearchResponse = 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interface EntitySearchErrorResponse { error: string 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1508760"/>
            <a:ext cx="3611880" cy="4160520"/>
          </a:xfrm>
          <a:prstGeom prst="roundRect">
            <a:avLst>
              <a:gd name="adj" fmla="val 1519"/>
            </a:avLst>
          </a:prstGeom>
          <a:solidFill>
            <a:srgbClr val="EAF7F0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27264" y="1517904"/>
            <a:ext cx="54864" cy="4142232"/>
          </a:xfrm>
          <a:prstGeom prst="rect">
            <a:avLst/>
          </a:prstGeom>
          <a:solidFill>
            <a:srgbClr val="27895B"/>
          </a:solidFill>
          <a:ln w="12700">
            <a:solidFill>
              <a:srgbClr val="2789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1655064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Java analogy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19288" y="2011680"/>
            <a:ext cx="324612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schema.ts ≈ Bean Validation rules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@NotBlank @Size 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types.ts ≈ DTO / POJO / record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Key difference: Zod can validate actual runtime JSON; TS types disappear at runtime.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</a:rPr>
              <a:t>10. entity-service.ts + entity-data.ts = Service + current data adapter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6D76"/>
                </a:solidFill>
              </a:rPr>
              <a:t>The service protects server-only access and delegates to the data functions.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3154680" cy="3886200"/>
          </a:xfrm>
          <a:prstGeom prst="roundRect">
            <a:avLst>
              <a:gd name="adj" fmla="val 1739"/>
            </a:avLst>
          </a:prstGeom>
          <a:solidFill>
            <a:srgbClr val="EAF7F0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563624"/>
            <a:ext cx="54864" cy="3867912"/>
          </a:xfrm>
          <a:prstGeom prst="rect">
            <a:avLst/>
          </a:prstGeom>
          <a:solidFill>
            <a:srgbClr val="27895B"/>
          </a:solidFill>
          <a:ln w="12700">
            <a:solidFill>
              <a:srgbClr val="2789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00784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entity-service.ts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2057400"/>
            <a:ext cx="2788920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import "server-only"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searchEntities(query)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→ validates query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→ searchEntityRecords(...)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getEntityById(id)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→ findEntityRecord(id)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2880360"/>
            <a:ext cx="457200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554480"/>
            <a:ext cx="3154680" cy="3886200"/>
          </a:xfrm>
          <a:prstGeom prst="roundRect">
            <a:avLst>
              <a:gd name="adj" fmla="val 1739"/>
            </a:avLst>
          </a:prstGeom>
          <a:solidFill>
            <a:srgbClr val="FFF5D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26864" y="1563624"/>
            <a:ext cx="54864" cy="3867912"/>
          </a:xfrm>
          <a:prstGeom prst="rect">
            <a:avLst/>
          </a:prstGeom>
          <a:solidFill>
            <a:srgbClr val="B97800"/>
          </a:solidFill>
          <a:ln w="12700">
            <a:solidFill>
              <a:srgbClr val="B97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700784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entity-data.ts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18888" y="2057400"/>
            <a:ext cx="2788920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const entities = [...]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searchEntityRecords()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→ filter searchable fields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findEntityRecord()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→ exact ID match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structuredClone() protects source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2880360"/>
            <a:ext cx="457200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1554480"/>
            <a:ext cx="2971800" cy="3886200"/>
          </a:xfrm>
          <a:prstGeom prst="roundRect">
            <a:avLst>
              <a:gd name="adj" fmla="val 1846"/>
            </a:avLst>
          </a:prstGeom>
          <a:solidFill>
            <a:srgbClr val="FFF3F5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13064" y="1563624"/>
            <a:ext cx="54864" cy="3867912"/>
          </a:xfrm>
          <a:prstGeom prst="rect">
            <a:avLst/>
          </a:prstGeom>
          <a:solidFill>
            <a:srgbClr val="C90024"/>
          </a:solidFill>
          <a:ln w="12700">
            <a:solidFill>
              <a:srgbClr val="C900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05088" y="1700784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Future production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05088" y="2057400"/>
            <a:ext cx="2606040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Replace mock adapter with: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DB repository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enterprise entity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directory service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Keep service/API contracts stable.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0024"/>
                </a:solidFill>
              </a:rPr>
              <a:t>Today entity-data.ts is effectively “repository + mock database”, not a real persistent repository.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</a:rPr>
              <a:t>11. Dynamic Entity page — /entities/ENT-001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6D76"/>
                </a:solidFill>
              </a:rPr>
              <a:t>Next.js converts the URL segment into params.id and loads the entity on the server.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874520" cy="2103120"/>
          </a:xfrm>
          <a:prstGeom prst="roundRect">
            <a:avLst>
              <a:gd name="adj" fmla="val 2927"/>
            </a:avLst>
          </a:prstGeom>
          <a:solidFill>
            <a:srgbClr val="EAF2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" y="1746504"/>
            <a:ext cx="54864" cy="2084832"/>
          </a:xfrm>
          <a:prstGeom prst="rect">
            <a:avLst/>
          </a:prstGeom>
          <a:solidFill>
            <a:srgbClr val="3D73C5"/>
          </a:solidFill>
          <a:ln w="12700">
            <a:solidFill>
              <a:srgbClr val="3D73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83664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Browser URL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240280"/>
            <a:ext cx="15087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/entities/ENT-001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User clicks Confirm Entity / Open Case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2606040"/>
            <a:ext cx="320040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0360" y="1737360"/>
            <a:ext cx="1874520" cy="2103120"/>
          </a:xfrm>
          <a:prstGeom prst="roundRect">
            <a:avLst>
              <a:gd name="adj" fmla="val 2927"/>
            </a:avLst>
          </a:prstGeom>
          <a:solidFill>
            <a:srgbClr val="F3EC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9504" y="1746504"/>
            <a:ext cx="54864" cy="2084832"/>
          </a:xfrm>
          <a:prstGeom prst="rect">
            <a:avLst/>
          </a:prstGeom>
          <a:solidFill>
            <a:srgbClr val="7554A5"/>
          </a:solidFill>
          <a:ln w="12700">
            <a:solidFill>
              <a:srgbClr val="7554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81528" y="1883664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[id]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81528" y="2240280"/>
            <a:ext cx="15087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Dynamic folder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id = "ENT-001"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2606040"/>
            <a:ext cx="320040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1737360"/>
            <a:ext cx="1874520" cy="2103120"/>
          </a:xfrm>
          <a:prstGeom prst="roundRect">
            <a:avLst>
              <a:gd name="adj" fmla="val 2927"/>
            </a:avLst>
          </a:prstGeom>
          <a:solidFill>
            <a:srgbClr val="FFF3F5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2664" y="1746504"/>
            <a:ext cx="54864" cy="2084832"/>
          </a:xfrm>
          <a:prstGeom prst="rect">
            <a:avLst/>
          </a:prstGeom>
          <a:solidFill>
            <a:srgbClr val="C90024"/>
          </a:solidFill>
          <a:ln w="12700">
            <a:solidFill>
              <a:srgbClr val="C900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1883664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page.tsx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04688" y="2240280"/>
            <a:ext cx="15087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await params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getEntityById(id)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notFound() if null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0" y="2606040"/>
            <a:ext cx="320040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26680" y="1737360"/>
            <a:ext cx="1874520" cy="2103120"/>
          </a:xfrm>
          <a:prstGeom prst="roundRect">
            <a:avLst>
              <a:gd name="adj" fmla="val 2927"/>
            </a:avLst>
          </a:prstGeom>
          <a:solidFill>
            <a:srgbClr val="EAF7F0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35824" y="1746504"/>
            <a:ext cx="54864" cy="2084832"/>
          </a:xfrm>
          <a:prstGeom prst="rect">
            <a:avLst/>
          </a:prstGeom>
          <a:solidFill>
            <a:srgbClr val="27895B"/>
          </a:solidFill>
          <a:ln w="12700">
            <a:solidFill>
              <a:srgbClr val="2789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27848" y="1883664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Service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27848" y="2240280"/>
            <a:ext cx="15087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entity-service.ts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→ findEntityRecord(id)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738360" y="2606040"/>
            <a:ext cx="320040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49840" y="1737360"/>
            <a:ext cx="1600200" cy="2103120"/>
          </a:xfrm>
          <a:prstGeom prst="roundRect">
            <a:avLst>
              <a:gd name="adj" fmla="val 3429"/>
            </a:avLst>
          </a:prstGeom>
          <a:solidFill>
            <a:srgbClr val="EAF2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58984" y="1746504"/>
            <a:ext cx="54864" cy="2084832"/>
          </a:xfrm>
          <a:prstGeom prst="rect">
            <a:avLst/>
          </a:prstGeom>
          <a:solidFill>
            <a:srgbClr val="3D73C5"/>
          </a:solidFill>
          <a:ln w="12700">
            <a:solidFill>
              <a:srgbClr val="3D73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51008" y="1883664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UI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351008" y="2240280"/>
            <a:ext cx="12344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&lt;CaseWorkspace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 entity={entity}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/&gt;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Spring analogy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103120" y="438912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0024"/>
                </a:solidFill>
              </a:rPr>
              <a:t>@GetMapping("/entities/{id}") + @PathVariable String id + service.getEntityById(id)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4892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6D76"/>
                </a:solidFill>
              </a:rPr>
              <a:t>Difference: this page returns a server-rendered React component rather than a REST JSON response.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</a:rPr>
              <a:t>12. CaseWorkspace = interactive workflow coordinator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6D76"/>
                </a:solidFill>
              </a:rPr>
              <a:t>It receives Entity as a prop and coordinates tabs, state, screening, assessment and memo.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337560" cy="4251960"/>
          </a:xfrm>
          <a:prstGeom prst="roundRect">
            <a:avLst>
              <a:gd name="adj" fmla="val 1644"/>
            </a:avLst>
          </a:prstGeom>
          <a:solidFill>
            <a:srgbClr val="F3EC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517904"/>
            <a:ext cx="54864" cy="4233672"/>
          </a:xfrm>
          <a:prstGeom prst="rect">
            <a:avLst/>
          </a:prstGeom>
          <a:solidFill>
            <a:srgbClr val="7554A5"/>
          </a:solidFill>
          <a:ln w="12700">
            <a:solidFill>
              <a:srgbClr val="7554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55064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State engine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011680"/>
            <a:ext cx="2971800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useReducer(caseReducer, initialCaseState)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State contains: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tab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report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error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metadata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• policy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dispatch(action) changes state predictably.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508760"/>
            <a:ext cx="3337560" cy="4251960"/>
          </a:xfrm>
          <a:prstGeom prst="roundRect">
            <a:avLst>
              <a:gd name="adj" fmla="val 1644"/>
            </a:avLst>
          </a:prstGeom>
          <a:solidFill>
            <a:srgbClr val="EAF2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15384" y="1517904"/>
            <a:ext cx="54864" cy="4233672"/>
          </a:xfrm>
          <a:prstGeom prst="rect">
            <a:avLst/>
          </a:prstGeom>
          <a:solidFill>
            <a:srgbClr val="3D73C5"/>
          </a:solidFill>
          <a:ln w="12700">
            <a:solidFill>
              <a:srgbClr val="3D73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7408" y="1655064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Child UI components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07408" y="2011680"/>
            <a:ext cx="2971800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CaseTabs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OverviewPanel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ScreeningProgress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AssessmentPanel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MemoPanel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Props move data downward.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Callbacks/dispatch move events upward.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0" y="1508760"/>
            <a:ext cx="3703320" cy="4251960"/>
          </a:xfrm>
          <a:prstGeom prst="roundRect">
            <a:avLst>
              <a:gd name="adj" fmla="val 1481"/>
            </a:avLst>
          </a:prstGeom>
          <a:solidFill>
            <a:srgbClr val="EAF7F0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1544" y="1517904"/>
            <a:ext cx="54864" cy="4233672"/>
          </a:xfrm>
          <a:prstGeom prst="rect">
            <a:avLst/>
          </a:prstGeom>
          <a:solidFill>
            <a:srgbClr val="27895B"/>
          </a:solidFill>
          <a:ln w="12700">
            <a:solidFill>
              <a:srgbClr val="2789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73568" y="1655064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Java mental 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73568" y="2011680"/>
            <a:ext cx="3337560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Do NOT call this @Service.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It is a client-side UI workflow coordinator.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caseReducer is like a state machine: action + old state → new state.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No global state library is used.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</a:rPr>
              <a:t>13. Screening flow — POST from browser to server service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6D76"/>
                </a:solidFill>
              </a:rPr>
              <a:t>Click “Launch Screening Engine” starts an asynchronous API flow.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1828800"/>
            <a:ext cx="1645920" cy="2194560"/>
          </a:xfrm>
          <a:prstGeom prst="roundRect">
            <a:avLst>
              <a:gd name="adj" fmla="val 3333"/>
            </a:avLst>
          </a:prstGeom>
          <a:solidFill>
            <a:srgbClr val="EAF2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" y="1837944"/>
            <a:ext cx="54864" cy="2176272"/>
          </a:xfrm>
          <a:prstGeom prst="rect">
            <a:avLst/>
          </a:prstGeom>
          <a:solidFill>
            <a:srgbClr val="3D73C5"/>
          </a:solidFill>
          <a:ln w="12700">
            <a:solidFill>
              <a:srgbClr val="3D73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97510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CaseWorkspace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" y="2331720"/>
            <a:ext cx="128016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launchScreening()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status=running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01952" y="2724912"/>
            <a:ext cx="210312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8840" y="1828800"/>
            <a:ext cx="1645920" cy="2194560"/>
          </a:xfrm>
          <a:prstGeom prst="roundRect">
            <a:avLst>
              <a:gd name="adj" fmla="val 3333"/>
            </a:avLst>
          </a:prstGeom>
          <a:solidFill>
            <a:srgbClr val="EAF2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57984" y="1837944"/>
            <a:ext cx="54864" cy="2176272"/>
          </a:xfrm>
          <a:prstGeom prst="rect">
            <a:avLst/>
          </a:prstGeom>
          <a:solidFill>
            <a:srgbClr val="3D73C5"/>
          </a:solidFill>
          <a:ln w="12700">
            <a:solidFill>
              <a:srgbClr val="3D73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97510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screening-api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50008" y="2331720"/>
            <a:ext cx="128016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fetch POST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/api/screenings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22192" y="2724912"/>
            <a:ext cx="210312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69080" y="1828800"/>
            <a:ext cx="1645920" cy="2194560"/>
          </a:xfrm>
          <a:prstGeom prst="roundRect">
            <a:avLst>
              <a:gd name="adj" fmla="val 3333"/>
            </a:avLst>
          </a:prstGeom>
          <a:solidFill>
            <a:srgbClr val="FFF3F5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78224" y="1837944"/>
            <a:ext cx="54864" cy="2176272"/>
          </a:xfrm>
          <a:prstGeom prst="rect">
            <a:avLst/>
          </a:prstGeom>
          <a:solidFill>
            <a:srgbClr val="C90024"/>
          </a:solidFill>
          <a:ln w="12700">
            <a:solidFill>
              <a:srgbClr val="C900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0248" y="197510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POST route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70248" y="2331720"/>
            <a:ext cx="128016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Validate origin,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JSON, size, entityId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42432" y="2724912"/>
            <a:ext cx="210312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828800"/>
            <a:ext cx="1645920" cy="2194560"/>
          </a:xfrm>
          <a:prstGeom prst="roundRect">
            <a:avLst>
              <a:gd name="adj" fmla="val 3333"/>
            </a:avLst>
          </a:prstGeom>
          <a:solidFill>
            <a:srgbClr val="EAF7F0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98464" y="1837944"/>
            <a:ext cx="54864" cy="2176272"/>
          </a:xfrm>
          <a:prstGeom prst="rect">
            <a:avLst/>
          </a:prstGeom>
          <a:solidFill>
            <a:srgbClr val="27895B"/>
          </a:solidFill>
          <a:ln w="12700">
            <a:solidFill>
              <a:srgbClr val="2789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197510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screening-service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90488" y="2331720"/>
            <a:ext cx="128016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runScreening(id)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getEntityById()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62672" y="2724912"/>
            <a:ext cx="210312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09560" y="1828800"/>
            <a:ext cx="1645920" cy="2194560"/>
          </a:xfrm>
          <a:prstGeom prst="roundRect">
            <a:avLst>
              <a:gd name="adj" fmla="val 3333"/>
            </a:avLst>
          </a:prstGeom>
          <a:solidFill>
            <a:srgbClr val="FFF5D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18704" y="1837944"/>
            <a:ext cx="54864" cy="2176272"/>
          </a:xfrm>
          <a:prstGeom prst="rect">
            <a:avLst/>
          </a:prstGeom>
          <a:solidFill>
            <a:srgbClr val="B97800"/>
          </a:solidFill>
          <a:ln w="12700">
            <a:solidFill>
              <a:srgbClr val="B97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10728" y="197510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Mock report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10728" y="2331720"/>
            <a:ext cx="128016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1.8s delay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ScreeningReport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582912" y="2724912"/>
            <a:ext cx="210312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29800" y="1828800"/>
            <a:ext cx="1645920" cy="2194560"/>
          </a:xfrm>
          <a:prstGeom prst="roundRect">
            <a:avLst>
              <a:gd name="adj" fmla="val 3333"/>
            </a:avLst>
          </a:prstGeom>
          <a:solidFill>
            <a:srgbClr val="F3EC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38944" y="1837944"/>
            <a:ext cx="54864" cy="2176272"/>
          </a:xfrm>
          <a:prstGeom prst="rect">
            <a:avLst/>
          </a:prstGeom>
          <a:solidFill>
            <a:srgbClr val="7554A5"/>
          </a:solidFill>
          <a:ln w="12700">
            <a:solidFill>
              <a:srgbClr val="7554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30968" y="197510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Assessment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30968" y="2331720"/>
            <a:ext cx="128016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dispatch complete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render findings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45262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124"/>
                </a:solidFill>
              </a:rPr>
              <a:t>Error paths are explicit: 403 origin, 415 content type, 413 size, 400 validation, 404 entity, 500 provider failure.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" y="5074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0024"/>
                </a:solidFill>
              </a:rPr>
              <a:t>screening-api.ts validates the returned ScreeningReport again before giving it to the UI.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</a:rPr>
              <a:t>14. State flow after screening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6D76"/>
                </a:solidFill>
              </a:rPr>
              <a:t>React state replaces the “server session bean” mental model for this demo — changes are intentionally in memory.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246120" cy="3931920"/>
          </a:xfrm>
          <a:prstGeom prst="roundRect">
            <a:avLst>
              <a:gd name="adj" fmla="val 1690"/>
            </a:avLst>
          </a:prstGeom>
          <a:solidFill>
            <a:srgbClr val="FFF3F5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563624"/>
            <a:ext cx="54864" cy="3913632"/>
          </a:xfrm>
          <a:prstGeom prst="rect">
            <a:avLst/>
          </a:prstGeom>
          <a:solidFill>
            <a:srgbClr val="C90024"/>
          </a:solidFill>
          <a:ln w="12700">
            <a:solidFill>
              <a:srgbClr val="C900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00784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Actions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057400"/>
            <a:ext cx="288036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start-screening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screening-complete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screening-failed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change-tab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update-finding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update-metadata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update-policy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2926080"/>
            <a:ext cx="365760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554480"/>
            <a:ext cx="2971800" cy="3931920"/>
          </a:xfrm>
          <a:prstGeom prst="roundRect">
            <a:avLst>
              <a:gd name="adj" fmla="val 1846"/>
            </a:avLst>
          </a:prstGeom>
          <a:solidFill>
            <a:srgbClr val="F3EC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26864" y="1563624"/>
            <a:ext cx="54864" cy="3913632"/>
          </a:xfrm>
          <a:prstGeom prst="rect">
            <a:avLst/>
          </a:prstGeom>
          <a:solidFill>
            <a:srgbClr val="7554A5"/>
          </a:solidFill>
          <a:ln w="12700">
            <a:solidFill>
              <a:srgbClr val="7554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700784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caseReducer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18888" y="2057400"/>
            <a:ext cx="260604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switch(action.type)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Takes old CaseState + action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Returns new CaseState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Never mutates state directly.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2926080"/>
            <a:ext cx="365760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554480"/>
            <a:ext cx="3154680" cy="3931920"/>
          </a:xfrm>
          <a:prstGeom prst="roundRect">
            <a:avLst>
              <a:gd name="adj" fmla="val 1739"/>
            </a:avLst>
          </a:prstGeom>
          <a:solidFill>
            <a:srgbClr val="EAF2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0184" y="1563624"/>
            <a:ext cx="54864" cy="3913632"/>
          </a:xfrm>
          <a:prstGeom prst="rect">
            <a:avLst/>
          </a:prstGeom>
          <a:solidFill>
            <a:srgbClr val="3D73C5"/>
          </a:solidFill>
          <a:ln w="12700">
            <a:solidFill>
              <a:srgbClr val="3D73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22208" y="1700784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UI re-renders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22208" y="2057400"/>
            <a:ext cx="278892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Overview → metadata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Assessment → report/findings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Memo → included findings + policy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Reload / leave case → edits reset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715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0024"/>
                </a:solidFill>
              </a:rPr>
              <a:t>Example: Include finding → dispatch(update-finding) → reducer changes report.findings → MemoPanel reads included findings.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</a:rPr>
              <a:t>15. End-to-end architecture — one picture to remember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6D76"/>
                </a:solidFill>
              </a:rPr>
              <a:t>Use this diagram whenever you get lost in the code.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554480"/>
            <a:ext cx="1874520" cy="4069080"/>
          </a:xfrm>
          <a:prstGeom prst="roundRect">
            <a:avLst>
              <a:gd name="adj" fmla="val 2927"/>
            </a:avLst>
          </a:prstGeom>
          <a:solidFill>
            <a:srgbClr val="EAF2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" y="1563624"/>
            <a:ext cx="54864" cy="4050792"/>
          </a:xfrm>
          <a:prstGeom prst="rect">
            <a:avLst/>
          </a:prstGeom>
          <a:solidFill>
            <a:srgbClr val="3D73C5"/>
          </a:solidFill>
          <a:ln w="12700">
            <a:solidFill>
              <a:srgbClr val="3D73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700784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UI / Components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1208" y="2057400"/>
            <a:ext cx="150876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layout.tsx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AppShell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EntitySearch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EntityResult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CaseWorkspace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Panels / Tabs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React + hooks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3246120"/>
            <a:ext cx="274320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97480" y="1554480"/>
            <a:ext cx="1691640" cy="4069080"/>
          </a:xfrm>
          <a:prstGeom prst="roundRect">
            <a:avLst>
              <a:gd name="adj" fmla="val 3243"/>
            </a:avLst>
          </a:prstGeom>
          <a:solidFill>
            <a:srgbClr val="EAF2F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06624" y="1563624"/>
            <a:ext cx="54864" cy="4050792"/>
          </a:xfrm>
          <a:prstGeom prst="rect">
            <a:avLst/>
          </a:prstGeom>
          <a:solidFill>
            <a:srgbClr val="3D73C5"/>
          </a:solidFill>
          <a:ln w="12700">
            <a:solidFill>
              <a:srgbClr val="3D73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98648" y="1700784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API Clients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98648" y="2057400"/>
            <a:ext cx="132588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entity-api.ts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screening-api.ts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fetch()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request/response validation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3246120"/>
            <a:ext cx="274320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554480"/>
            <a:ext cx="1828800" cy="4069080"/>
          </a:xfrm>
          <a:prstGeom prst="roundRect">
            <a:avLst>
              <a:gd name="adj" fmla="val 3000"/>
            </a:avLst>
          </a:prstGeom>
          <a:solidFill>
            <a:srgbClr val="FFF3F5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01184" y="1563624"/>
            <a:ext cx="54864" cy="4050792"/>
          </a:xfrm>
          <a:prstGeom prst="rect">
            <a:avLst/>
          </a:prstGeom>
          <a:solidFill>
            <a:srgbClr val="C90024"/>
          </a:solidFill>
          <a:ln w="12700">
            <a:solidFill>
              <a:srgbClr val="C900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93208" y="170078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API Routes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93208" y="2057400"/>
            <a:ext cx="146304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api/entities/route.ts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api/screenings/route.ts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HTTP boundary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validation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status codes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3246120"/>
            <a:ext cx="274320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1554480"/>
            <a:ext cx="1737360" cy="4069080"/>
          </a:xfrm>
          <a:prstGeom prst="roundRect">
            <a:avLst>
              <a:gd name="adj" fmla="val 3158"/>
            </a:avLst>
          </a:prstGeom>
          <a:solidFill>
            <a:srgbClr val="EAF7F0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32904" y="1563624"/>
            <a:ext cx="54864" cy="4050792"/>
          </a:xfrm>
          <a:prstGeom prst="rect">
            <a:avLst/>
          </a:prstGeom>
          <a:solidFill>
            <a:srgbClr val="27895B"/>
          </a:solidFill>
          <a:ln w="12700">
            <a:solidFill>
              <a:srgbClr val="2789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24928" y="170078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Services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24928" y="2057400"/>
            <a:ext cx="137160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entity-service.ts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screening-service.ts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server-only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business/provider adapter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52560" y="3246120"/>
            <a:ext cx="274320" cy="310896"/>
          </a:xfrm>
          <a:prstGeom prst="chevron">
            <a:avLst/>
          </a:prstGeom>
          <a:solidFill>
            <a:srgbClr val="B9BDC5"/>
          </a:solidFill>
          <a:ln w="12700">
            <a:solidFill>
              <a:srgbClr val="B9BD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64040" y="1554480"/>
            <a:ext cx="2377440" cy="4069080"/>
          </a:xfrm>
          <a:prstGeom prst="roundRect">
            <a:avLst>
              <a:gd name="adj" fmla="val 2308"/>
            </a:avLst>
          </a:prstGeom>
          <a:solidFill>
            <a:srgbClr val="FFF5DF"/>
          </a:solidFill>
          <a:ln w="12700">
            <a:solidFill>
              <a:srgbClr val="D9DC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73184" y="1563624"/>
            <a:ext cx="54864" cy="4050792"/>
          </a:xfrm>
          <a:prstGeom prst="rect">
            <a:avLst/>
          </a:prstGeom>
          <a:solidFill>
            <a:srgbClr val="B97800"/>
          </a:solidFill>
          <a:ln w="12700">
            <a:solidFill>
              <a:srgbClr val="B97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65208" y="170078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Data / External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65208" y="2057400"/>
            <a:ext cx="201168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entity-data.ts today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Future: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DB / repository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enterprise entity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86D76"/>
                </a:solidFill>
              </a:rPr>
              <a:t>screening provider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46120" y="587044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554A5"/>
                </a:solidFill>
              </a:rPr>
              <a:t>DTO / contracts across layers: schema.ts + types.ts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</a:rPr>
              <a:t>16. What to remember as a Java developer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6D76"/>
                </a:solidFill>
              </a:rPr>
              <a:t>You do not need to relearn architecture from zero — translate responsibilities first.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35608"/>
            <a:ext cx="347472" cy="347472"/>
          </a:xfrm>
          <a:prstGeom prst="ellipse">
            <a:avLst/>
          </a:prstGeom>
          <a:solidFill>
            <a:srgbClr val="C90024"/>
          </a:solidFill>
          <a:ln w="12700">
            <a:solidFill>
              <a:srgbClr val="C900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904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route.ts is your closest Controller equivalent.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002536"/>
            <a:ext cx="347472" cy="347472"/>
          </a:xfrm>
          <a:prstGeom prst="ellipse">
            <a:avLst/>
          </a:prstGeom>
          <a:solidFill>
            <a:srgbClr val="C90024"/>
          </a:solidFill>
          <a:ln w="12700">
            <a:solidFill>
              <a:srgbClr val="C900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5740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0160" y="19842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*-service.ts is the server Service/adapter layer.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569464"/>
            <a:ext cx="347472" cy="347472"/>
          </a:xfrm>
          <a:prstGeom prst="ellipse">
            <a:avLst/>
          </a:prstGeom>
          <a:solidFill>
            <a:srgbClr val="C90024"/>
          </a:solidFill>
          <a:ln w="12700">
            <a:solidFill>
              <a:srgbClr val="C900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2432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25511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schema.ts + types.ts give validation + DTO/POJO contracts.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136392"/>
            <a:ext cx="347472" cy="347472"/>
          </a:xfrm>
          <a:prstGeom prst="ellipse">
            <a:avLst/>
          </a:prstGeom>
          <a:solidFill>
            <a:srgbClr val="C90024"/>
          </a:solidFill>
          <a:ln w="12700">
            <a:solidFill>
              <a:srgbClr val="C900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912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311810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*-api.ts is like a typed Feign/WebClient wrapper for browser calls.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703320"/>
            <a:ext cx="347472" cy="347472"/>
          </a:xfrm>
          <a:prstGeom prst="ellipse">
            <a:avLst/>
          </a:prstGeom>
          <a:solidFill>
            <a:srgbClr val="C90024"/>
          </a:solidFill>
          <a:ln w="12700">
            <a:solidFill>
              <a:srgbClr val="C900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5818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80160" y="368503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entity-data.ts is mock Repository/data today; replace it for production.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270248"/>
            <a:ext cx="347472" cy="347472"/>
          </a:xfrm>
          <a:prstGeom prst="ellipse">
            <a:avLst/>
          </a:prstGeom>
          <a:solidFill>
            <a:srgbClr val="C90024"/>
          </a:solidFill>
          <a:ln w="12700">
            <a:solidFill>
              <a:srgbClr val="C900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32511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80160" y="42519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6D76"/>
                </a:solidFill>
              </a:rPr>
              <a:t>.tsx feature components are UI; hooks manage browser-side state/lifecycle.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4837176"/>
            <a:ext cx="347472" cy="347472"/>
          </a:xfrm>
          <a:prstGeom prst="ellipse">
            <a:avLst/>
          </a:prstGeom>
          <a:solidFill>
            <a:srgbClr val="C90024"/>
          </a:solidFill>
          <a:ln w="12700">
            <a:solidFill>
              <a:srgbClr val="C900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89204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80160" y="481888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6D76"/>
                </a:solidFill>
              </a:rPr>
              <a:t>[id] is a dynamic URL path variable; params.id carries ENT-001.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5404104"/>
            <a:ext cx="347472" cy="347472"/>
          </a:xfrm>
          <a:prstGeom prst="ellipse">
            <a:avLst/>
          </a:prstGeom>
          <a:solidFill>
            <a:srgbClr val="C90024"/>
          </a:solidFill>
          <a:ln w="12700">
            <a:solidFill>
              <a:srgbClr val="C900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45896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80160" y="538581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6D76"/>
                </a:solidFill>
              </a:rPr>
              <a:t>CaseWorkspace + reducer coordinate UI workflow, not server business services.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598932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0024"/>
                </a:solidFill>
              </a:rPr>
              <a:t>Reading strategy: start from the user click, follow the function call, and ask “which Spring layer would this responsibility belong to?”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Armo Next.js Architecture for Java Developers</dc:title>
  <dc:subject>Next.js architecture explained with Spring Boot analogies</dc:subject>
  <dc:creator>OpenAI</dc:creator>
  <cp:lastModifiedBy>OpenAI</cp:lastModifiedBy>
  <cp:revision>1</cp:revision>
  <dcterms:created xsi:type="dcterms:W3CDTF">2026-09-26T19:13:31Z</dcterms:created>
  <dcterms:modified xsi:type="dcterms:W3CDTF">2026-09-26T19:13:31Z</dcterms:modified>
</cp:coreProperties>
</file>