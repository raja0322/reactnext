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3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51560"/>
            <a:ext cx="10698480" cy="1554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Reactpoc</a:t>
            </a:r>
          </a:p>
          <a:p>
            <a:pPr>
              <a:defRPr sz="3000" b="1">
                <a:solidFill>
                  <a:srgbClr val="FFFFFF"/>
                </a:solidFill>
              </a:defRPr>
            </a:pPr>
            <a:r>
              <a:t>Complete Next.js Project Deep Dive</a:t>
            </a:r>
          </a:p>
          <a:p>
            <a:pPr>
              <a:spcBef>
                <a:spcPts val="1600"/>
              </a:spcBef>
              <a:defRPr sz="1700">
                <a:solidFill>
                  <a:srgbClr val="D2DCE8"/>
                </a:solidFill>
              </a:defRPr>
            </a:pPr>
            <a:r>
              <a:t>Every important file • why it exists • how it is created • request sequence • Java/Spring Boot mapping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3794760"/>
            <a:ext cx="3246120" cy="1051560"/>
          </a:xfrm>
          <a:prstGeom prst="roundRect">
            <a:avLst/>
          </a:prstGeom>
          <a:solidFill>
            <a:srgbClr val="EEF4FC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91440"/>
          <a:lstStyle/>
          <a:p>
            <a:pPr algn="ctr">
              <a:defRPr b="1" sz="1500">
                <a:solidFill>
                  <a:srgbClr val="13233A"/>
                </a:solidFill>
              </a:defRPr>
            </a:pPr>
            <a:r>
              <a:t>Frontend</a:t>
            </a:r>
          </a:p>
          <a:p>
            <a:pPr>
              <a:spcBef>
                <a:spcPts val="600"/>
              </a:spcBef>
              <a:defRPr sz="1300">
                <a:solidFill>
                  <a:srgbClr val="202124"/>
                </a:solidFill>
              </a:defRPr>
            </a:pPr>
            <a:r>
              <a:t>React 19 + Client Components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62272" y="3794760"/>
            <a:ext cx="3246120" cy="1051560"/>
          </a:xfrm>
          <a:prstGeom prst="roundRect">
            <a:avLst/>
          </a:prstGeom>
          <a:solidFill>
            <a:srgbClr val="EEF4FC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91440"/>
          <a:lstStyle/>
          <a:p>
            <a:pPr algn="ctr">
              <a:defRPr b="1" sz="1500">
                <a:solidFill>
                  <a:srgbClr val="13233A"/>
                </a:solidFill>
              </a:defRPr>
            </a:pPr>
            <a:r>
              <a:t>Full-stack framework</a:t>
            </a:r>
          </a:p>
          <a:p>
            <a:pPr>
              <a:spcBef>
                <a:spcPts val="600"/>
              </a:spcBef>
              <a:defRPr sz="1300">
                <a:solidFill>
                  <a:srgbClr val="202124"/>
                </a:solidFill>
              </a:defRPr>
            </a:pPr>
            <a:r>
              <a:t>Next.js 16 App Router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47304" y="3794760"/>
            <a:ext cx="3246120" cy="1051560"/>
          </a:xfrm>
          <a:prstGeom prst="roundRect">
            <a:avLst/>
          </a:prstGeom>
          <a:solidFill>
            <a:srgbClr val="EEF4FC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91440"/>
          <a:lstStyle/>
          <a:p>
            <a:pPr algn="ctr">
              <a:defRPr b="1" sz="1500">
                <a:solidFill>
                  <a:srgbClr val="13233A"/>
                </a:solidFill>
              </a:defRPr>
            </a:pPr>
            <a:r>
              <a:t>Language &amp; validation</a:t>
            </a:r>
          </a:p>
          <a:p>
            <a:pPr>
              <a:spcBef>
                <a:spcPts val="600"/>
              </a:spcBef>
              <a:defRPr sz="1300">
                <a:solidFill>
                  <a:srgbClr val="202124"/>
                </a:solidFill>
              </a:defRPr>
            </a:pPr>
            <a:r>
              <a:t>TypeScript + Zod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5897880"/>
            <a:ext cx="10607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C8D2DC"/>
                </a:solidFill>
              </a:defRPr>
            </a:pPr>
            <a:r>
              <a:t>Grounded in the uploaded Reactpoc.zip source code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3233A"/>
                </a:solidFill>
              </a:defRPr>
            </a:pPr>
            <a:r>
              <a:t>1. How to read this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50392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56F7D"/>
                </a:solidFill>
              </a:defRPr>
            </a:pPr>
            <a:r>
              <a:t>Start from concepts you already know in Spring Boot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88720"/>
            <a:ext cx="11155680" cy="36576"/>
          </a:xfrm>
          <a:prstGeom prst="rect">
            <a:avLst/>
          </a:prstGeom>
          <a:solidFill>
            <a:srgbClr val="C900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92840" y="6473952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56F7D"/>
                </a:solidFill>
              </a:defRPr>
            </a:pPr>
            <a: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46520"/>
            <a:ext cx="9875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656F7D"/>
                </a:solidFill>
              </a:defRPr>
            </a:pPr>
            <a:r>
              <a:t>Reactpoc • Next.js architecture explained for a Java/Spring Boot developer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202124"/>
                </a:solidFill>
              </a:defRPr>
            </a:pPr>
            <a:r>
              <a:t>Do not try to learn every React/Next.js keyword first. Read the application as layers and request flows.</a:t>
            </a:r>
          </a:p>
          <a:p>
            <a:pPr lvl="1">
              <a:spcAft>
                <a:spcPts val="400"/>
              </a:spcAft>
              <a:defRPr sz="1500">
                <a:solidFill>
                  <a:srgbClr val="202124"/>
                </a:solidFill>
              </a:defRPr>
            </a:pPr>
            <a:r>
              <a:t>UI components (.tsx) = screens and reusable visual pieces</a:t>
            </a:r>
          </a:p>
          <a:p>
            <a:pPr lvl="1">
              <a:spcAft>
                <a:spcPts val="400"/>
              </a:spcAft>
              <a:defRPr sz="1500">
                <a:solidFill>
                  <a:srgbClr val="202124"/>
                </a:solidFill>
              </a:defRPr>
            </a:pPr>
            <a:r>
              <a:t>Browser API clients (*-api.ts) = similar mental model to a Feign/REST client</a:t>
            </a:r>
          </a:p>
          <a:p>
            <a:pPr lvl="1">
              <a:spcAft>
                <a:spcPts val="400"/>
              </a:spcAft>
              <a:defRPr sz="1500">
                <a:solidFill>
                  <a:srgbClr val="202124"/>
                </a:solidFill>
              </a:defRPr>
            </a:pPr>
            <a:r>
              <a:t>app/api/**/route.ts = HTTP controller boundary</a:t>
            </a:r>
          </a:p>
          <a:p>
            <a:pPr lvl="1">
              <a:spcAft>
                <a:spcPts val="400"/>
              </a:spcAft>
              <a:defRPr sz="1500">
                <a:solidFill>
                  <a:srgbClr val="202124"/>
                </a:solidFill>
              </a:defRPr>
            </a:pPr>
            <a:r>
              <a:t>services/*-service.ts = server-side service/adapter</a:t>
            </a:r>
          </a:p>
          <a:p>
            <a:pPr lvl="1">
              <a:spcAft>
                <a:spcPts val="400"/>
              </a:spcAft>
              <a:defRPr sz="1500">
                <a:solidFill>
                  <a:srgbClr val="202124"/>
                </a:solidFill>
              </a:defRPr>
            </a:pPr>
            <a:r>
              <a:t>schema.ts + types.ts = validation contracts + DTO/type definitions</a:t>
            </a:r>
          </a:p>
          <a:p>
            <a:pPr lvl="1">
              <a:spcAft>
                <a:spcPts val="400"/>
              </a:spcAft>
              <a:defRPr sz="1500">
                <a:solidFill>
                  <a:srgbClr val="202124"/>
                </a:solidFill>
              </a:defRPr>
            </a:pPr>
            <a:r>
              <a:t>entity-data.ts = current in-memory fixture store; later replace with DB/downstream adapter</a:t>
            </a:r>
          </a:p>
          <a:p>
            <a:pPr>
              <a:spcAft>
                <a:spcPts val="800"/>
              </a:spcAft>
              <a:defRPr sz="1700">
                <a:solidFill>
                  <a:srgbClr val="202124"/>
                </a:solidFill>
              </a:defRPr>
            </a:pPr>
            <a:r>
              <a:t>The project is full-stack Next.js: frontend and server code live in the same repository.</a:t>
            </a:r>
          </a:p>
          <a:p>
            <a:pPr>
              <a:spcAft>
                <a:spcPts val="800"/>
              </a:spcAft>
              <a:defRPr sz="1700">
                <a:solidFill>
                  <a:srgbClr val="202124"/>
                </a:solidFill>
              </a:defRPr>
            </a:pPr>
            <a:r>
              <a:t>The easiest way to master it: startup → routing → UI → API → service → data → response → UI state.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3233A"/>
                </a:solidFill>
              </a:defRPr>
            </a:pPr>
            <a:r>
              <a:t>2. Project inventory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50392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56F7D"/>
                </a:solidFill>
              </a:defRPr>
            </a:pPr>
            <a:r>
              <a:t>What is actually inside the uploaded ZIP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88720"/>
            <a:ext cx="11155680" cy="36576"/>
          </a:xfrm>
          <a:prstGeom prst="rect">
            <a:avLst/>
          </a:prstGeom>
          <a:solidFill>
            <a:srgbClr val="C900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92840" y="6473952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56F7D"/>
                </a:solidFill>
              </a:defRPr>
            </a:pPr>
            <a: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46520"/>
            <a:ext cx="9875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656F7D"/>
                </a:solidFill>
              </a:defRPr>
            </a:pPr>
            <a:r>
              <a:t>Reactpoc • Next.js architecture explained for a Java/Spring Boot developer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417320"/>
            <a:ext cx="5212080" cy="914400"/>
          </a:xfrm>
          <a:prstGeom prst="roundRect">
            <a:avLst/>
          </a:prstGeom>
          <a:solidFill>
            <a:srgbClr val="F5F7FA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91440"/>
          <a:lstStyle/>
          <a:p>
            <a:pPr algn="ctr">
              <a:defRPr b="1" sz="1500">
                <a:solidFill>
                  <a:srgbClr val="13233A"/>
                </a:solidFill>
              </a:defRPr>
            </a:pPr>
            <a:r>
              <a:t>app/</a:t>
            </a:r>
          </a:p>
          <a:p>
            <a:pPr>
              <a:spcBef>
                <a:spcPts val="600"/>
              </a:spcBef>
              <a:defRPr sz="1200">
                <a:solidFill>
                  <a:srgbClr val="202124"/>
                </a:solidFill>
              </a:defRPr>
            </a:pPr>
            <a:r>
              <a:t>Routes, layouts, API endpoints, error/loading pages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417320"/>
            <a:ext cx="5212080" cy="914400"/>
          </a:xfrm>
          <a:prstGeom prst="roundRect">
            <a:avLst/>
          </a:prstGeom>
          <a:solidFill>
            <a:srgbClr val="F5F7FA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91440"/>
          <a:lstStyle/>
          <a:p>
            <a:pPr algn="ctr">
              <a:defRPr b="1" sz="1500">
                <a:solidFill>
                  <a:srgbClr val="13233A"/>
                </a:solidFill>
              </a:defRPr>
            </a:pPr>
            <a:r>
              <a:t>components/</a:t>
            </a:r>
          </a:p>
          <a:p>
            <a:pPr>
              <a:spcBef>
                <a:spcPts val="600"/>
              </a:spcBef>
              <a:defRPr sz="1200">
                <a:solidFill>
                  <a:srgbClr val="202124"/>
                </a:solidFill>
              </a:defRPr>
            </a:pPr>
            <a:r>
              <a:t>Shared layout and generic UI building blocks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2606040"/>
            <a:ext cx="5212080" cy="914400"/>
          </a:xfrm>
          <a:prstGeom prst="roundRect">
            <a:avLst/>
          </a:prstGeom>
          <a:solidFill>
            <a:srgbClr val="F5F7FA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91440"/>
          <a:lstStyle/>
          <a:p>
            <a:pPr algn="ctr">
              <a:defRPr b="1" sz="1500">
                <a:solidFill>
                  <a:srgbClr val="13233A"/>
                </a:solidFill>
              </a:defRPr>
            </a:pPr>
            <a:r>
              <a:t>features/</a:t>
            </a:r>
          </a:p>
          <a:p>
            <a:pPr>
              <a:spcBef>
                <a:spcPts val="600"/>
              </a:spcBef>
              <a:defRPr sz="1200">
                <a:solidFill>
                  <a:srgbClr val="202124"/>
                </a:solidFill>
              </a:defRPr>
            </a:pPr>
            <a:r>
              <a:t>Business-feature UI, schemas, state and mock data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2606040"/>
            <a:ext cx="5212080" cy="914400"/>
          </a:xfrm>
          <a:prstGeom prst="roundRect">
            <a:avLst/>
          </a:prstGeom>
          <a:solidFill>
            <a:srgbClr val="F5F7FA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91440"/>
          <a:lstStyle/>
          <a:p>
            <a:pPr algn="ctr">
              <a:defRPr b="1" sz="1500">
                <a:solidFill>
                  <a:srgbClr val="13233A"/>
                </a:solidFill>
              </a:defRPr>
            </a:pPr>
            <a:r>
              <a:t>services/</a:t>
            </a:r>
          </a:p>
          <a:p>
            <a:pPr>
              <a:spcBef>
                <a:spcPts val="600"/>
              </a:spcBef>
              <a:defRPr sz="1200">
                <a:solidFill>
                  <a:srgbClr val="202124"/>
                </a:solidFill>
              </a:defRPr>
            </a:pPr>
            <a:r>
              <a:t>Browser API clients and server-only adapters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3794760"/>
            <a:ext cx="5212080" cy="914400"/>
          </a:xfrm>
          <a:prstGeom prst="roundRect">
            <a:avLst/>
          </a:prstGeom>
          <a:solidFill>
            <a:srgbClr val="F5F7FA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91440"/>
          <a:lstStyle/>
          <a:p>
            <a:pPr algn="ctr">
              <a:defRPr b="1" sz="1500">
                <a:solidFill>
                  <a:srgbClr val="13233A"/>
                </a:solidFill>
              </a:defRPr>
            </a:pPr>
            <a:r>
              <a:t>tests/</a:t>
            </a:r>
          </a:p>
          <a:p>
            <a:pPr>
              <a:spcBef>
                <a:spcPts val="600"/>
              </a:spcBef>
              <a:defRPr sz="1200">
                <a:solidFill>
                  <a:srgbClr val="202124"/>
                </a:solidFill>
              </a:defRPr>
            </a:pPr>
            <a:r>
              <a:t>Unit tests + Playwright end-to-end/accessibility tests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3794760"/>
            <a:ext cx="5212080" cy="914400"/>
          </a:xfrm>
          <a:prstGeom prst="roundRect">
            <a:avLst/>
          </a:prstGeom>
          <a:solidFill>
            <a:srgbClr val="F5F7FA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91440"/>
          <a:lstStyle/>
          <a:p>
            <a:pPr algn="ctr">
              <a:defRPr b="1" sz="1500">
                <a:solidFill>
                  <a:srgbClr val="13233A"/>
                </a:solidFill>
              </a:defRPr>
            </a:pPr>
            <a:r>
              <a:t>config files</a:t>
            </a:r>
          </a:p>
          <a:p>
            <a:pPr>
              <a:spcBef>
                <a:spcPts val="600"/>
              </a:spcBef>
              <a:defRPr sz="1200">
                <a:solidFill>
                  <a:srgbClr val="202124"/>
                </a:solidFill>
              </a:defRPr>
            </a:pPr>
            <a:r>
              <a:t>Next.js, TypeScript, ESLint, Tailwind/PostCSS, Playwright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" y="4983480"/>
            <a:ext cx="5212080" cy="914400"/>
          </a:xfrm>
          <a:prstGeom prst="roundRect">
            <a:avLst/>
          </a:prstGeom>
          <a:solidFill>
            <a:srgbClr val="F5F7FA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91440"/>
          <a:lstStyle/>
          <a:p>
            <a:pPr algn="ctr">
              <a:defRPr b="1" sz="1500">
                <a:solidFill>
                  <a:srgbClr val="13233A"/>
                </a:solidFill>
              </a:defRPr>
            </a:pPr>
            <a:r>
              <a:t>package.json</a:t>
            </a:r>
          </a:p>
          <a:p>
            <a:pPr>
              <a:spcBef>
                <a:spcPts val="600"/>
              </a:spcBef>
              <a:defRPr sz="1200">
                <a:solidFill>
                  <a:srgbClr val="202124"/>
                </a:solidFill>
              </a:defRPr>
            </a:pPr>
            <a:r>
              <a:t>Dependencies, Node requirement and npm commands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4983480"/>
            <a:ext cx="5212080" cy="914400"/>
          </a:xfrm>
          <a:prstGeom prst="roundRect">
            <a:avLst/>
          </a:prstGeom>
          <a:solidFill>
            <a:srgbClr val="F5F7FA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91440"/>
          <a:lstStyle/>
          <a:p>
            <a:pPr algn="ctr">
              <a:defRPr b="1" sz="1500">
                <a:solidFill>
                  <a:srgbClr val="13233A"/>
                </a:solidFill>
              </a:defRPr>
            </a:pPr>
            <a:r>
              <a:t>README / IMPLEMENTATION</a:t>
            </a:r>
          </a:p>
          <a:p>
            <a:pPr>
              <a:spcBef>
                <a:spcPts val="600"/>
              </a:spcBef>
              <a:defRPr sz="1200">
                <a:solidFill>
                  <a:srgbClr val="202124"/>
                </a:solidFill>
              </a:defRPr>
            </a:pPr>
            <a:r>
              <a:t>Project decisions, assumptions and implementation notes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3233A"/>
                </a:solidFill>
              </a:defRPr>
            </a:pPr>
            <a:r>
              <a:t>3. Java/Spring Boot ↔ Next.js mental mapping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88720"/>
            <a:ext cx="11155680" cy="36576"/>
          </a:xfrm>
          <a:prstGeom prst="rect">
            <a:avLst/>
          </a:prstGeom>
          <a:solidFill>
            <a:srgbClr val="C900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92840" y="6473952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56F7D"/>
                </a:solidFill>
              </a:defRPr>
            </a:pPr>
            <a: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9875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656F7D"/>
                </a:solidFill>
              </a:defRPr>
            </a:pPr>
            <a:r>
              <a:t>Reactpoc • Next.js architecture explained for a Java/Spring Boot developer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77240" y="1417320"/>
          <a:ext cx="1060704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54880"/>
                <a:gridCol w="5852160"/>
              </a:tblGrid>
              <a:tr h="373380"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Your familiar world</a:t>
                      </a:r>
                    </a:p>
                  </a:txBody>
                  <a:tcPr>
                    <a:solidFill>
                      <a:srgbClr val="1323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This project</a:t>
                      </a:r>
                    </a:p>
                  </a:txBody>
                  <a:tcPr>
                    <a:solidFill>
                      <a:srgbClr val="13233A"/>
                    </a:solidFill>
                  </a:tcPr>
                </a:tc>
              </a:tr>
              <a:tr h="3733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02124"/>
                          </a:solidFill>
                        </a:defRPr>
                      </a:pPr>
                      <a:r>
                        <a:t>Spring Boot / Java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02124"/>
                          </a:solidFill>
                        </a:defRPr>
                      </a:pPr>
                      <a:r>
                        <a:t>Reactpoc / Next.js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733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02124"/>
                          </a:solidFill>
                        </a:defRPr>
                      </a:pPr>
                      <a:r>
                        <a:t>@RestController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02124"/>
                          </a:solidFill>
                        </a:defRPr>
                      </a:pPr>
                      <a:r>
                        <a:t>app/api/.../route.ts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3733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02124"/>
                          </a:solidFill>
                        </a:defRPr>
                      </a:pPr>
                      <a:r>
                        <a:t>@Service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02124"/>
                          </a:solidFill>
                        </a:defRPr>
                      </a:pPr>
                      <a:r>
                        <a:t>services/*-service.ts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733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02124"/>
                          </a:solidFill>
                        </a:defRPr>
                      </a:pPr>
                      <a:r>
                        <a:t>Feign / WebClient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02124"/>
                          </a:solidFill>
                        </a:defRPr>
                      </a:pPr>
                      <a:r>
                        <a:t>services/*-api.ts (browser fetch wrapper)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3733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02124"/>
                          </a:solidFill>
                        </a:defRPr>
                      </a:pPr>
                      <a:r>
                        <a:t>DTO / POJO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02124"/>
                          </a:solidFill>
                        </a:defRPr>
                      </a:pPr>
                      <a:r>
                        <a:t>types.ts and inferred Zod types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733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02124"/>
                          </a:solidFill>
                        </a:defRPr>
                      </a:pPr>
                      <a:r>
                        <a:t>Bean Validation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02124"/>
                          </a:solidFill>
                        </a:defRPr>
                      </a:pPr>
                      <a:r>
                        <a:t>Zod schema.ts / safeParse()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3733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02124"/>
                          </a:solidFill>
                        </a:defRPr>
                      </a:pPr>
                      <a:r>
                        <a:t>@Repository / DB adapter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02124"/>
                          </a:solidFill>
                        </a:defRPr>
                      </a:pPr>
                      <a:r>
                        <a:t>entity-data.ts today (fixture store)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733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02124"/>
                          </a:solidFill>
                        </a:defRPr>
                      </a:pPr>
                      <a:r>
                        <a:t>@PathVariable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02124"/>
                          </a:solidFill>
                        </a:defRPr>
                      </a:pPr>
                      <a:r>
                        <a:t>dynamic route [id] + params.id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3733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02124"/>
                          </a:solidFill>
                        </a:defRPr>
                      </a:pPr>
                      <a:r>
                        <a:t>JSP/Thymeleaf/React view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02124"/>
                          </a:solidFill>
                        </a:defRPr>
                      </a:pPr>
                      <a:r>
                        <a:t>page.tsx and feature .tsx components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733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02124"/>
                          </a:solidFill>
                        </a:defRPr>
                      </a:pPr>
                      <a:r>
                        <a:t>Session/UI state object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02124"/>
                          </a:solidFill>
                        </a:defRPr>
                      </a:pPr>
                      <a:r>
                        <a:t>useState / useReducer state in client component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3733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02124"/>
                          </a:solidFill>
                        </a:defRPr>
                      </a:pPr>
                      <a:r>
                        <a:t>application config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02124"/>
                          </a:solidFill>
                        </a:defRPr>
                      </a:pPr>
                      <a:r>
                        <a:t>next.config.ts / tsconfig.json / package.json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3233A"/>
                </a:solidFill>
              </a:defRPr>
            </a:pPr>
            <a:r>
              <a:t>4. package.json — the project manifest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50392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56F7D"/>
                </a:solidFill>
              </a:defRPr>
            </a:pPr>
            <a:r>
              <a:t>Closest mental model: Maven pom.xml / Gradle build file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88720"/>
            <a:ext cx="11155680" cy="36576"/>
          </a:xfrm>
          <a:prstGeom prst="rect">
            <a:avLst/>
          </a:prstGeom>
          <a:solidFill>
            <a:srgbClr val="C900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92840" y="6473952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56F7D"/>
                </a:solidFill>
              </a:defRPr>
            </a:pPr>
            <a: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46520"/>
            <a:ext cx="9875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656F7D"/>
                </a:solidFill>
              </a:defRPr>
            </a:pPr>
            <a:r>
              <a:t>Reactpoc • Next.js architecture explained for a Java/Spring Boot developer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6692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02124"/>
                </a:solidFill>
              </a:defRPr>
            </a:pPr>
            <a:r>
              <a:t>Project name: "armo-risk-screening"; private application.</a:t>
            </a:r>
          </a:p>
          <a:p>
            <a:pPr>
              <a:spcAft>
                <a:spcPts val="800"/>
              </a:spcAft>
              <a:defRPr sz="1500">
                <a:solidFill>
                  <a:srgbClr val="202124"/>
                </a:solidFill>
              </a:defRPr>
            </a:pPr>
            <a:r>
              <a:t>Node engine: &gt;= 20.9.0.</a:t>
            </a:r>
          </a:p>
          <a:p>
            <a:pPr>
              <a:spcAft>
                <a:spcPts val="800"/>
              </a:spcAft>
              <a:defRPr sz="1500">
                <a:solidFill>
                  <a:srgbClr val="202124"/>
                </a:solidFill>
              </a:defRPr>
            </a:pPr>
            <a:r>
              <a:t>Runtime dependencies: next 16.3.6, react/react-dom 19.3.0, zod 4.6.5, lucide-react, server-only.</a:t>
            </a:r>
          </a:p>
          <a:p>
            <a:pPr>
              <a:spcAft>
                <a:spcPts val="800"/>
              </a:spcAft>
              <a:defRPr sz="1500">
                <a:solidFill>
                  <a:srgbClr val="202124"/>
                </a:solidFill>
              </a:defRPr>
            </a:pPr>
            <a:r>
              <a:t>Development dependencies: TypeScript, ESLint, Tailwind/PostCSS, Playwright, axe accessibility tooling.</a:t>
            </a:r>
          </a:p>
          <a:p>
            <a:pPr>
              <a:spcAft>
                <a:spcPts val="800"/>
              </a:spcAft>
              <a:defRPr sz="1500">
                <a:solidFill>
                  <a:srgbClr val="202124"/>
                </a:solidFill>
              </a:defRPr>
            </a:pPr>
            <a:r>
              <a:t>npm run dev → local development server; build → production compile; start → run compiled app.</a:t>
            </a:r>
          </a:p>
          <a:p>
            <a:pPr>
              <a:spcAft>
                <a:spcPts val="800"/>
              </a:spcAft>
              <a:defRPr sz="1500">
                <a:solidFill>
                  <a:srgbClr val="202124"/>
                </a:solidFill>
              </a:defRPr>
            </a:pPr>
            <a:r>
              <a:t>typecheck / lint / test / test:e2e form the quality gate.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37960" y="1554480"/>
            <a:ext cx="4983480" cy="3474720"/>
          </a:xfrm>
          <a:prstGeom prst="roundRect">
            <a:avLst/>
          </a:prstGeom>
          <a:solidFill>
            <a:srgbClr val="F8F9FB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>
                <a:solidFill>
                  <a:srgbClr val="202124"/>
                </a:solidFill>
                <a:latin typeface="Courier New"/>
              </a:defRPr>
            </a:pPr>
            <a:r>
              <a:t>scripts:</a:t>
            </a:r>
            <a:br/>
            <a:r>
              <a:t>  dev       next dev --hostname 127.0.0.1</a:t>
            </a:r>
            <a:br/>
            <a:r>
              <a:t>  build     next build</a:t>
            </a:r>
            <a:br/>
            <a:r>
              <a:t>  start     next start --hostname 127.0.0.1</a:t>
            </a:r>
            <a:br/>
            <a:r>
              <a:t>  lint      eslint .</a:t>
            </a:r>
            <a:br/>
            <a:r>
              <a:t>  typecheck tsc --noEmit</a:t>
            </a:r>
            <a:br/>
            <a:r>
              <a:t>  test      tsx --test tests/*.test.ts</a:t>
            </a:r>
            <a:br/>
            <a:r>
              <a:t>  test:e2e  playwright test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3233A"/>
                </a:solidFill>
              </a:defRPr>
            </a:pPr>
            <a:r>
              <a:t>5. If you created this Next.js project from scratch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50392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56F7D"/>
                </a:solidFill>
              </a:defRPr>
            </a:pPr>
            <a:r>
              <a:t>Minimum building blocks before business code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88720"/>
            <a:ext cx="11155680" cy="36576"/>
          </a:xfrm>
          <a:prstGeom prst="rect">
            <a:avLst/>
          </a:prstGeom>
          <a:solidFill>
            <a:srgbClr val="C900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92840" y="6473952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56F7D"/>
                </a:solidFill>
              </a:defRPr>
            </a:pPr>
            <a:r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46520"/>
            <a:ext cx="9875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656F7D"/>
                </a:solidFill>
              </a:defRPr>
            </a:pPr>
            <a:r>
              <a:t>Reactpoc • Next.js architecture explained for a Java/Spring Boot developer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202124"/>
                </a:solidFill>
              </a:defRPr>
            </a:pPr>
            <a:r>
              <a:t>1) Install supported Node.js.</a:t>
            </a:r>
          </a:p>
          <a:p>
            <a:pPr>
              <a:spcAft>
                <a:spcPts val="800"/>
              </a:spcAft>
              <a:defRPr sz="1700">
                <a:solidFill>
                  <a:srgbClr val="202124"/>
                </a:solidFill>
              </a:defRPr>
            </a:pPr>
            <a:r>
              <a:t>2) Create a Next.js App Router project with TypeScript.</a:t>
            </a:r>
          </a:p>
          <a:p>
            <a:pPr>
              <a:spcAft>
                <a:spcPts val="800"/>
              </a:spcAft>
              <a:defRPr sz="1700">
                <a:solidFill>
                  <a:srgbClr val="202124"/>
                </a:solidFill>
              </a:defRPr>
            </a:pPr>
            <a:r>
              <a:t>3) app/layout.tsx is required as the root layout; app/page.tsx becomes the / route.</a:t>
            </a:r>
          </a:p>
          <a:p>
            <a:pPr>
              <a:spcAft>
                <a:spcPts val="800"/>
              </a:spcAft>
              <a:defRPr sz="1700">
                <a:solidFill>
                  <a:srgbClr val="202124"/>
                </a:solidFill>
              </a:defRPr>
            </a:pPr>
            <a:r>
              <a:t>4) Add folders for components, features and services as the design grows.</a:t>
            </a:r>
          </a:p>
          <a:p>
            <a:pPr>
              <a:spcAft>
                <a:spcPts val="800"/>
              </a:spcAft>
              <a:defRPr sz="1700">
                <a:solidFill>
                  <a:srgbClr val="202124"/>
                </a:solidFill>
              </a:defRPr>
            </a:pPr>
            <a:r>
              <a:t>5) Add dependencies such as Zod, icons, Tailwind and testing tools only when needed.</a:t>
            </a:r>
          </a:p>
          <a:p>
            <a:pPr>
              <a:spcAft>
                <a:spcPts val="800"/>
              </a:spcAft>
              <a:defRPr sz="1700">
                <a:solidFill>
                  <a:srgbClr val="202124"/>
                </a:solidFill>
              </a:defRPr>
            </a:pPr>
            <a:r>
              <a:t>6) Define contracts first: entity schema/types and screening report schema/types.</a:t>
            </a:r>
          </a:p>
          <a:p>
            <a:pPr>
              <a:spcAft>
                <a:spcPts val="800"/>
              </a:spcAft>
              <a:defRPr sz="1700">
                <a:solidFill>
                  <a:srgbClr val="202124"/>
                </a:solidFill>
              </a:defRPr>
            </a:pPr>
            <a:r>
              <a:t>7) Add UI → API client → API route → server service → data/provider flow.</a:t>
            </a:r>
          </a:p>
          <a:p>
            <a:pPr>
              <a:spcAft>
                <a:spcPts val="800"/>
              </a:spcAft>
              <a:defRPr sz="1700">
                <a:solidFill>
                  <a:srgbClr val="202124"/>
                </a:solidFill>
              </a:defRPr>
            </a:pPr>
            <a:r>
              <a:t>8) Add loading/error/not-found states, security headers, tests and production build checks.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3233A"/>
                </a:solidFill>
              </a:defRPr>
            </a:pPr>
            <a:r>
              <a:t>6. What happens when you run npm run dev?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50392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56F7D"/>
                </a:solidFill>
              </a:defRPr>
            </a:pPr>
            <a:r>
              <a:t>Startup sequence — simplified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88720"/>
            <a:ext cx="11155680" cy="36576"/>
          </a:xfrm>
          <a:prstGeom prst="rect">
            <a:avLst/>
          </a:prstGeom>
          <a:solidFill>
            <a:srgbClr val="C900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92840" y="6473952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56F7D"/>
                </a:solidFill>
              </a:defRPr>
            </a:pPr>
            <a:r>
              <a:t>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46520"/>
            <a:ext cx="9875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656F7D"/>
                </a:solidFill>
              </a:defRPr>
            </a:pPr>
            <a:r>
              <a:t>Reactpoc • Next.js architecture explained for a Java/Spring Boot developer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2057400"/>
            <a:ext cx="1600200" cy="1234440"/>
          </a:xfrm>
          <a:prstGeom prst="roundRect">
            <a:avLst/>
          </a:prstGeom>
          <a:solidFill>
            <a:srgbClr val="F5F7FA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91440"/>
          <a:lstStyle/>
          <a:p>
            <a:pPr algn="ctr">
              <a:defRPr b="1" sz="1500">
                <a:solidFill>
                  <a:srgbClr val="13233A"/>
                </a:solidFill>
              </a:defRPr>
            </a:pPr>
            <a:r>
              <a:t>package.json</a:t>
            </a:r>
          </a:p>
          <a:p>
            <a:pPr>
              <a:spcBef>
                <a:spcPts val="600"/>
              </a:spcBef>
              <a:defRPr sz="1000">
                <a:solidFill>
                  <a:srgbClr val="202124"/>
                </a:solidFill>
              </a:defRPr>
            </a:pPr>
            <a:r>
              <a:t>npm run dev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331720" y="2057400"/>
            <a:ext cx="1600200" cy="1234440"/>
          </a:xfrm>
          <a:prstGeom prst="roundRect">
            <a:avLst/>
          </a:prstGeom>
          <a:solidFill>
            <a:srgbClr val="F5F7FA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91440"/>
          <a:lstStyle/>
          <a:p>
            <a:pPr algn="ctr">
              <a:defRPr b="1" sz="1500">
                <a:solidFill>
                  <a:srgbClr val="13233A"/>
                </a:solidFill>
              </a:defRPr>
            </a:pPr>
            <a:r>
              <a:t>Next.js</a:t>
            </a:r>
          </a:p>
          <a:p>
            <a:pPr>
              <a:spcBef>
                <a:spcPts val="600"/>
              </a:spcBef>
              <a:defRPr sz="1000">
                <a:solidFill>
                  <a:srgbClr val="202124"/>
                </a:solidFill>
              </a:defRPr>
            </a:pPr>
            <a:r>
              <a:t>starts dev server</a:t>
            </a:r>
            <a:br/>
            <a:r>
              <a:t>127.0.0.1:3000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2057400"/>
            <a:ext cx="1600200" cy="1234440"/>
          </a:xfrm>
          <a:prstGeom prst="roundRect">
            <a:avLst/>
          </a:prstGeom>
          <a:solidFill>
            <a:srgbClr val="F5F7FA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91440"/>
          <a:lstStyle/>
          <a:p>
            <a:pPr algn="ctr">
              <a:defRPr b="1" sz="1500">
                <a:solidFill>
                  <a:srgbClr val="13233A"/>
                </a:solidFill>
              </a:defRPr>
            </a:pPr>
            <a:r>
              <a:t>App Router</a:t>
            </a:r>
          </a:p>
          <a:p>
            <a:pPr>
              <a:spcBef>
                <a:spcPts val="600"/>
              </a:spcBef>
              <a:defRPr sz="1000">
                <a:solidFill>
                  <a:srgbClr val="202124"/>
                </a:solidFill>
              </a:defRPr>
            </a:pPr>
            <a:r>
              <a:t>reads app/ file routes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2057400"/>
            <a:ext cx="1600200" cy="1234440"/>
          </a:xfrm>
          <a:prstGeom prst="roundRect">
            <a:avLst/>
          </a:prstGeom>
          <a:solidFill>
            <a:srgbClr val="F5F7FA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91440"/>
          <a:lstStyle/>
          <a:p>
            <a:pPr algn="ctr">
              <a:defRPr b="1" sz="1500">
                <a:solidFill>
                  <a:srgbClr val="13233A"/>
                </a:solidFill>
              </a:defRPr>
            </a:pPr>
            <a:r>
              <a:t>layout.tsx</a:t>
            </a:r>
          </a:p>
          <a:p>
            <a:pPr>
              <a:spcBef>
                <a:spcPts val="600"/>
              </a:spcBef>
              <a:defRPr sz="1000">
                <a:solidFill>
                  <a:srgbClr val="202124"/>
                </a:solidFill>
              </a:defRPr>
            </a:pPr>
            <a:r>
              <a:t>wraps every route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66760" y="2057400"/>
            <a:ext cx="1600200" cy="1234440"/>
          </a:xfrm>
          <a:prstGeom prst="roundRect">
            <a:avLst/>
          </a:prstGeom>
          <a:solidFill>
            <a:srgbClr val="F5F7FA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91440"/>
          <a:lstStyle/>
          <a:p>
            <a:pPr algn="ctr">
              <a:defRPr b="1" sz="1500">
                <a:solidFill>
                  <a:srgbClr val="13233A"/>
                </a:solidFill>
              </a:defRPr>
            </a:pPr>
            <a:r>
              <a:t>page.tsx</a:t>
            </a:r>
          </a:p>
          <a:p>
            <a:pPr>
              <a:spcBef>
                <a:spcPts val="600"/>
              </a:spcBef>
              <a:defRPr sz="1000">
                <a:solidFill>
                  <a:srgbClr val="202124"/>
                </a:solidFill>
              </a:defRPr>
            </a:pPr>
            <a:r>
              <a:t>renders selected URL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195560" y="2057400"/>
            <a:ext cx="1600200" cy="1234440"/>
          </a:xfrm>
          <a:prstGeom prst="roundRect">
            <a:avLst/>
          </a:prstGeom>
          <a:solidFill>
            <a:srgbClr val="F5F7FA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91440"/>
          <a:lstStyle/>
          <a:p>
            <a:pPr algn="ctr">
              <a:defRPr b="1" sz="1500">
                <a:solidFill>
                  <a:srgbClr val="13233A"/>
                </a:solidFill>
              </a:defRPr>
            </a:pPr>
            <a:r>
              <a:t>Browser</a:t>
            </a:r>
          </a:p>
          <a:p>
            <a:pPr>
              <a:spcBef>
                <a:spcPts val="600"/>
              </a:spcBef>
              <a:defRPr sz="1000">
                <a:solidFill>
                  <a:srgbClr val="202124"/>
                </a:solidFill>
              </a:defRPr>
            </a:pPr>
            <a:r>
              <a:t>receives HTML + client JS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011680" y="2670048"/>
            <a:ext cx="320040" cy="0"/>
          </a:xfrm>
          <a:prstGeom prst="line">
            <a:avLst/>
          </a:prstGeom>
          <a:ln w="27940">
            <a:solidFill>
              <a:srgbClr val="235F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3931920" y="2670048"/>
            <a:ext cx="411480" cy="0"/>
          </a:xfrm>
          <a:prstGeom prst="line">
            <a:avLst/>
          </a:prstGeom>
          <a:ln w="27940">
            <a:solidFill>
              <a:srgbClr val="235F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5943600" y="2670048"/>
            <a:ext cx="411480" cy="0"/>
          </a:xfrm>
          <a:prstGeom prst="line">
            <a:avLst/>
          </a:prstGeom>
          <a:ln w="27940">
            <a:solidFill>
              <a:srgbClr val="235F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7955279" y="2670048"/>
            <a:ext cx="411481" cy="0"/>
          </a:xfrm>
          <a:prstGeom prst="line">
            <a:avLst/>
          </a:prstGeom>
          <a:ln w="27940">
            <a:solidFill>
              <a:srgbClr val="235F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9966960" y="2670048"/>
            <a:ext cx="228600" cy="0"/>
          </a:xfrm>
          <a:prstGeom prst="line">
            <a:avLst/>
          </a:prstGeom>
          <a:ln w="27940">
            <a:solidFill>
              <a:srgbClr val="235F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822960" y="3977639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02124"/>
                </a:solidFill>
              </a:defRPr>
            </a:pPr>
            <a:r>
              <a:t>Next.js App Router uses folders/files as routing configuration; there is no separate React Router table in this project.</a:t>
            </a:r>
          </a:p>
          <a:p>
            <a:pPr>
              <a:spcAft>
                <a:spcPts val="800"/>
              </a:spcAft>
              <a:defRPr sz="1500">
                <a:solidFill>
                  <a:srgbClr val="202124"/>
                </a:solidFill>
              </a:defRPr>
            </a:pPr>
            <a:r>
              <a:t>Server Components can render without shipping their component logic to the browser. Client Components are marked with "use client" when browser interaction/hooks are required.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3233A"/>
                </a:solidFill>
              </a:defRPr>
            </a:pPr>
            <a:r>
              <a:t>7. app/ — file-system routing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50392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56F7D"/>
                </a:solidFill>
              </a:defRPr>
            </a:pPr>
            <a:r>
              <a:t>Folder names become URLs; special file names have framework meaning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88720"/>
            <a:ext cx="11155680" cy="36576"/>
          </a:xfrm>
          <a:prstGeom prst="rect">
            <a:avLst/>
          </a:prstGeom>
          <a:solidFill>
            <a:srgbClr val="C900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92840" y="6473952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56F7D"/>
                </a:solidFill>
              </a:defRPr>
            </a:pPr>
            <a:r>
              <a:t>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46520"/>
            <a:ext cx="9875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656F7D"/>
                </a:solidFill>
              </a:defRPr>
            </a:pPr>
            <a:r>
              <a:t>Reactpoc • Next.js architecture explained for a Java/Spring Boot developer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417320"/>
            <a:ext cx="6400800" cy="4480560"/>
          </a:xfrm>
          <a:prstGeom prst="roundRect">
            <a:avLst/>
          </a:prstGeom>
          <a:solidFill>
            <a:srgbClr val="F8F9FB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202124"/>
                </a:solidFill>
                <a:latin typeface="Courier New"/>
              </a:defRPr>
            </a:pPr>
            <a:r>
              <a:t>app/</a:t>
            </a:r>
            <a:br/>
            <a:r>
              <a:t>├─ layout.tsx                  → root wrapper for every page</a:t>
            </a:r>
            <a:br/>
            <a:r>
              <a:t>├─ page.tsx                    → /</a:t>
            </a:r>
            <a:br/>
            <a:r>
              <a:t>├─ dashboard/page.tsx          → /dashboard</a:t>
            </a:r>
            <a:br/>
            <a:r>
              <a:t>├─ cases/page.tsx              → /cases</a:t>
            </a:r>
            <a:br/>
            <a:r>
              <a:t>├─ reference/page.tsx          → /reference</a:t>
            </a:r>
            <a:br/>
            <a:r>
              <a:t>├─ entities/[id]/page.tsx      → /entities/:id</a:t>
            </a:r>
            <a:br/>
            <a:r>
              <a:t>├─ api/entities/route.ts       → GET /api/entities</a:t>
            </a:r>
            <a:br/>
            <a:r>
              <a:t>├─ api/screenings/route.ts     → POST /api/screenings</a:t>
            </a:r>
            <a:br/>
            <a:r>
              <a:t>├─ loading.tsx                 → loading UI</a:t>
            </a:r>
            <a:br/>
            <a:r>
              <a:t>├─ error.tsx                   → error boundary UI</a:t>
            </a:r>
            <a:br/>
            <a:r>
              <a:t>└─ not-found.tsx               → 404 UI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543800" y="1600200"/>
            <a:ext cx="3794760" cy="1051560"/>
          </a:xfrm>
          <a:prstGeom prst="roundRect">
            <a:avLst/>
          </a:prstGeom>
          <a:solidFill>
            <a:srgbClr val="F5F7FA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91440"/>
          <a:lstStyle/>
          <a:p>
            <a:pPr algn="ctr">
              <a:defRPr b="1" sz="1500">
                <a:solidFill>
                  <a:srgbClr val="13233A"/>
                </a:solidFill>
              </a:defRPr>
            </a:pPr>
            <a:r>
              <a:t>Key idea</a:t>
            </a:r>
          </a:p>
          <a:p>
            <a:pPr>
              <a:spcBef>
                <a:spcPts val="600"/>
              </a:spcBef>
              <a:defRPr sz="1200">
                <a:solidFill>
                  <a:srgbClr val="202124"/>
                </a:solidFill>
              </a:defRPr>
            </a:pPr>
            <a:r>
              <a:t>[id] is dynamic. /entities/ENT-001 makes params.id = "ENT-001".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543800" y="2880360"/>
            <a:ext cx="3794760" cy="1051560"/>
          </a:xfrm>
          <a:prstGeom prst="roundRect">
            <a:avLst/>
          </a:prstGeom>
          <a:solidFill>
            <a:srgbClr val="F5F7FA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91440"/>
          <a:lstStyle/>
          <a:p>
            <a:pPr algn="ctr">
              <a:defRPr b="1" sz="1500">
                <a:solidFill>
                  <a:srgbClr val="13233A"/>
                </a:solidFill>
              </a:defRPr>
            </a:pPr>
            <a:r>
              <a:t>Special file</a:t>
            </a:r>
          </a:p>
          <a:p>
            <a:pPr>
              <a:spcBef>
                <a:spcPts val="600"/>
              </a:spcBef>
              <a:defRPr sz="1200">
                <a:solidFill>
                  <a:srgbClr val="202124"/>
                </a:solidFill>
              </a:defRPr>
            </a:pPr>
            <a:r>
              <a:t>route.ts is an HTTP endpoint, while page.tsx is a UI route.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43800" y="4160520"/>
            <a:ext cx="3794760" cy="1051560"/>
          </a:xfrm>
          <a:prstGeom prst="roundRect">
            <a:avLst/>
          </a:prstGeom>
          <a:solidFill>
            <a:srgbClr val="F5F7FA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91440"/>
          <a:lstStyle/>
          <a:p>
            <a:pPr algn="ctr">
              <a:defRPr b="1" sz="1500">
                <a:solidFill>
                  <a:srgbClr val="13233A"/>
                </a:solidFill>
              </a:defRPr>
            </a:pPr>
            <a:r>
              <a:t>Java analogy</a:t>
            </a:r>
          </a:p>
          <a:p>
            <a:pPr>
              <a:spcBef>
                <a:spcPts val="600"/>
              </a:spcBef>
              <a:defRPr sz="1200">
                <a:solidFill>
                  <a:srgbClr val="202124"/>
                </a:solidFill>
              </a:defRPr>
            </a:pPr>
            <a:r>
              <a:t>Folders + page/route files replace much of explicit controller/router registration.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3233A"/>
                </a:solidFill>
              </a:defRPr>
            </a:pPr>
            <a:r>
              <a:t>8. app/layout.tsx — root layout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50392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56F7D"/>
                </a:solidFill>
              </a:defRPr>
            </a:pPr>
            <a:r>
              <a:t>Permanent outer structure and root metadata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88720"/>
            <a:ext cx="11155680" cy="36576"/>
          </a:xfrm>
          <a:prstGeom prst="rect">
            <a:avLst/>
          </a:prstGeom>
          <a:solidFill>
            <a:srgbClr val="C900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92840" y="6473952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56F7D"/>
                </a:solidFill>
              </a:defRPr>
            </a:pPr>
            <a:r>
              <a:t>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46520"/>
            <a:ext cx="9875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656F7D"/>
                </a:solidFill>
              </a:defRPr>
            </a:pPr>
            <a:r>
              <a:t>Reactpoc • Next.js architecture explained for a Java/Spring Boot developer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463040"/>
            <a:ext cx="5486400" cy="4389120"/>
          </a:xfrm>
          <a:prstGeom prst="roundRect">
            <a:avLst/>
          </a:prstGeom>
          <a:solidFill>
            <a:srgbClr val="F8F9FB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>
                <a:solidFill>
                  <a:srgbClr val="202124"/>
                </a:solidFill>
                <a:latin typeface="Courier New"/>
              </a:defRPr>
            </a:pPr>
            <a:r>
              <a:t>export const metadata = {</a:t>
            </a:r>
            <a:br/>
            <a:r>
              <a:t>  title: { default: "Entity Search | Armo", template: "%s | Armo" },</a:t>
            </a:r>
            <a:br/>
            <a:r>
              <a:t>  ...</a:t>
            </a:r>
            <a:br/>
            <a:r>
              <a:t>};</a:t>
            </a:r>
            <a:br/>
            <a:br/>
            <a:r>
              <a:t>export default function RootLayout({ children }) {</a:t>
            </a:r>
            <a:br/>
            <a:r>
              <a:t>  return (</a:t>
            </a:r>
            <a:br/>
            <a:r>
              <a:t>    &lt;html lang="en"&gt;</a:t>
            </a:r>
            <a:br/>
            <a:r>
              <a:t>      &lt;body&gt;</a:t>
            </a:r>
            <a:br/>
            <a:r>
              <a:t>        &lt;AppShell&gt;{children}&lt;/AppShell&gt;</a:t>
            </a:r>
            <a:br/>
            <a:r>
              <a:t>      &lt;/body&gt;</a:t>
            </a:r>
            <a:br/>
            <a:r>
              <a:t>    &lt;/html&gt;</a:t>
            </a:r>
            <a:br/>
            <a:r>
              <a:t>  );</a:t>
            </a:r>
            <a:br/>
            <a:r>
              <a:t>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520" y="1554480"/>
            <a:ext cx="50292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02124"/>
                </a:solidFill>
              </a:defRPr>
            </a:pPr>
            <a:r>
              <a:t>`layout.tsx` is a Next.js special file.</a:t>
            </a:r>
          </a:p>
          <a:p>
            <a:pPr>
              <a:spcAft>
                <a:spcPts val="800"/>
              </a:spcAft>
              <a:defRPr sz="1500">
                <a:solidFill>
                  <a:srgbClr val="202124"/>
                </a:solidFill>
              </a:defRPr>
            </a:pPr>
            <a:r>
              <a:t>`children` is whichever page Next.js selected for the current URL.</a:t>
            </a:r>
          </a:p>
          <a:p>
            <a:pPr>
              <a:spcAft>
                <a:spcPts val="800"/>
              </a:spcAft>
              <a:defRPr sz="1500">
                <a:solidFill>
                  <a:srgbClr val="202124"/>
                </a:solidFill>
              </a:defRPr>
            </a:pPr>
            <a:r>
              <a:t>`AppShell` stays around the changing page content.</a:t>
            </a:r>
          </a:p>
          <a:p>
            <a:pPr>
              <a:spcAft>
                <a:spcPts val="800"/>
              </a:spcAft>
              <a:defRPr sz="1500">
                <a:solidFill>
                  <a:srgbClr val="202124"/>
                </a:solidFill>
              </a:defRPr>
            </a:pPr>
            <a:r>
              <a:t>Root metadata supplies default browser title, description and robots behavior.</a:t>
            </a:r>
          </a:p>
          <a:p>
            <a:pPr>
              <a:spcAft>
                <a:spcPts val="800"/>
              </a:spcAft>
              <a:defRPr sz="1500">
                <a:solidFill>
                  <a:srgbClr val="202124"/>
                </a:solidFill>
              </a:defRPr>
            </a:pPr>
            <a:r>
              <a:t>Page metadata can override the title and the root template appends `| Armo`.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3233A"/>
                </a:solidFill>
              </a:defRPr>
            </a:pPr>
            <a:r>
              <a:t>9. AppShell — shared client-side application chrome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50392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56F7D"/>
                </a:solidFill>
              </a:defRPr>
            </a:pPr>
            <a:r>
              <a:t>Why it has hooks and why it is marked "use client"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88720"/>
            <a:ext cx="11155680" cy="36576"/>
          </a:xfrm>
          <a:prstGeom prst="rect">
            <a:avLst/>
          </a:prstGeom>
          <a:solidFill>
            <a:srgbClr val="C900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92840" y="6473952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56F7D"/>
                </a:solidFill>
              </a:defRPr>
            </a:pPr>
            <a: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46520"/>
            <a:ext cx="9875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656F7D"/>
                </a:solidFill>
              </a:defRPr>
            </a:pPr>
            <a:r>
              <a:t>Reactpoc • Next.js architecture explained for a Java/Spring Boot developer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4864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02124"/>
                </a:solidFill>
              </a:defRPr>
            </a:pPr>
            <a:r>
              <a:t>`usePathname()` reads the current URL so the correct sidebar item can be active.</a:t>
            </a:r>
          </a:p>
          <a:p>
            <a:pPr>
              <a:spcAft>
                <a:spcPts val="800"/>
              </a:spcAft>
              <a:defRPr sz="1500">
                <a:solidFill>
                  <a:srgbClr val="202124"/>
                </a:solidFill>
              </a:defRPr>
            </a:pPr>
            <a:r>
              <a:t>`useState(false)` stores mobile menu open/closed and desktop sidebar collapsed/expanded.</a:t>
            </a:r>
          </a:p>
          <a:p>
            <a:pPr>
              <a:spcAft>
                <a:spcPts val="800"/>
              </a:spcAft>
              <a:defRPr sz="1500">
                <a:solidFill>
                  <a:srgbClr val="202124"/>
                </a:solidFill>
              </a:defRPr>
            </a:pPr>
            <a:r>
              <a:t>`navigation.map(...)` converts navigation configuration objects into repeated Link components.</a:t>
            </a:r>
          </a:p>
          <a:p>
            <a:pPr>
              <a:spcAft>
                <a:spcPts val="800"/>
              </a:spcAft>
              <a:defRPr sz="1500">
                <a:solidFill>
                  <a:srgbClr val="202124"/>
                </a:solidFill>
              </a:defRPr>
            </a:pPr>
            <a:r>
              <a:t>`{children}` is inserted into &lt;main&gt;; this is the selected page content.</a:t>
            </a:r>
          </a:p>
          <a:p>
            <a:pPr>
              <a:spcAft>
                <a:spcPts val="800"/>
              </a:spcAft>
              <a:defRPr sz="1500">
                <a:solidFill>
                  <a:srgbClr val="202124"/>
                </a:solidFill>
              </a:defRPr>
            </a:pPr>
            <a:r>
              <a:t>AppShell is a client boundary because it needs browser interaction; the page passed as children can still originate from server rendering.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0" y="1554480"/>
            <a:ext cx="4572000" cy="914400"/>
          </a:xfrm>
          <a:prstGeom prst="roundRect">
            <a:avLst/>
          </a:prstGeom>
          <a:solidFill>
            <a:srgbClr val="F5F7FA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91440"/>
          <a:lstStyle/>
          <a:p>
            <a:pPr algn="ctr">
              <a:defRPr b="1" sz="1500">
                <a:solidFill>
                  <a:srgbClr val="13233A"/>
                </a:solidFill>
              </a:defRPr>
            </a:pPr>
            <a:r>
              <a:t>URL /cases</a:t>
            </a:r>
          </a:p>
          <a:p>
            <a:pPr>
              <a:spcBef>
                <a:spcPts val="600"/>
              </a:spcBef>
              <a:defRPr sz="1200">
                <a:solidFill>
                  <a:srgbClr val="202124"/>
                </a:solidFill>
              </a:defRPr>
            </a:pPr>
            <a:r>
              <a:t>pathname = "/cases"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8869680" y="2468880"/>
            <a:ext cx="0" cy="502920"/>
          </a:xfrm>
          <a:prstGeom prst="line">
            <a:avLst/>
          </a:prstGeom>
          <a:ln w="27940">
            <a:solidFill>
              <a:srgbClr val="235F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583680" y="2971800"/>
            <a:ext cx="4572000" cy="914400"/>
          </a:xfrm>
          <a:prstGeom prst="roundRect">
            <a:avLst/>
          </a:prstGeom>
          <a:solidFill>
            <a:srgbClr val="F5F7FA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91440"/>
          <a:lstStyle/>
          <a:p>
            <a:pPr algn="ctr">
              <a:defRPr b="1" sz="1500">
                <a:solidFill>
                  <a:srgbClr val="13233A"/>
                </a:solidFill>
              </a:defRPr>
            </a:pPr>
            <a:r>
              <a:t>isNavigationActive()</a:t>
            </a:r>
          </a:p>
          <a:p>
            <a:pPr>
              <a:spcBef>
                <a:spcPts val="600"/>
              </a:spcBef>
              <a:defRPr sz="1200">
                <a:solidFill>
                  <a:srgbClr val="202124"/>
                </a:solidFill>
              </a:defRPr>
            </a:pPr>
            <a:r>
              <a:t>checks each href against pathname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8869680" y="3886200"/>
            <a:ext cx="0" cy="502920"/>
          </a:xfrm>
          <a:prstGeom prst="line">
            <a:avLst/>
          </a:prstGeom>
          <a:ln w="27940">
            <a:solidFill>
              <a:srgbClr val="235F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583680" y="4389120"/>
            <a:ext cx="4572000" cy="914400"/>
          </a:xfrm>
          <a:prstGeom prst="roundRect">
            <a:avLst/>
          </a:prstGeom>
          <a:solidFill>
            <a:srgbClr val="F5F7FA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91440"/>
          <a:lstStyle/>
          <a:p>
            <a:pPr algn="ctr">
              <a:defRPr b="1" sz="1500">
                <a:solidFill>
                  <a:srgbClr val="13233A"/>
                </a:solidFill>
              </a:defRPr>
            </a:pPr>
            <a:r>
              <a:t>Rendered sidebar</a:t>
            </a:r>
          </a:p>
          <a:p>
            <a:pPr>
              <a:spcBef>
                <a:spcPts val="600"/>
              </a:spcBef>
              <a:defRPr sz="1200">
                <a:solidFill>
                  <a:srgbClr val="202124"/>
                </a:solidFill>
              </a:defRPr>
            </a:pPr>
            <a:r>
              <a:t>Case Queue receives aria-current="page"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3233A"/>
                </a:solidFill>
              </a:defRPr>
            </a:pPr>
            <a:r>
              <a:t>10. navigation.ts + Link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50392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56F7D"/>
                </a:solidFill>
              </a:defRPr>
            </a:pPr>
            <a:r>
              <a:t>Configuration-driven navigation instead of repeated hard-coded markup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88720"/>
            <a:ext cx="11155680" cy="36576"/>
          </a:xfrm>
          <a:prstGeom prst="rect">
            <a:avLst/>
          </a:prstGeom>
          <a:solidFill>
            <a:srgbClr val="C900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92840" y="6473952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56F7D"/>
                </a:solidFill>
              </a:defRPr>
            </a:pPr>
            <a:r>
              <a:t>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46520"/>
            <a:ext cx="9875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656F7D"/>
                </a:solidFill>
              </a:defRPr>
            </a:pPr>
            <a:r>
              <a:t>Reactpoc • Next.js architecture explained for a Java/Spring Boot developer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463040"/>
            <a:ext cx="5852160" cy="3017520"/>
          </a:xfrm>
          <a:prstGeom prst="roundRect">
            <a:avLst/>
          </a:prstGeom>
          <a:solidFill>
            <a:srgbClr val="F8F9FB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>
                <a:solidFill>
                  <a:srgbClr val="202124"/>
                </a:solidFill>
                <a:latin typeface="Courier New"/>
              </a:defRPr>
            </a:pPr>
            <a:r>
              <a:t>export const navigation = [</a:t>
            </a:r>
            <a:br/>
            <a:r>
              <a:t>  { label: "Dashboard", href: "/dashboard", icon: LayoutDashboard },</a:t>
            </a:r>
            <a:br/>
            <a:r>
              <a:t>  { label: "Search Entity", href: "/", icon: BriefcaseBusiness },</a:t>
            </a:r>
            <a:br/>
            <a:r>
              <a:t>  { label: "Case Queue", href: "/cases", icon: ChartColumn },</a:t>
            </a:r>
            <a:br/>
            <a:r>
              <a:t>  { label: "Reference", href: "/reference", icon: Building2 },</a:t>
            </a:r>
            <a:br/>
            <a:r>
              <a:t>] as const;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12280" y="1508760"/>
            <a:ext cx="46634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02124"/>
                </a:solidFill>
              </a:defRPr>
            </a:pPr>
            <a:r>
              <a:t>`map()` loops over the array and creates one Link per item.</a:t>
            </a:r>
          </a:p>
          <a:p>
            <a:pPr>
              <a:spcAft>
                <a:spcPts val="800"/>
              </a:spcAft>
              <a:defRPr sz="1500">
                <a:solidFill>
                  <a:srgbClr val="202124"/>
                </a:solidFill>
              </a:defRPr>
            </a:pPr>
            <a:r>
              <a:t>`icon: Icon` renames the `icon` property so React can render `&lt;Icon /&gt;`.</a:t>
            </a:r>
          </a:p>
          <a:p>
            <a:pPr>
              <a:spcAft>
                <a:spcPts val="800"/>
              </a:spcAft>
              <a:defRPr sz="1500">
                <a:solidFill>
                  <a:srgbClr val="202124"/>
                </a:solidFill>
              </a:defRPr>
            </a:pPr>
            <a:r>
              <a:t>`Link` performs Next.js navigation.</a:t>
            </a:r>
          </a:p>
          <a:p>
            <a:pPr>
              <a:spcAft>
                <a:spcPts val="800"/>
              </a:spcAft>
              <a:defRPr sz="1500">
                <a:solidFill>
                  <a:srgbClr val="202124"/>
                </a:solidFill>
              </a:defRPr>
            </a:pPr>
            <a:r>
              <a:t>`isNavigationActive()` centralizes active-menu rules, including treating `/entities/...` as part of Case Queue.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3233A"/>
                </a:solidFill>
              </a:defRPr>
            </a:pPr>
            <a:r>
              <a:t>11. page.tsx files — route entry components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50392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56F7D"/>
                </a:solidFill>
              </a:defRPr>
            </a:pPr>
            <a:r>
              <a:t>Each route chooses which feature/component should render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88720"/>
            <a:ext cx="11155680" cy="36576"/>
          </a:xfrm>
          <a:prstGeom prst="rect">
            <a:avLst/>
          </a:prstGeom>
          <a:solidFill>
            <a:srgbClr val="C900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92840" y="6473952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56F7D"/>
                </a:solidFill>
              </a:defRPr>
            </a:pPr>
            <a:r>
              <a:t>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46520"/>
            <a:ext cx="9875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656F7D"/>
                </a:solidFill>
              </a:defRPr>
            </a:pPr>
            <a:r>
              <a:t>Reactpoc • Next.js architecture explained for a Java/Spring Boot developer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417320"/>
            <a:ext cx="64008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02124"/>
                </a:solidFill>
              </a:defRPr>
            </a:pPr>
            <a:r>
              <a:t>`app/page.tsx` is intentionally tiny: it returns `&lt;EntitySearch /&gt;` for `/`.</a:t>
            </a:r>
          </a:p>
          <a:p>
            <a:pPr>
              <a:spcAft>
                <a:spcPts val="800"/>
              </a:spcAft>
              <a:defRPr sz="1600">
                <a:solidFill>
                  <a:srgbClr val="202124"/>
                </a:solidFill>
              </a:defRPr>
            </a:pPr>
            <a:r>
              <a:t>`dashboard/page.tsx` renders dashboard cards and links.</a:t>
            </a:r>
          </a:p>
          <a:p>
            <a:pPr>
              <a:spcAft>
                <a:spcPts val="800"/>
              </a:spcAft>
              <a:defRPr sz="1600">
                <a:solidFill>
                  <a:srgbClr val="202124"/>
                </a:solidFill>
              </a:defRPr>
            </a:pPr>
            <a:r>
              <a:t>`cases/page.tsx` is async, loads sample entity ENT-001 on the server, then links to its dynamic route.</a:t>
            </a:r>
          </a:p>
          <a:p>
            <a:pPr>
              <a:spcAft>
                <a:spcPts val="800"/>
              </a:spcAft>
              <a:defRPr sz="1600">
                <a:solidFill>
                  <a:srgbClr val="202124"/>
                </a:solidFill>
              </a:defRPr>
            </a:pPr>
            <a:r>
              <a:t>`reference/page.tsx` renders static workflow guidance.</a:t>
            </a:r>
          </a:p>
          <a:p>
            <a:pPr>
              <a:spcAft>
                <a:spcPts val="800"/>
              </a:spcAft>
              <a:defRPr sz="1600">
                <a:solidFill>
                  <a:srgbClr val="202124"/>
                </a:solidFill>
              </a:defRPr>
            </a:pPr>
            <a:r>
              <a:t>`entities/[id]/page.tsx` performs dynamic entity lookup and renders `CaseWorkspace`.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52360" y="1600200"/>
            <a:ext cx="3840480" cy="1005840"/>
          </a:xfrm>
          <a:prstGeom prst="roundRect">
            <a:avLst/>
          </a:prstGeom>
          <a:solidFill>
            <a:srgbClr val="F5F7FA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91440"/>
          <a:lstStyle/>
          <a:p>
            <a:pPr algn="ctr">
              <a:defRPr b="1" sz="1500">
                <a:solidFill>
                  <a:srgbClr val="13233A"/>
                </a:solidFill>
              </a:defRPr>
            </a:pPr>
            <a:r>
              <a:t>Design principle</a:t>
            </a:r>
          </a:p>
          <a:p>
            <a:pPr>
              <a:spcBef>
                <a:spcPts val="600"/>
              </a:spcBef>
              <a:defRPr sz="1200">
                <a:solidFill>
                  <a:srgbClr val="202124"/>
                </a:solidFill>
              </a:defRPr>
            </a:pPr>
            <a:r>
              <a:t>Route files stay thin.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52360" y="2880360"/>
            <a:ext cx="3840480" cy="1005840"/>
          </a:xfrm>
          <a:prstGeom prst="roundRect">
            <a:avLst/>
          </a:prstGeom>
          <a:solidFill>
            <a:srgbClr val="F5F7FA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91440"/>
          <a:lstStyle/>
          <a:p>
            <a:pPr algn="ctr">
              <a:defRPr b="1" sz="1500">
                <a:solidFill>
                  <a:srgbClr val="13233A"/>
                </a:solidFill>
              </a:defRPr>
            </a:pPr>
            <a:r>
              <a:t>Business UI</a:t>
            </a:r>
          </a:p>
          <a:p>
            <a:pPr>
              <a:spcBef>
                <a:spcPts val="600"/>
              </a:spcBef>
              <a:defRPr sz="1200">
                <a:solidFill>
                  <a:srgbClr val="202124"/>
                </a:solidFill>
              </a:defRPr>
            </a:pPr>
            <a:r>
              <a:t>Lives under features/.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52360" y="4160520"/>
            <a:ext cx="3840480" cy="1005840"/>
          </a:xfrm>
          <a:prstGeom prst="roundRect">
            <a:avLst/>
          </a:prstGeom>
          <a:solidFill>
            <a:srgbClr val="F5F7FA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91440"/>
          <a:lstStyle/>
          <a:p>
            <a:pPr algn="ctr">
              <a:defRPr b="1" sz="1500">
                <a:solidFill>
                  <a:srgbClr val="13233A"/>
                </a:solidFill>
              </a:defRPr>
            </a:pPr>
            <a:r>
              <a:t>Server lookup</a:t>
            </a:r>
          </a:p>
          <a:p>
            <a:pPr>
              <a:spcBef>
                <a:spcPts val="600"/>
              </a:spcBef>
              <a:defRPr sz="1200">
                <a:solidFill>
                  <a:srgbClr val="202124"/>
                </a:solidFill>
              </a:defRPr>
            </a:pPr>
            <a:r>
              <a:t>Can happen directly in a server page without browser fetch.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3233A"/>
                </a:solidFill>
              </a:defRPr>
            </a:pPr>
            <a:r>
              <a:t>12. EntitySearch.tsx — interactive search screen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50392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56F7D"/>
                </a:solidFill>
              </a:defRPr>
            </a:pPr>
            <a:r>
              <a:t>Client component: form events, hooks, request lifecycle and result rendering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88720"/>
            <a:ext cx="11155680" cy="36576"/>
          </a:xfrm>
          <a:prstGeom prst="rect">
            <a:avLst/>
          </a:prstGeom>
          <a:solidFill>
            <a:srgbClr val="C900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92840" y="6473952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56F7D"/>
                </a:solidFill>
              </a:defRPr>
            </a:pPr>
            <a:r>
              <a:t>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46520"/>
            <a:ext cx="9875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656F7D"/>
                </a:solidFill>
              </a:defRPr>
            </a:pPr>
            <a:r>
              <a:t>Reactpoc • Next.js architecture explained for a Java/Spring Boot developer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02124"/>
                </a:solidFill>
              </a:defRPr>
            </a:pPr>
            <a:r>
              <a:t>`useState` holds query, results, submitted query, field error, request error and loading state.</a:t>
            </a:r>
          </a:p>
          <a:p>
            <a:pPr>
              <a:spcAft>
                <a:spcPts val="800"/>
              </a:spcAft>
              <a:defRPr sz="1500">
                <a:solidFill>
                  <a:srgbClr val="202124"/>
                </a:solidFill>
              </a:defRPr>
            </a:pPr>
            <a:r>
              <a:t>`useRef&lt;AbortController&gt;` tracks the active HTTP request and prevents duplicate submissions.</a:t>
            </a:r>
          </a:p>
          <a:p>
            <a:pPr>
              <a:spcAft>
                <a:spcPts val="800"/>
              </a:spcAft>
              <a:defRPr sz="1500">
                <a:solidFill>
                  <a:srgbClr val="202124"/>
                </a:solidFill>
              </a:defRPr>
            </a:pPr>
            <a:r>
              <a:t>`useEffect` is used only for cleanup: abort an active request when the component unmounts.</a:t>
            </a:r>
          </a:p>
          <a:p>
            <a:pPr>
              <a:spcAft>
                <a:spcPts val="800"/>
              </a:spcAft>
              <a:defRPr sz="1500">
                <a:solidFill>
                  <a:srgbClr val="202124"/>
                </a:solidFill>
              </a:defRPr>
            </a:pPr>
            <a:r>
              <a:t>`handleSubmit()` prevents normal browser form submission, validates input, calls the API client, then updates state.</a:t>
            </a:r>
          </a:p>
          <a:p>
            <a:pPr>
              <a:spcAft>
                <a:spcPts val="800"/>
              </a:spcAft>
              <a:defRPr sz="1500">
                <a:solidFill>
                  <a:srgbClr val="202124"/>
                </a:solidFill>
              </a:defRPr>
            </a:pPr>
            <a:r>
              <a:t>`entities.map(...)` renders one `EntityResult` per returned entity.</a:t>
            </a:r>
          </a:p>
          <a:p>
            <a:pPr>
              <a:spcAft>
                <a:spcPts val="800"/>
              </a:spcAft>
              <a:defRPr sz="1500">
                <a:solidFill>
                  <a:srgbClr val="202124"/>
                </a:solidFill>
              </a:defRPr>
            </a:pPr>
            <a:r>
              <a:t>UI covers initial, loading, validation error, request error, empty result and success states.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3233A"/>
                </a:solidFill>
              </a:defRPr>
            </a:pPr>
            <a:r>
              <a:t>13. Hooks in this project — what each one is doing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50392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56F7D"/>
                </a:solidFill>
              </a:defRPr>
            </a:pPr>
            <a:r>
              <a:t>Concrete examples from Reactpoc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88720"/>
            <a:ext cx="11155680" cy="36576"/>
          </a:xfrm>
          <a:prstGeom prst="rect">
            <a:avLst/>
          </a:prstGeom>
          <a:solidFill>
            <a:srgbClr val="C900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92840" y="6473952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56F7D"/>
                </a:solidFill>
              </a:defRPr>
            </a:pPr>
            <a:r>
              <a:t>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46520"/>
            <a:ext cx="9875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656F7D"/>
                </a:solidFill>
              </a:defRPr>
            </a:pPr>
            <a:r>
              <a:t>Reactpoc • Next.js architecture explained for a Java/Spring Boot developer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417320"/>
            <a:ext cx="5212080" cy="1170432"/>
          </a:xfrm>
          <a:prstGeom prst="roundRect">
            <a:avLst/>
          </a:prstGeom>
          <a:solidFill>
            <a:srgbClr val="F5F7FA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91440"/>
          <a:lstStyle/>
          <a:p>
            <a:pPr algn="ctr">
              <a:defRPr b="1" sz="1500">
                <a:solidFill>
                  <a:srgbClr val="13233A"/>
                </a:solidFill>
              </a:defRPr>
            </a:pPr>
            <a:r>
              <a:t>useState</a:t>
            </a:r>
          </a:p>
          <a:p>
            <a:pPr>
              <a:spcBef>
                <a:spcPts val="600"/>
              </a:spcBef>
              <a:defRPr sz="1200">
                <a:solidFill>
                  <a:srgbClr val="202124"/>
                </a:solidFill>
              </a:defRPr>
            </a:pPr>
            <a:r>
              <a:t>Remember mutable UI values and trigger re-render when setter is called.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17320"/>
            <a:ext cx="5212080" cy="1170432"/>
          </a:xfrm>
          <a:prstGeom prst="roundRect">
            <a:avLst/>
          </a:prstGeom>
          <a:solidFill>
            <a:srgbClr val="F5F7FA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91440"/>
          <a:lstStyle/>
          <a:p>
            <a:pPr algn="ctr">
              <a:defRPr b="1" sz="1500">
                <a:solidFill>
                  <a:srgbClr val="13233A"/>
                </a:solidFill>
              </a:defRPr>
            </a:pPr>
            <a:r>
              <a:t>useReducer</a:t>
            </a:r>
          </a:p>
          <a:p>
            <a:pPr>
              <a:spcBef>
                <a:spcPts val="600"/>
              </a:spcBef>
              <a:defRPr sz="1200">
                <a:solidFill>
                  <a:srgbClr val="202124"/>
                </a:solidFill>
              </a:defRPr>
            </a:pPr>
            <a:r>
              <a:t>Manage related case state transitions with named actions.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926080"/>
            <a:ext cx="5212080" cy="1170432"/>
          </a:xfrm>
          <a:prstGeom prst="roundRect">
            <a:avLst/>
          </a:prstGeom>
          <a:solidFill>
            <a:srgbClr val="F5F7FA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91440"/>
          <a:lstStyle/>
          <a:p>
            <a:pPr algn="ctr">
              <a:defRPr b="1" sz="1500">
                <a:solidFill>
                  <a:srgbClr val="13233A"/>
                </a:solidFill>
              </a:defRPr>
            </a:pPr>
            <a:r>
              <a:t>useRef</a:t>
            </a:r>
          </a:p>
          <a:p>
            <a:pPr>
              <a:spcBef>
                <a:spcPts val="600"/>
              </a:spcBef>
              <a:defRPr sz="1200">
                <a:solidFill>
                  <a:srgbClr val="202124"/>
                </a:solidFill>
              </a:defRPr>
            </a:pPr>
            <a:r>
              <a:t>Keep AbortController identity without causing re-render.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2926080"/>
            <a:ext cx="5212080" cy="1170432"/>
          </a:xfrm>
          <a:prstGeom prst="roundRect">
            <a:avLst/>
          </a:prstGeom>
          <a:solidFill>
            <a:srgbClr val="F5F7FA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91440"/>
          <a:lstStyle/>
          <a:p>
            <a:pPr algn="ctr">
              <a:defRPr b="1" sz="1500">
                <a:solidFill>
                  <a:srgbClr val="13233A"/>
                </a:solidFill>
              </a:defRPr>
            </a:pPr>
            <a:r>
              <a:t>useEffect</a:t>
            </a:r>
          </a:p>
          <a:p>
            <a:pPr>
              <a:spcBef>
                <a:spcPts val="600"/>
              </a:spcBef>
              <a:defRPr sz="1200">
                <a:solidFill>
                  <a:srgbClr val="202124"/>
                </a:solidFill>
              </a:defRPr>
            </a:pPr>
            <a:r>
              <a:t>Register cleanup when component unmounts.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4434840"/>
            <a:ext cx="5212080" cy="1170432"/>
          </a:xfrm>
          <a:prstGeom prst="roundRect">
            <a:avLst/>
          </a:prstGeom>
          <a:solidFill>
            <a:srgbClr val="F5F7FA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91440"/>
          <a:lstStyle/>
          <a:p>
            <a:pPr algn="ctr">
              <a:defRPr b="1" sz="1500">
                <a:solidFill>
                  <a:srgbClr val="13233A"/>
                </a:solidFill>
              </a:defRPr>
            </a:pPr>
            <a:r>
              <a:t>useId</a:t>
            </a:r>
          </a:p>
          <a:p>
            <a:pPr>
              <a:spcBef>
                <a:spcPts val="600"/>
              </a:spcBef>
              <a:defRPr sz="1200">
                <a:solidFill>
                  <a:srgbClr val="202124"/>
                </a:solidFill>
              </a:defRPr>
            </a:pPr>
            <a:r>
              <a:t>Generate stable accessible input/description IDs.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4434840"/>
            <a:ext cx="5212080" cy="1170432"/>
          </a:xfrm>
          <a:prstGeom prst="roundRect">
            <a:avLst/>
          </a:prstGeom>
          <a:solidFill>
            <a:srgbClr val="F5F7FA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91440"/>
          <a:lstStyle/>
          <a:p>
            <a:pPr algn="ctr">
              <a:defRPr b="1" sz="1500">
                <a:solidFill>
                  <a:srgbClr val="13233A"/>
                </a:solidFill>
              </a:defRPr>
            </a:pPr>
            <a:r>
              <a:t>usePathname</a:t>
            </a:r>
          </a:p>
          <a:p>
            <a:pPr>
              <a:spcBef>
                <a:spcPts val="600"/>
              </a:spcBef>
              <a:defRPr sz="1200">
                <a:solidFill>
                  <a:srgbClr val="202124"/>
                </a:solidFill>
              </a:defRPr>
            </a:pPr>
            <a:r>
              <a:t>Next.js hook to know the current URL path.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3233A"/>
                </a:solidFill>
              </a:defRPr>
            </a:pPr>
            <a:r>
              <a:t>14. schema.ts + types.ts — contract layer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50392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56F7D"/>
                </a:solidFill>
              </a:defRPr>
            </a:pPr>
            <a:r>
              <a:t>Zod validates runtime data; TypeScript types protect code at compile time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88720"/>
            <a:ext cx="11155680" cy="36576"/>
          </a:xfrm>
          <a:prstGeom prst="rect">
            <a:avLst/>
          </a:prstGeom>
          <a:solidFill>
            <a:srgbClr val="C900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92840" y="6473952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56F7D"/>
                </a:solidFill>
              </a:defRPr>
            </a:pPr>
            <a:r>
              <a:t>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46520"/>
            <a:ext cx="9875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656F7D"/>
                </a:solidFill>
              </a:defRPr>
            </a:pPr>
            <a:r>
              <a:t>Reactpoc • Next.js architecture explained for a Java/Spring Boot developer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8521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02124"/>
                </a:solidFill>
              </a:defRPr>
            </a:pPr>
            <a:r>
              <a:t>`entitySearchQuerySchema` trims input, requires 1–120 characters and rejects control characters.</a:t>
            </a:r>
          </a:p>
          <a:p>
            <a:pPr>
              <a:spcAft>
                <a:spcPts val="800"/>
              </a:spcAft>
              <a:defRPr sz="1500">
                <a:solidFill>
                  <a:srgbClr val="202124"/>
                </a:solidFill>
              </a:defRPr>
            </a:pPr>
            <a:r>
              <a:t>`entitySchema` defines the full Entity shape including group members and ownership percentage.</a:t>
            </a:r>
          </a:p>
          <a:p>
            <a:pPr>
              <a:spcAft>
                <a:spcPts val="800"/>
              </a:spcAft>
              <a:defRPr sz="1500">
                <a:solidFill>
                  <a:srgbClr val="202124"/>
                </a:solidFill>
              </a:defRPr>
            </a:pPr>
            <a:r>
              <a:t>`entitySearchResponseSchema` defines `{ query, entities }` returned by the search endpoint.</a:t>
            </a:r>
          </a:p>
          <a:p>
            <a:pPr>
              <a:spcAft>
                <a:spcPts val="800"/>
              </a:spcAft>
              <a:defRPr sz="1500">
                <a:solidFill>
                  <a:srgbClr val="202124"/>
                </a:solidFill>
              </a:defRPr>
            </a:pPr>
            <a:r>
              <a:t>`types.ts` uses `z.infer` so TypeScript types come from the validation schema instead of being duplicated.</a:t>
            </a:r>
          </a:p>
          <a:p>
            <a:pPr>
              <a:spcAft>
                <a:spcPts val="800"/>
              </a:spcAft>
              <a:defRPr sz="1500">
                <a:solidFill>
                  <a:srgbClr val="202124"/>
                </a:solidFill>
              </a:defRPr>
            </a:pPr>
            <a:r>
              <a:t>Important difference: TypeScript types disappear at runtime; Zod actually checks incoming/outgoing data while the program runs.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903720" y="1645920"/>
            <a:ext cx="4389120" cy="914400"/>
          </a:xfrm>
          <a:prstGeom prst="roundRect">
            <a:avLst/>
          </a:prstGeom>
          <a:solidFill>
            <a:srgbClr val="F5F7FA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91440"/>
          <a:lstStyle/>
          <a:p>
            <a:pPr algn="ctr">
              <a:defRPr b="1" sz="1500">
                <a:solidFill>
                  <a:srgbClr val="13233A"/>
                </a:solidFill>
              </a:defRPr>
            </a:pPr>
            <a:r>
              <a:t>Java compile-time analogy</a:t>
            </a:r>
          </a:p>
          <a:p>
            <a:pPr>
              <a:spcBef>
                <a:spcPts val="600"/>
              </a:spcBef>
              <a:defRPr sz="1200">
                <a:solidFill>
                  <a:srgbClr val="202124"/>
                </a:solidFill>
              </a:defRPr>
            </a:pPr>
            <a:r>
              <a:t>Entity / DTO class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03720" y="2880360"/>
            <a:ext cx="4389120" cy="914400"/>
          </a:xfrm>
          <a:prstGeom prst="roundRect">
            <a:avLst/>
          </a:prstGeom>
          <a:solidFill>
            <a:srgbClr val="F5F7FA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91440"/>
          <a:lstStyle/>
          <a:p>
            <a:pPr algn="ctr">
              <a:defRPr b="1" sz="1500">
                <a:solidFill>
                  <a:srgbClr val="13233A"/>
                </a:solidFill>
              </a:defRPr>
            </a:pPr>
            <a:r>
              <a:t>Java runtime validation analogy</a:t>
            </a:r>
          </a:p>
          <a:p>
            <a:pPr>
              <a:spcBef>
                <a:spcPts val="600"/>
              </a:spcBef>
              <a:defRPr sz="1200">
                <a:solidFill>
                  <a:srgbClr val="202124"/>
                </a:solidFill>
              </a:defRPr>
            </a:pPr>
            <a:r>
              <a:t>Bean Validation + explicit parsing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903720" y="4114800"/>
            <a:ext cx="4389120" cy="914400"/>
          </a:xfrm>
          <a:prstGeom prst="roundRect">
            <a:avLst/>
          </a:prstGeom>
          <a:solidFill>
            <a:srgbClr val="F5F7FA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91440"/>
          <a:lstStyle/>
          <a:p>
            <a:pPr algn="ctr">
              <a:defRPr b="1" sz="1500">
                <a:solidFill>
                  <a:srgbClr val="13233A"/>
                </a:solidFill>
              </a:defRPr>
            </a:pPr>
            <a:r>
              <a:t>Why both?</a:t>
            </a:r>
          </a:p>
          <a:p>
            <a:pPr>
              <a:spcBef>
                <a:spcPts val="600"/>
              </a:spcBef>
              <a:defRPr sz="1200">
                <a:solidFill>
                  <a:srgbClr val="202124"/>
                </a:solidFill>
              </a:defRPr>
            </a:pPr>
            <a:r>
              <a:t>Static safety + runtime boundary protection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3233A"/>
                </a:solidFill>
              </a:defRPr>
            </a:pPr>
            <a:r>
              <a:t>15. services/entity-api.ts — browser-side API client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50392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56F7D"/>
                </a:solidFill>
              </a:defRPr>
            </a:pPr>
            <a:r>
              <a:t>Central place for fetch(), request construction and response verification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88720"/>
            <a:ext cx="11155680" cy="36576"/>
          </a:xfrm>
          <a:prstGeom prst="rect">
            <a:avLst/>
          </a:prstGeom>
          <a:solidFill>
            <a:srgbClr val="C900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92840" y="6473952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56F7D"/>
                </a:solidFill>
              </a:defRPr>
            </a:pPr>
            <a:r>
              <a:t>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46520"/>
            <a:ext cx="9875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656F7D"/>
                </a:solidFill>
              </a:defRPr>
            </a:pPr>
            <a:r>
              <a:t>Reactpoc • Next.js architecture explained for a Java/Spring Boot developer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02124"/>
                </a:solidFill>
              </a:defRPr>
            </a:pPr>
            <a:r>
              <a:t>`searchEntityDirectory(request, signal)` accepts a typed request.</a:t>
            </a:r>
          </a:p>
          <a:p>
            <a:pPr>
              <a:spcAft>
                <a:spcPts val="800"/>
              </a:spcAft>
              <a:defRPr sz="1600">
                <a:solidFill>
                  <a:srgbClr val="202124"/>
                </a:solidFill>
              </a:defRPr>
            </a:pPr>
            <a:r>
              <a:t>Validates the request again, builds `?q=...` using URLSearchParams, and calls `/api/entities`.</a:t>
            </a:r>
          </a:p>
          <a:p>
            <a:pPr>
              <a:spcAft>
                <a:spcPts val="800"/>
              </a:spcAft>
              <a:defRPr sz="1600">
                <a:solidFill>
                  <a:srgbClr val="202124"/>
                </a:solidFill>
              </a:defRPr>
            </a:pPr>
            <a:r>
              <a:t>`cache: no-store` requests fresh data.</a:t>
            </a:r>
          </a:p>
          <a:p>
            <a:pPr>
              <a:spcAft>
                <a:spcPts val="800"/>
              </a:spcAft>
              <a:defRPr sz="1600">
                <a:solidFill>
                  <a:srgbClr val="202124"/>
                </a:solidFill>
              </a:defRPr>
            </a:pPr>
            <a:r>
              <a:t>Non-2xx response becomes a controlled Error.</a:t>
            </a:r>
          </a:p>
          <a:p>
            <a:pPr>
              <a:spcAft>
                <a:spcPts val="800"/>
              </a:spcAft>
              <a:defRPr sz="1600">
                <a:solidFill>
                  <a:srgbClr val="202124"/>
                </a:solidFill>
              </a:defRPr>
            </a:pPr>
            <a:r>
              <a:t>Returned JSON is validated with `entitySearchResponseSchema.safeParse()` before the UI trusts it.</a:t>
            </a:r>
          </a:p>
          <a:p>
            <a:pPr>
              <a:spcAft>
                <a:spcPts val="800"/>
              </a:spcAft>
              <a:defRPr sz="1600">
                <a:solidFill>
                  <a:srgbClr val="202124"/>
                </a:solidFill>
              </a:defRPr>
            </a:pPr>
            <a:r>
              <a:t>Java mental model: a small typed REST client/Feign wrapper used by the frontend.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3233A"/>
                </a:solidFill>
              </a:defRPr>
            </a:pPr>
            <a:r>
              <a:t>16. app/api/entities/route.ts — search controller boundary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50392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56F7D"/>
                </a:solidFill>
              </a:defRPr>
            </a:pPr>
            <a:r>
              <a:t>Closest file to a Spring @RestController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88720"/>
            <a:ext cx="11155680" cy="36576"/>
          </a:xfrm>
          <a:prstGeom prst="rect">
            <a:avLst/>
          </a:prstGeom>
          <a:solidFill>
            <a:srgbClr val="C900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92840" y="6473952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56F7D"/>
                </a:solidFill>
              </a:defRPr>
            </a:pPr>
            <a:r>
              <a:t>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46520"/>
            <a:ext cx="9875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656F7D"/>
                </a:solidFill>
              </a:defRPr>
            </a:pPr>
            <a:r>
              <a:t>Reactpoc • Next.js architecture explained for a Java/Spring Boot developer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508760"/>
            <a:ext cx="5669280" cy="4114800"/>
          </a:xfrm>
          <a:prstGeom prst="roundRect">
            <a:avLst/>
          </a:prstGeom>
          <a:solidFill>
            <a:srgbClr val="F8F9FB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202124"/>
                </a:solidFill>
                <a:latin typeface="Courier New"/>
              </a:defRPr>
            </a:pPr>
            <a:r>
              <a:t>GET /api/entities?q=Meridian</a:t>
            </a:r>
            <a:br/>
            <a:br/>
            <a:r>
              <a:t>1. Read q from request.nextUrl.searchParams</a:t>
            </a:r>
            <a:br/>
            <a:r>
              <a:t>2. entitySearchRequestSchema.safeParse(...)</a:t>
            </a:r>
            <a:br/>
            <a:r>
              <a:t>3. Invalid → HTTP 400</a:t>
            </a:r>
            <a:br/>
            <a:r>
              <a:t>4. await searchEntities(validQuery)</a:t>
            </a:r>
            <a:br/>
            <a:r>
              <a:t>5. Success → JSON { query, entities }</a:t>
            </a:r>
            <a:br/>
            <a:r>
              <a:t>6. Service failure → HTTP 503</a:t>
            </a:r>
            <a:br/>
            <a:r>
              <a:t>7. Cache-Control: private, no-store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20840" y="1600200"/>
            <a:ext cx="45720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02124"/>
                </a:solidFill>
              </a:defRPr>
            </a:pPr>
            <a:r>
              <a:t>Controller concerns: HTTP input, status codes, headers, JSON response, generic error handling.</a:t>
            </a:r>
          </a:p>
          <a:p>
            <a:pPr>
              <a:spcAft>
                <a:spcPts val="800"/>
              </a:spcAft>
              <a:defRPr sz="1500">
                <a:solidFill>
                  <a:srgbClr val="202124"/>
                </a:solidFill>
              </a:defRPr>
            </a:pPr>
            <a:r>
              <a:t>It does not contain the actual search algorithm.</a:t>
            </a:r>
          </a:p>
          <a:p>
            <a:pPr>
              <a:spcAft>
                <a:spcPts val="800"/>
              </a:spcAft>
              <a:defRPr sz="1500">
                <a:solidFill>
                  <a:srgbClr val="202124"/>
                </a:solidFill>
              </a:defRPr>
            </a:pPr>
            <a:r>
              <a:t>That separation is the same reason Spring controllers should call services instead of embedding repository logic.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3233A"/>
                </a:solidFill>
              </a:defRPr>
            </a:pPr>
            <a:r>
              <a:t>17. entity-service.ts + entity-data.ts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50392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56F7D"/>
                </a:solidFill>
              </a:defRPr>
            </a:pPr>
            <a:r>
              <a:t>Server-only service/adapter over the current fixture data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88720"/>
            <a:ext cx="11155680" cy="36576"/>
          </a:xfrm>
          <a:prstGeom prst="rect">
            <a:avLst/>
          </a:prstGeom>
          <a:solidFill>
            <a:srgbClr val="C900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92840" y="6473952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56F7D"/>
                </a:solidFill>
              </a:defRPr>
            </a:pPr>
            <a:r>
              <a:t>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46520"/>
            <a:ext cx="9875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656F7D"/>
                </a:solidFill>
              </a:defRPr>
            </a:pPr>
            <a:r>
              <a:t>Reactpoc • Next.js architecture explained for a Java/Spring Boot developer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508760"/>
            <a:ext cx="3154680" cy="1234440"/>
          </a:xfrm>
          <a:prstGeom prst="roundRect">
            <a:avLst/>
          </a:prstGeom>
          <a:solidFill>
            <a:srgbClr val="F5F7FA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91440"/>
          <a:lstStyle/>
          <a:p>
            <a:pPr algn="ctr">
              <a:defRPr b="1" sz="1500">
                <a:solidFill>
                  <a:srgbClr val="13233A"/>
                </a:solidFill>
              </a:defRPr>
            </a:pPr>
            <a:r>
              <a:t>entity-service.ts</a:t>
            </a:r>
          </a:p>
          <a:p>
            <a:pPr>
              <a:spcBef>
                <a:spcPts val="600"/>
              </a:spcBef>
              <a:defRPr sz="1200">
                <a:solidFill>
                  <a:srgbClr val="202124"/>
                </a:solidFill>
              </a:defRPr>
            </a:pPr>
            <a:r>
              <a:t>`server-only` prevents accidental browser import.</a:t>
            </a:r>
            <a:br/>
            <a:r>
              <a:t>searchEntities() and getEntityById() expose server operations.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840480" y="2130552"/>
            <a:ext cx="502920" cy="0"/>
          </a:xfrm>
          <a:prstGeom prst="line">
            <a:avLst/>
          </a:prstGeom>
          <a:ln w="27940">
            <a:solidFill>
              <a:srgbClr val="235F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4343400" y="1508760"/>
            <a:ext cx="3154680" cy="1234440"/>
          </a:xfrm>
          <a:prstGeom prst="roundRect">
            <a:avLst/>
          </a:prstGeom>
          <a:solidFill>
            <a:srgbClr val="F5F7FA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91440"/>
          <a:lstStyle/>
          <a:p>
            <a:pPr algn="ctr">
              <a:defRPr b="1" sz="1500">
                <a:solidFill>
                  <a:srgbClr val="13233A"/>
                </a:solidFill>
              </a:defRPr>
            </a:pPr>
            <a:r>
              <a:t>entity-data.ts</a:t>
            </a:r>
          </a:p>
          <a:p>
            <a:pPr>
              <a:spcBef>
                <a:spcPts val="600"/>
              </a:spcBef>
              <a:defRPr sz="1200">
                <a:solidFill>
                  <a:srgbClr val="202124"/>
                </a:solidFill>
              </a:defRPr>
            </a:pPr>
            <a:r>
              <a:t>Holds fictional `entities[]` plus searchEntityRecords() and findEntityRecord().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498079" y="2130552"/>
            <a:ext cx="502921" cy="0"/>
          </a:xfrm>
          <a:prstGeom prst="line">
            <a:avLst/>
          </a:prstGeom>
          <a:ln w="27940">
            <a:solidFill>
              <a:srgbClr val="235F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8001000" y="1508760"/>
            <a:ext cx="3383280" cy="1234440"/>
          </a:xfrm>
          <a:prstGeom prst="roundRect">
            <a:avLst/>
          </a:prstGeom>
          <a:solidFill>
            <a:srgbClr val="F5F7FA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91440"/>
          <a:lstStyle/>
          <a:p>
            <a:pPr algn="ctr">
              <a:defRPr b="1" sz="1500">
                <a:solidFill>
                  <a:srgbClr val="13233A"/>
                </a:solidFill>
              </a:defRPr>
            </a:pPr>
            <a:r>
              <a:t>Future real system</a:t>
            </a:r>
          </a:p>
          <a:p>
            <a:pPr>
              <a:spcBef>
                <a:spcPts val="600"/>
              </a:spcBef>
              <a:defRPr sz="1200">
                <a:solidFill>
                  <a:srgbClr val="202124"/>
                </a:solidFill>
              </a:defRPr>
            </a:pPr>
            <a:r>
              <a:t>Replace fixture access with DB/repository or authorized upstream API.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246120"/>
            <a:ext cx="106070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02124"/>
                </a:solidFill>
              </a:defRPr>
            </a:pPr>
            <a:r>
              <a:t>`searchEntityRecords()` normalizes query, filters name/legalName/GCIF/groupName, then returns structured clones.</a:t>
            </a:r>
          </a:p>
          <a:p>
            <a:pPr>
              <a:spcAft>
                <a:spcPts val="800"/>
              </a:spcAft>
              <a:defRPr sz="1400">
                <a:solidFill>
                  <a:srgbClr val="202124"/>
                </a:solidFill>
              </a:defRPr>
            </a:pPr>
            <a:r>
              <a:t>`findEntityRecord()` uses exact ID lookup and returns a clone or null.</a:t>
            </a:r>
          </a:p>
          <a:p>
            <a:pPr>
              <a:spcAft>
                <a:spcPts val="800"/>
              </a:spcAft>
              <a:defRPr sz="1400">
                <a:solidFill>
                  <a:srgbClr val="202124"/>
                </a:solidFill>
              </a:defRPr>
            </a:pPr>
            <a:r>
              <a:t>`structuredClone()` prevents callers from mutating the stored reference fixture.</a:t>
            </a:r>
          </a:p>
          <a:p>
            <a:pPr>
              <a:spcAft>
                <a:spcPts val="800"/>
              </a:spcAft>
              <a:defRPr sz="1400">
                <a:solidFill>
                  <a:srgbClr val="202124"/>
                </a:solidFill>
              </a:defRPr>
            </a:pPr>
            <a:r>
              <a:t>Current file is not a real database repository; calling it 'repository-like' is only a learning analogy.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3233A"/>
                </a:solidFill>
              </a:defRPr>
            </a:pPr>
            <a:r>
              <a:t>18. Entity Search — full sequence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50392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56F7D"/>
                </a:solidFill>
              </a:defRPr>
            </a:pPr>
            <a:r>
              <a:t>User searches Meridian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88720"/>
            <a:ext cx="11155680" cy="36576"/>
          </a:xfrm>
          <a:prstGeom prst="rect">
            <a:avLst/>
          </a:prstGeom>
          <a:solidFill>
            <a:srgbClr val="C900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92840" y="6473952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56F7D"/>
                </a:solidFill>
              </a:defRPr>
            </a:pPr>
            <a:r>
              <a:t>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46520"/>
            <a:ext cx="9875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656F7D"/>
                </a:solidFill>
              </a:defRPr>
            </a:pPr>
            <a:r>
              <a:t>Reactpoc • Next.js architecture explained for a Java/Spring Boot developer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" y="1828800"/>
            <a:ext cx="1691640" cy="1325880"/>
          </a:xfrm>
          <a:prstGeom prst="roundRect">
            <a:avLst/>
          </a:prstGeom>
          <a:solidFill>
            <a:srgbClr val="F5F7FA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91440"/>
          <a:lstStyle/>
          <a:p>
            <a:pPr algn="ctr">
              <a:defRPr b="1" sz="1500">
                <a:solidFill>
                  <a:srgbClr val="13233A"/>
                </a:solidFill>
              </a:defRPr>
            </a:pPr>
            <a:r>
              <a:t>1 UI</a:t>
            </a:r>
          </a:p>
          <a:p>
            <a:pPr>
              <a:spcBef>
                <a:spcPts val="600"/>
              </a:spcBef>
              <a:defRPr sz="1000">
                <a:solidFill>
                  <a:srgbClr val="202124"/>
                </a:solidFill>
              </a:defRPr>
            </a:pPr>
            <a:r>
              <a:t>EntitySearch</a:t>
            </a:r>
            <a:br/>
            <a:r>
              <a:t>handleSubmit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240280" y="1828800"/>
            <a:ext cx="1691640" cy="1325880"/>
          </a:xfrm>
          <a:prstGeom prst="roundRect">
            <a:avLst/>
          </a:prstGeom>
          <a:solidFill>
            <a:srgbClr val="F5F7FA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91440"/>
          <a:lstStyle/>
          <a:p>
            <a:pPr algn="ctr">
              <a:defRPr b="1" sz="1500">
                <a:solidFill>
                  <a:srgbClr val="13233A"/>
                </a:solidFill>
              </a:defRPr>
            </a:pPr>
            <a:r>
              <a:t>2 Client</a:t>
            </a:r>
          </a:p>
          <a:p>
            <a:pPr>
              <a:spcBef>
                <a:spcPts val="600"/>
              </a:spcBef>
              <a:defRPr sz="1000">
                <a:solidFill>
                  <a:srgbClr val="202124"/>
                </a:solidFill>
              </a:defRPr>
            </a:pPr>
            <a:r>
              <a:t>entity-api.ts</a:t>
            </a:r>
            <a:br/>
            <a:r>
              <a:t>fetch GET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06240" y="1828800"/>
            <a:ext cx="1691640" cy="1325880"/>
          </a:xfrm>
          <a:prstGeom prst="roundRect">
            <a:avLst/>
          </a:prstGeom>
          <a:solidFill>
            <a:srgbClr val="F5F7FA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91440"/>
          <a:lstStyle/>
          <a:p>
            <a:pPr algn="ctr">
              <a:defRPr b="1" sz="1500">
                <a:solidFill>
                  <a:srgbClr val="13233A"/>
                </a:solidFill>
              </a:defRPr>
            </a:pPr>
            <a:r>
              <a:t>3 Controller</a:t>
            </a:r>
          </a:p>
          <a:p>
            <a:pPr>
              <a:spcBef>
                <a:spcPts val="600"/>
              </a:spcBef>
              <a:defRPr sz="1000">
                <a:solidFill>
                  <a:srgbClr val="202124"/>
                </a:solidFill>
              </a:defRPr>
            </a:pPr>
            <a:r>
              <a:t>api/entities</a:t>
            </a:r>
            <a:br/>
            <a:r>
              <a:t>route.ts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828800"/>
            <a:ext cx="1691640" cy="1325880"/>
          </a:xfrm>
          <a:prstGeom prst="roundRect">
            <a:avLst/>
          </a:prstGeom>
          <a:solidFill>
            <a:srgbClr val="F5F7FA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91440"/>
          <a:lstStyle/>
          <a:p>
            <a:pPr algn="ctr">
              <a:defRPr b="1" sz="1500">
                <a:solidFill>
                  <a:srgbClr val="13233A"/>
                </a:solidFill>
              </a:defRPr>
            </a:pPr>
            <a:r>
              <a:t>4 Service</a:t>
            </a:r>
          </a:p>
          <a:p>
            <a:pPr>
              <a:spcBef>
                <a:spcPts val="600"/>
              </a:spcBef>
              <a:defRPr sz="1000">
                <a:solidFill>
                  <a:srgbClr val="202124"/>
                </a:solidFill>
              </a:defRPr>
            </a:pPr>
            <a:r>
              <a:t>entity-service</a:t>
            </a:r>
            <a:br/>
            <a:r>
              <a:t>searchEntities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1828800"/>
            <a:ext cx="1691640" cy="1325880"/>
          </a:xfrm>
          <a:prstGeom prst="roundRect">
            <a:avLst/>
          </a:prstGeom>
          <a:solidFill>
            <a:srgbClr val="F5F7FA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91440"/>
          <a:lstStyle/>
          <a:p>
            <a:pPr algn="ctr">
              <a:defRPr b="1" sz="1500">
                <a:solidFill>
                  <a:srgbClr val="13233A"/>
                </a:solidFill>
              </a:defRPr>
            </a:pPr>
            <a:r>
              <a:t>5 Data</a:t>
            </a:r>
          </a:p>
          <a:p>
            <a:pPr>
              <a:spcBef>
                <a:spcPts val="600"/>
              </a:spcBef>
              <a:defRPr sz="1000">
                <a:solidFill>
                  <a:srgbClr val="202124"/>
                </a:solidFill>
              </a:defRPr>
            </a:pPr>
            <a:r>
              <a:t>entity-data</a:t>
            </a:r>
            <a:br/>
            <a:r>
              <a:t>filter fixtures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104120" y="1828800"/>
            <a:ext cx="1691640" cy="1325880"/>
          </a:xfrm>
          <a:prstGeom prst="roundRect">
            <a:avLst/>
          </a:prstGeom>
          <a:solidFill>
            <a:srgbClr val="F5F7FA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91440"/>
          <a:lstStyle/>
          <a:p>
            <a:pPr algn="ctr">
              <a:defRPr b="1" sz="1500">
                <a:solidFill>
                  <a:srgbClr val="13233A"/>
                </a:solidFill>
              </a:defRPr>
            </a:pPr>
            <a:r>
              <a:t>6 Response</a:t>
            </a:r>
          </a:p>
          <a:p>
            <a:pPr>
              <a:spcBef>
                <a:spcPts val="600"/>
              </a:spcBef>
              <a:defRPr sz="1000">
                <a:solidFill>
                  <a:srgbClr val="202124"/>
                </a:solidFill>
              </a:defRPr>
            </a:pPr>
            <a:r>
              <a:t>JSON validated</a:t>
            </a:r>
            <a:br/>
            <a:r>
              <a:t>then setState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965960" y="2487168"/>
            <a:ext cx="274320" cy="0"/>
          </a:xfrm>
          <a:prstGeom prst="line">
            <a:avLst/>
          </a:prstGeom>
          <a:ln w="27940">
            <a:solidFill>
              <a:srgbClr val="235F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3931920" y="2487168"/>
            <a:ext cx="274320" cy="0"/>
          </a:xfrm>
          <a:prstGeom prst="line">
            <a:avLst/>
          </a:prstGeom>
          <a:ln w="27940">
            <a:solidFill>
              <a:srgbClr val="235F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5897879" y="2487168"/>
            <a:ext cx="274321" cy="0"/>
          </a:xfrm>
          <a:prstGeom prst="line">
            <a:avLst/>
          </a:prstGeom>
          <a:ln w="27940">
            <a:solidFill>
              <a:srgbClr val="235F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7863840" y="2487168"/>
            <a:ext cx="274320" cy="0"/>
          </a:xfrm>
          <a:prstGeom prst="line">
            <a:avLst/>
          </a:prstGeom>
          <a:ln w="27940">
            <a:solidFill>
              <a:srgbClr val="235F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9829800" y="2487168"/>
            <a:ext cx="274320" cy="0"/>
          </a:xfrm>
          <a:prstGeom prst="line">
            <a:avLst/>
          </a:prstGeom>
          <a:ln w="27940">
            <a:solidFill>
              <a:srgbClr val="235F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731520" y="3977639"/>
            <a:ext cx="106984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02124"/>
                </a:solidFill>
              </a:defRPr>
            </a:pPr>
            <a:r>
              <a:t>Validation happens on both sides of the HTTP boundary: client request/response contracts and server request validation.</a:t>
            </a:r>
          </a:p>
          <a:p>
            <a:pPr>
              <a:spcAft>
                <a:spcPts val="800"/>
              </a:spcAft>
              <a:defRPr sz="1500">
                <a:solidFill>
                  <a:srgbClr val="202124"/>
                </a:solidFill>
              </a:defRPr>
            </a:pPr>
            <a:r>
              <a:t>After `setEntities(response.entities)`, React re-renders and `EntityResult` components appear.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3233A"/>
                </a:solidFill>
              </a:defRPr>
            </a:pPr>
            <a:r>
              <a:t>19. EntityResult → dynamic route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50392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56F7D"/>
                </a:solidFill>
              </a:defRPr>
            </a:pPr>
            <a:r>
              <a:t>How Confirm Entity turns ENT-001 into a page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88720"/>
            <a:ext cx="11155680" cy="36576"/>
          </a:xfrm>
          <a:prstGeom prst="rect">
            <a:avLst/>
          </a:prstGeom>
          <a:solidFill>
            <a:srgbClr val="C900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92840" y="6473952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56F7D"/>
                </a:solidFill>
              </a:defRPr>
            </a:pPr>
            <a:r>
              <a:t>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46520"/>
            <a:ext cx="9875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656F7D"/>
                </a:solidFill>
              </a:defRPr>
            </a:pPr>
            <a:r>
              <a:t>Reactpoc • Next.js architecture explained for a Java/Spring Boot developer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554480"/>
            <a:ext cx="5577840" cy="3566160"/>
          </a:xfrm>
          <a:prstGeom prst="roundRect">
            <a:avLst/>
          </a:prstGeom>
          <a:solidFill>
            <a:srgbClr val="F8F9FB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202124"/>
                </a:solidFill>
                <a:latin typeface="Courier New"/>
              </a:defRPr>
            </a:pPr>
            <a:r>
              <a:t>&lt;Link href={`/entities/${encodeURIComponent(entity.id)}`}&gt;</a:t>
            </a:r>
            <a:br/>
            <a:r>
              <a:t>  Confirm Entity</a:t>
            </a:r>
            <a:br/>
            <a:r>
              <a:t>&lt;/Link&gt;</a:t>
            </a:r>
            <a:br/>
            <a:br/>
            <a:r>
              <a:t>ENT-001 → /entities/ENT-001</a:t>
            </a:r>
            <a:br/>
            <a:r>
              <a:t>             ↓</a:t>
            </a:r>
            <a:br/>
            <a:r>
              <a:t>app/entities/[id]/page.tsx</a:t>
            </a:r>
            <a:br/>
            <a:r>
              <a:t>             ↓</a:t>
            </a:r>
            <a:br/>
            <a:r>
              <a:t>params.id === "ENT-001"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29400" y="1645920"/>
            <a:ext cx="457200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02124"/>
                </a:solidFill>
              </a:defRPr>
            </a:pPr>
            <a:r>
              <a:t>`[id]` is Next.js dynamic-segment syntax.</a:t>
            </a:r>
          </a:p>
          <a:p>
            <a:pPr>
              <a:spcAft>
                <a:spcPts val="800"/>
              </a:spcAft>
              <a:defRPr sz="1500">
                <a:solidFill>
                  <a:srgbClr val="202124"/>
                </a:solidFill>
              </a:defRPr>
            </a:pPr>
            <a:r>
              <a:t>`encodeURIComponent()` safely inserts the ID into a URL path.</a:t>
            </a:r>
          </a:p>
          <a:p>
            <a:pPr>
              <a:spcAft>
                <a:spcPts val="800"/>
              </a:spcAft>
              <a:defRPr sz="1500">
                <a:solidFill>
                  <a:srgbClr val="202124"/>
                </a:solidFill>
              </a:defRPr>
            </a:pPr>
            <a:r>
              <a:t>No `ENT-001.tsx` file is needed. One `[id]/page.tsx` handles every entity ID.</a:t>
            </a:r>
          </a:p>
          <a:p>
            <a:pPr>
              <a:spcAft>
                <a:spcPts val="800"/>
              </a:spcAft>
              <a:defRPr sz="1500">
                <a:solidFill>
                  <a:srgbClr val="202124"/>
                </a:solidFill>
              </a:defRPr>
            </a:pPr>
            <a:r>
              <a:t>This is conceptually similar to Spring `@GetMapping("/entities/{id}")`.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3233A"/>
                </a:solidFill>
              </a:defRPr>
            </a:pPr>
            <a:r>
              <a:t>20. entities/[id]/page.tsx — server page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50392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56F7D"/>
                </a:solidFill>
              </a:defRPr>
            </a:pPr>
            <a:r>
              <a:t>Lookup, 404 behavior, metadata and handoff to the interactive workspace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88720"/>
            <a:ext cx="11155680" cy="36576"/>
          </a:xfrm>
          <a:prstGeom prst="rect">
            <a:avLst/>
          </a:prstGeom>
          <a:solidFill>
            <a:srgbClr val="C900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92840" y="6473952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56F7D"/>
                </a:solidFill>
              </a:defRPr>
            </a:pPr>
            <a:r>
              <a:t>21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46520"/>
            <a:ext cx="9875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656F7D"/>
                </a:solidFill>
              </a:defRPr>
            </a:pPr>
            <a:r>
              <a:t>Reactpoc • Next.js architecture explained for a Java/Spring Boot developer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02124"/>
                </a:solidFill>
              </a:defRPr>
            </a:pPr>
            <a:r>
              <a:t>`PageProps` says params resolves to `{ id: string }`.</a:t>
            </a:r>
          </a:p>
          <a:p>
            <a:pPr>
              <a:spcAft>
                <a:spcPts val="800"/>
              </a:spcAft>
              <a:defRPr sz="1600">
                <a:solidFill>
                  <a:srgbClr val="202124"/>
                </a:solidFill>
              </a:defRPr>
            </a:pPr>
            <a:r>
              <a:t>`generateMetadata()` loads the entity and produces a dynamic browser title.</a:t>
            </a:r>
          </a:p>
          <a:p>
            <a:pPr>
              <a:spcAft>
                <a:spcPts val="800"/>
              </a:spcAft>
              <a:defRPr sz="1600">
                <a:solidFill>
                  <a:srgbClr val="202124"/>
                </a:solidFill>
              </a:defRPr>
            </a:pPr>
            <a:r>
              <a:t>`EntityPage()` loads the entity again for page rendering.</a:t>
            </a:r>
          </a:p>
          <a:p>
            <a:pPr>
              <a:spcAft>
                <a:spcPts val="800"/>
              </a:spcAft>
              <a:defRPr sz="1600">
                <a:solidFill>
                  <a:srgbClr val="202124"/>
                </a:solidFill>
              </a:defRPr>
            </a:pPr>
            <a:r>
              <a:t>`if (!entity) notFound()` activates `app/not-found.tsx`.</a:t>
            </a:r>
          </a:p>
          <a:p>
            <a:pPr>
              <a:spcAft>
                <a:spcPts val="800"/>
              </a:spcAft>
              <a:defRPr sz="1600">
                <a:solidFill>
                  <a:srgbClr val="202124"/>
                </a:solidFill>
              </a:defRPr>
            </a:pPr>
            <a:r>
              <a:t>`&lt;CaseWorkspace key={entity.id} entity={entity} /&gt;` passes the server-loaded Entity into the client workspace.</a:t>
            </a:r>
          </a:p>
          <a:p>
            <a:pPr>
              <a:spcAft>
                <a:spcPts val="800"/>
              </a:spcAft>
              <a:defRPr sz="1600">
                <a:solidFill>
                  <a:srgbClr val="202124"/>
                </a:solidFill>
              </a:defRPr>
            </a:pPr>
            <a:r>
              <a:t>`key={entity.id}` makes React treat a different entity as a fresh workspace, resetting client state.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3233A"/>
                </a:solidFill>
              </a:defRPr>
            </a:pPr>
            <a:r>
              <a:t>21. CaseWorkspace.tsx — client-side workflow orchestrator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50392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56F7D"/>
                </a:solidFill>
              </a:defRPr>
            </a:pPr>
            <a:r>
              <a:t>The main interactive screen after an entity is confirmed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88720"/>
            <a:ext cx="11155680" cy="36576"/>
          </a:xfrm>
          <a:prstGeom prst="rect">
            <a:avLst/>
          </a:prstGeom>
          <a:solidFill>
            <a:srgbClr val="C900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92840" y="6473952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56F7D"/>
                </a:solidFill>
              </a:defRPr>
            </a:pPr>
            <a:r>
              <a:t>22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46520"/>
            <a:ext cx="9875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656F7D"/>
                </a:solidFill>
              </a:defRPr>
            </a:pPr>
            <a:r>
              <a:t>Reactpoc • Next.js architecture explained for a Java/Spring Boot developer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02124"/>
                </a:solidFill>
              </a:defRPr>
            </a:pPr>
            <a:r>
              <a:t>`useReducer(caseReducer, initialCaseState)` owns the case lifecycle.</a:t>
            </a:r>
          </a:p>
          <a:p>
            <a:pPr>
              <a:spcAft>
                <a:spcPts val="800"/>
              </a:spcAft>
              <a:defRPr sz="1500">
                <a:solidFill>
                  <a:srgbClr val="202124"/>
                </a:solidFill>
              </a:defRPr>
            </a:pPr>
            <a:r>
              <a:t>Three tabs: overview, assessment and memo.</a:t>
            </a:r>
          </a:p>
          <a:p>
            <a:pPr>
              <a:spcAft>
                <a:spcPts val="800"/>
              </a:spcAft>
              <a:defRPr sz="1500">
                <a:solidFill>
                  <a:srgbClr val="202124"/>
                </a:solidFill>
              </a:defRPr>
            </a:pPr>
            <a:r>
              <a:t>`launchScreening()` creates an AbortController, dispatches start-screening, calls `requestScreening()`, then dispatches success/failure.</a:t>
            </a:r>
          </a:p>
          <a:p>
            <a:pPr>
              <a:spcAft>
                <a:spcPts val="800"/>
              </a:spcAft>
              <a:defRPr sz="1500">
                <a:solidFill>
                  <a:srgbClr val="202124"/>
                </a:solidFill>
              </a:defRPr>
            </a:pPr>
            <a:r>
              <a:t>OverviewPanel receives entity + metadata and callback props.</a:t>
            </a:r>
          </a:p>
          <a:p>
            <a:pPr>
              <a:spcAft>
                <a:spcPts val="800"/>
              </a:spcAft>
              <a:defRPr sz="1500">
                <a:solidFill>
                  <a:srgbClr val="202124"/>
                </a:solidFill>
              </a:defRPr>
            </a:pPr>
            <a:r>
              <a:t>AssessmentPanel receives report + finding-update callback.</a:t>
            </a:r>
          </a:p>
          <a:p>
            <a:pPr>
              <a:spcAft>
                <a:spcPts val="800"/>
              </a:spcAft>
              <a:defRPr sz="1500">
                <a:solidFill>
                  <a:srgbClr val="202124"/>
                </a:solidFill>
              </a:defRPr>
            </a:pPr>
            <a:r>
              <a:t>MemoPanel receives entity, report, metadata, policy + policy-update callback.</a:t>
            </a:r>
          </a:p>
          <a:p>
            <a:pPr>
              <a:spcAft>
                <a:spcPts val="800"/>
              </a:spcAft>
              <a:defRPr sz="1500">
                <a:solidFill>
                  <a:srgbClr val="202124"/>
                </a:solidFill>
              </a:defRPr>
            </a:pPr>
            <a:r>
              <a:t>This is UI orchestration/state management — not the same responsibility as a Spring service.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3233A"/>
                </a:solidFill>
              </a:defRPr>
            </a:pPr>
            <a:r>
              <a:t>22. case-state.ts — reducer as a controlled state machine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50392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56F7D"/>
                </a:solidFill>
              </a:defRPr>
            </a:pPr>
            <a:r>
              <a:t>Instead of many unrelated setters, actions describe what happened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88720"/>
            <a:ext cx="11155680" cy="36576"/>
          </a:xfrm>
          <a:prstGeom prst="rect">
            <a:avLst/>
          </a:prstGeom>
          <a:solidFill>
            <a:srgbClr val="C900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92840" y="6473952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56F7D"/>
                </a:solidFill>
              </a:defRPr>
            </a:pPr>
            <a:r>
              <a:t>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46520"/>
            <a:ext cx="9875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656F7D"/>
                </a:solidFill>
              </a:defRPr>
            </a:pPr>
            <a:r>
              <a:t>Reactpoc • Next.js architecture explained for a Java/Spring Boot developer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508760"/>
            <a:ext cx="4846320" cy="4206240"/>
          </a:xfrm>
          <a:prstGeom prst="roundRect">
            <a:avLst/>
          </a:prstGeom>
          <a:solidFill>
            <a:srgbClr val="F8F9FB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202124"/>
                </a:solidFill>
                <a:latin typeface="Courier New"/>
              </a:defRPr>
            </a:pPr>
            <a:r>
              <a:t>CaseState</a:t>
            </a:r>
            <a:br/>
            <a:r>
              <a:t>  tab: overview | assessment | memo</a:t>
            </a:r>
            <a:br/>
            <a:r>
              <a:t>  status: idle | running | complete | error</a:t>
            </a:r>
            <a:br/>
            <a:r>
              <a:t>  report: ScreeningReport | null</a:t>
            </a:r>
            <a:br/>
            <a:r>
              <a:t>  metadata: CaseMetadata</a:t>
            </a:r>
            <a:br/>
            <a:r>
              <a:t>  policy: PolicyAssessment</a:t>
            </a:r>
            <a:br/>
            <a:br/>
            <a:r>
              <a:t>Actions</a:t>
            </a:r>
            <a:br/>
            <a:r>
              <a:t>  change-tab</a:t>
            </a:r>
            <a:br/>
            <a:r>
              <a:t>  start-screening</a:t>
            </a:r>
            <a:br/>
            <a:r>
              <a:t>  screening-complete</a:t>
            </a:r>
            <a:br/>
            <a:r>
              <a:t>  screening-failed</a:t>
            </a:r>
            <a:br/>
            <a:r>
              <a:t>  update-finding</a:t>
            </a:r>
            <a:br/>
            <a:r>
              <a:t>  update-metadata</a:t>
            </a:r>
            <a:br/>
            <a:r>
              <a:t>  update-policy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97880" y="1554480"/>
            <a:ext cx="53949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02124"/>
                </a:solidFill>
              </a:defRPr>
            </a:pPr>
            <a:r>
              <a:t>`dispatch({ type: ... })` sends an event.</a:t>
            </a:r>
          </a:p>
          <a:p>
            <a:pPr>
              <a:spcAft>
                <a:spcPts val="800"/>
              </a:spcAft>
              <a:defRPr sz="1500">
                <a:solidFill>
                  <a:srgbClr val="202124"/>
                </a:solidFill>
              </a:defRPr>
            </a:pPr>
            <a:r>
              <a:t>`caseReducer(state, action)` returns the next immutable state.</a:t>
            </a:r>
          </a:p>
          <a:p>
            <a:pPr>
              <a:spcAft>
                <a:spcPts val="800"/>
              </a:spcAft>
              <a:defRPr sz="1500">
                <a:solidFill>
                  <a:srgbClr val="202124"/>
                </a:solidFill>
              </a:defRPr>
            </a:pPr>
            <a:r>
              <a:t>Example: `screening-complete` stores report, marks status complete and initializes policy risk from report.overallRisk.</a:t>
            </a:r>
          </a:p>
          <a:p>
            <a:pPr>
              <a:spcAft>
                <a:spcPts val="800"/>
              </a:spcAft>
              <a:defRPr sz="1500">
                <a:solidFill>
                  <a:srgbClr val="202124"/>
                </a:solidFill>
              </a:defRPr>
            </a:pPr>
            <a:r>
              <a:t>`update-finding` maps findings and replaces only the matching item.</a:t>
            </a:r>
          </a:p>
          <a:p>
            <a:pPr>
              <a:spcAft>
                <a:spcPts val="800"/>
              </a:spcAft>
              <a:defRPr sz="1500">
                <a:solidFill>
                  <a:srgbClr val="202124"/>
                </a:solidFill>
              </a:defRPr>
            </a:pPr>
            <a:r>
              <a:t>Java analogy: a small state-transition function, not a Spring bean.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3233A"/>
                </a:solidFill>
              </a:defRPr>
            </a:pPr>
            <a:r>
              <a:t>23. Case workspace child files — why each exists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50392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56F7D"/>
                </a:solidFill>
              </a:defRPr>
            </a:pPr>
            <a:r>
              <a:t>Separation by screen responsibility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88720"/>
            <a:ext cx="11155680" cy="36576"/>
          </a:xfrm>
          <a:prstGeom prst="rect">
            <a:avLst/>
          </a:prstGeom>
          <a:solidFill>
            <a:srgbClr val="C900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92840" y="6473952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56F7D"/>
                </a:solidFill>
              </a:defRPr>
            </a:pPr>
            <a:r>
              <a:t>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46520"/>
            <a:ext cx="9875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656F7D"/>
                </a:solidFill>
              </a:defRPr>
            </a:pPr>
            <a:r>
              <a:t>Reactpoc • Next.js architecture explained for a Java/Spring Boot developer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353312"/>
            <a:ext cx="5257800" cy="960120"/>
          </a:xfrm>
          <a:prstGeom prst="roundRect">
            <a:avLst/>
          </a:prstGeom>
          <a:solidFill>
            <a:srgbClr val="F5F7FA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91440"/>
          <a:lstStyle/>
          <a:p>
            <a:pPr algn="ctr">
              <a:defRPr b="1" sz="1500">
                <a:solidFill>
                  <a:srgbClr val="13233A"/>
                </a:solidFill>
              </a:defRPr>
            </a:pPr>
            <a:r>
              <a:t>overview-panel.tsx</a:t>
            </a:r>
          </a:p>
          <a:p>
            <a:pPr>
              <a:spcBef>
                <a:spcPts val="600"/>
              </a:spcBef>
              <a:defRPr sz="1050">
                <a:solidFill>
                  <a:srgbClr val="202124"/>
                </a:solidFill>
              </a:defRPr>
            </a:pPr>
            <a:r>
              <a:t>Entity profile, group structure, metadata fields, launch/view screening.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353312"/>
            <a:ext cx="5257800" cy="960120"/>
          </a:xfrm>
          <a:prstGeom prst="roundRect">
            <a:avLst/>
          </a:prstGeom>
          <a:solidFill>
            <a:srgbClr val="F5F7FA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91440"/>
          <a:lstStyle/>
          <a:p>
            <a:pPr algn="ctr">
              <a:defRPr b="1" sz="1500">
                <a:solidFill>
                  <a:srgbClr val="13233A"/>
                </a:solidFill>
              </a:defRPr>
            </a:pPr>
            <a:r>
              <a:t>case-tabs.tsx</a:t>
            </a:r>
          </a:p>
          <a:p>
            <a:pPr>
              <a:spcBef>
                <a:spcPts val="600"/>
              </a:spcBef>
              <a:defRPr sz="1050">
                <a:solidFill>
                  <a:srgbClr val="202124"/>
                </a:solidFill>
              </a:defRPr>
            </a:pPr>
            <a:r>
              <a:t>Accessible tab navigation + keyboard Left/Right/Home/End.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2587752"/>
            <a:ext cx="5257800" cy="960120"/>
          </a:xfrm>
          <a:prstGeom prst="roundRect">
            <a:avLst/>
          </a:prstGeom>
          <a:solidFill>
            <a:srgbClr val="F5F7FA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91440"/>
          <a:lstStyle/>
          <a:p>
            <a:pPr algn="ctr">
              <a:defRPr b="1" sz="1500">
                <a:solidFill>
                  <a:srgbClr val="13233A"/>
                </a:solidFill>
              </a:defRPr>
            </a:pPr>
            <a:r>
              <a:t>screening-progress.tsx</a:t>
            </a:r>
          </a:p>
          <a:p>
            <a:pPr>
              <a:spcBef>
                <a:spcPts val="600"/>
              </a:spcBef>
              <a:defRPr sz="1050">
                <a:solidFill>
                  <a:srgbClr val="202124"/>
                </a:solidFill>
              </a:defRPr>
            </a:pPr>
            <a:r>
              <a:t>Running/loading presentation.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2587752"/>
            <a:ext cx="5257800" cy="960120"/>
          </a:xfrm>
          <a:prstGeom prst="roundRect">
            <a:avLst/>
          </a:prstGeom>
          <a:solidFill>
            <a:srgbClr val="F5F7FA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91440"/>
          <a:lstStyle/>
          <a:p>
            <a:pPr algn="ctr">
              <a:defRPr b="1" sz="1500">
                <a:solidFill>
                  <a:srgbClr val="13233A"/>
                </a:solidFill>
              </a:defRPr>
            </a:pPr>
            <a:r>
              <a:t>assessment-panel.tsx</a:t>
            </a:r>
          </a:p>
          <a:p>
            <a:pPr>
              <a:spcBef>
                <a:spcPts val="600"/>
              </a:spcBef>
              <a:defRPr sz="1050">
                <a:solidFill>
                  <a:srgbClr val="202124"/>
                </a:solidFill>
              </a:defRPr>
            </a:pPr>
            <a:r>
              <a:t>Risk profile + list of findings.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3822191"/>
            <a:ext cx="5257800" cy="960120"/>
          </a:xfrm>
          <a:prstGeom prst="roundRect">
            <a:avLst/>
          </a:prstGeom>
          <a:solidFill>
            <a:srgbClr val="F5F7FA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91440"/>
          <a:lstStyle/>
          <a:p>
            <a:pPr algn="ctr">
              <a:defRPr b="1" sz="1500">
                <a:solidFill>
                  <a:srgbClr val="13233A"/>
                </a:solidFill>
              </a:defRPr>
            </a:pPr>
            <a:r>
              <a:t>finding-card.tsx</a:t>
            </a:r>
          </a:p>
          <a:p>
            <a:pPr>
              <a:spcBef>
                <a:spcPts val="600"/>
              </a:spcBef>
              <a:defRPr sz="1050">
                <a:solidFill>
                  <a:srgbClr val="202124"/>
                </a:solidFill>
              </a:defRPr>
            </a:pPr>
            <a:r>
              <a:t>One repeated finding: severity, include/exclude, notes.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3822191"/>
            <a:ext cx="5257800" cy="960120"/>
          </a:xfrm>
          <a:prstGeom prst="roundRect">
            <a:avLst/>
          </a:prstGeom>
          <a:solidFill>
            <a:srgbClr val="F5F7FA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91440"/>
          <a:lstStyle/>
          <a:p>
            <a:pPr algn="ctr">
              <a:defRPr b="1" sz="1500">
                <a:solidFill>
                  <a:srgbClr val="13233A"/>
                </a:solidFill>
              </a:defRPr>
            </a:pPr>
            <a:r>
              <a:t>memo-panel.tsx</a:t>
            </a:r>
          </a:p>
          <a:p>
            <a:pPr>
              <a:spcBef>
                <a:spcPts val="600"/>
              </a:spcBef>
              <a:defRPr sz="1050">
                <a:solidFill>
                  <a:srgbClr val="202124"/>
                </a:solidFill>
              </a:defRPr>
            </a:pPr>
            <a:r>
              <a:t>Composes selected findings and metadata into memo preview.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" y="5056632"/>
            <a:ext cx="5257800" cy="960120"/>
          </a:xfrm>
          <a:prstGeom prst="roundRect">
            <a:avLst/>
          </a:prstGeom>
          <a:solidFill>
            <a:srgbClr val="F5F7FA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91440"/>
          <a:lstStyle/>
          <a:p>
            <a:pPr algn="ctr">
              <a:defRPr b="1" sz="1500">
                <a:solidFill>
                  <a:srgbClr val="13233A"/>
                </a:solidFill>
              </a:defRPr>
            </a:pPr>
            <a:r>
              <a:t>policy-checks.tsx</a:t>
            </a:r>
          </a:p>
          <a:p>
            <a:pPr>
              <a:spcBef>
                <a:spcPts val="600"/>
              </a:spcBef>
              <a:defRPr sz="1050">
                <a:solidFill>
                  <a:srgbClr val="202124"/>
                </a:solidFill>
              </a:defRPr>
            </a:pPr>
            <a:r>
              <a:t>Editable policy/risk rationale controls.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5056632"/>
            <a:ext cx="5257800" cy="960120"/>
          </a:xfrm>
          <a:prstGeom prst="roundRect">
            <a:avLst/>
          </a:prstGeom>
          <a:solidFill>
            <a:srgbClr val="F5F7FA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91440"/>
          <a:lstStyle/>
          <a:p>
            <a:pPr algn="ctr">
              <a:defRPr b="1" sz="1500">
                <a:solidFill>
                  <a:srgbClr val="13233A"/>
                </a:solidFill>
              </a:defRPr>
            </a:pPr>
            <a:r>
              <a:t>risk-badge.tsx</a:t>
            </a:r>
          </a:p>
          <a:p>
            <a:pPr>
              <a:spcBef>
                <a:spcPts val="600"/>
              </a:spcBef>
              <a:defRPr sz="1050">
                <a:solidFill>
                  <a:srgbClr val="202124"/>
                </a:solidFill>
              </a:defRPr>
            </a:pPr>
            <a:r>
              <a:t>Reusable visual/text representation of risk level.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3233A"/>
                </a:solidFill>
              </a:defRPr>
            </a:pPr>
            <a:r>
              <a:t>24. Screening — complete POST sequence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50392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56F7D"/>
                </a:solidFill>
              </a:defRPr>
            </a:pPr>
            <a:r>
              <a:t>Launch Screening Engine → report → assessment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88720"/>
            <a:ext cx="11155680" cy="36576"/>
          </a:xfrm>
          <a:prstGeom prst="rect">
            <a:avLst/>
          </a:prstGeom>
          <a:solidFill>
            <a:srgbClr val="C900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92840" y="6473952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56F7D"/>
                </a:solidFill>
              </a:defRPr>
            </a:pPr>
            <a:r>
              <a:t>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46520"/>
            <a:ext cx="9875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656F7D"/>
                </a:solidFill>
              </a:defRPr>
            </a:pPr>
            <a:r>
              <a:t>Reactpoc • Next.js architecture explained for a Java/Spring Boot developer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" y="1828800"/>
            <a:ext cx="1691640" cy="1325880"/>
          </a:xfrm>
          <a:prstGeom prst="roundRect">
            <a:avLst/>
          </a:prstGeom>
          <a:solidFill>
            <a:srgbClr val="F5F7FA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91440"/>
          <a:lstStyle/>
          <a:p>
            <a:pPr algn="ctr">
              <a:defRPr b="1" sz="1500">
                <a:solidFill>
                  <a:srgbClr val="13233A"/>
                </a:solidFill>
              </a:defRPr>
            </a:pPr>
            <a:r>
              <a:t>CaseWorkspace</a:t>
            </a:r>
          </a:p>
          <a:p>
            <a:pPr>
              <a:spcBef>
                <a:spcPts val="600"/>
              </a:spcBef>
              <a:defRPr sz="1000">
                <a:solidFill>
                  <a:srgbClr val="202124"/>
                </a:solidFill>
              </a:defRPr>
            </a:pPr>
            <a:r>
              <a:t>launchScreening()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240280" y="1828800"/>
            <a:ext cx="1691640" cy="1325880"/>
          </a:xfrm>
          <a:prstGeom prst="roundRect">
            <a:avLst/>
          </a:prstGeom>
          <a:solidFill>
            <a:srgbClr val="F5F7FA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91440"/>
          <a:lstStyle/>
          <a:p>
            <a:pPr algn="ctr">
              <a:defRPr b="1" sz="1500">
                <a:solidFill>
                  <a:srgbClr val="13233A"/>
                </a:solidFill>
              </a:defRPr>
            </a:pPr>
            <a:r>
              <a:t>screening-api</a:t>
            </a:r>
          </a:p>
          <a:p>
            <a:pPr>
              <a:spcBef>
                <a:spcPts val="600"/>
              </a:spcBef>
              <a:defRPr sz="1000">
                <a:solidFill>
                  <a:srgbClr val="202124"/>
                </a:solidFill>
              </a:defRPr>
            </a:pPr>
            <a:r>
              <a:t>POST JSON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06240" y="1828800"/>
            <a:ext cx="1691640" cy="1325880"/>
          </a:xfrm>
          <a:prstGeom prst="roundRect">
            <a:avLst/>
          </a:prstGeom>
          <a:solidFill>
            <a:srgbClr val="F5F7FA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91440"/>
          <a:lstStyle/>
          <a:p>
            <a:pPr algn="ctr">
              <a:defRPr b="1" sz="1500">
                <a:solidFill>
                  <a:srgbClr val="13233A"/>
                </a:solidFill>
              </a:defRPr>
            </a:pPr>
            <a:r>
              <a:t>route.ts</a:t>
            </a:r>
          </a:p>
          <a:p>
            <a:pPr>
              <a:spcBef>
                <a:spcPts val="600"/>
              </a:spcBef>
              <a:defRPr sz="1000">
                <a:solidFill>
                  <a:srgbClr val="202124"/>
                </a:solidFill>
              </a:defRPr>
            </a:pPr>
            <a:r>
              <a:t>validate HTTP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828800"/>
            <a:ext cx="1691640" cy="1325880"/>
          </a:xfrm>
          <a:prstGeom prst="roundRect">
            <a:avLst/>
          </a:prstGeom>
          <a:solidFill>
            <a:srgbClr val="F5F7FA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91440"/>
          <a:lstStyle/>
          <a:p>
            <a:pPr algn="ctr">
              <a:defRPr b="1" sz="1500">
                <a:solidFill>
                  <a:srgbClr val="13233A"/>
                </a:solidFill>
              </a:defRPr>
            </a:pPr>
            <a:r>
              <a:t>screening-service</a:t>
            </a:r>
          </a:p>
          <a:p>
            <a:pPr>
              <a:spcBef>
                <a:spcPts val="600"/>
              </a:spcBef>
              <a:defRPr sz="1000">
                <a:solidFill>
                  <a:srgbClr val="202124"/>
                </a:solidFill>
              </a:defRPr>
            </a:pPr>
            <a:r>
              <a:t>runScreening()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1828800"/>
            <a:ext cx="1691640" cy="1325880"/>
          </a:xfrm>
          <a:prstGeom prst="roundRect">
            <a:avLst/>
          </a:prstGeom>
          <a:solidFill>
            <a:srgbClr val="F5F7FA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91440"/>
          <a:lstStyle/>
          <a:p>
            <a:pPr algn="ctr">
              <a:defRPr b="1" sz="1500">
                <a:solidFill>
                  <a:srgbClr val="13233A"/>
                </a:solidFill>
              </a:defRPr>
            </a:pPr>
            <a:r>
              <a:t>entity-service</a:t>
            </a:r>
          </a:p>
          <a:p>
            <a:pPr>
              <a:spcBef>
                <a:spcPts val="600"/>
              </a:spcBef>
              <a:defRPr sz="1000">
                <a:solidFill>
                  <a:srgbClr val="202124"/>
                </a:solidFill>
              </a:defRPr>
            </a:pPr>
            <a:r>
              <a:t>verify entity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104120" y="1828800"/>
            <a:ext cx="1691640" cy="1325880"/>
          </a:xfrm>
          <a:prstGeom prst="roundRect">
            <a:avLst/>
          </a:prstGeom>
          <a:solidFill>
            <a:srgbClr val="F5F7FA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91440"/>
          <a:lstStyle/>
          <a:p>
            <a:pPr algn="ctr">
              <a:defRPr b="1" sz="1500">
                <a:solidFill>
                  <a:srgbClr val="13233A"/>
                </a:solidFill>
              </a:defRPr>
            </a:pPr>
            <a:r>
              <a:t>Case reducer</a:t>
            </a:r>
          </a:p>
          <a:p>
            <a:pPr>
              <a:spcBef>
                <a:spcPts val="600"/>
              </a:spcBef>
              <a:defRPr sz="1000">
                <a:solidFill>
                  <a:srgbClr val="202124"/>
                </a:solidFill>
              </a:defRPr>
            </a:pPr>
            <a:r>
              <a:t>store report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965960" y="2487168"/>
            <a:ext cx="274320" cy="0"/>
          </a:xfrm>
          <a:prstGeom prst="line">
            <a:avLst/>
          </a:prstGeom>
          <a:ln w="27940">
            <a:solidFill>
              <a:srgbClr val="235F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3931920" y="2487168"/>
            <a:ext cx="274320" cy="0"/>
          </a:xfrm>
          <a:prstGeom prst="line">
            <a:avLst/>
          </a:prstGeom>
          <a:ln w="27940">
            <a:solidFill>
              <a:srgbClr val="235F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5897879" y="2487168"/>
            <a:ext cx="274321" cy="0"/>
          </a:xfrm>
          <a:prstGeom prst="line">
            <a:avLst/>
          </a:prstGeom>
          <a:ln w="27940">
            <a:solidFill>
              <a:srgbClr val="235F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7863840" y="2487168"/>
            <a:ext cx="274320" cy="0"/>
          </a:xfrm>
          <a:prstGeom prst="line">
            <a:avLst/>
          </a:prstGeom>
          <a:ln w="27940">
            <a:solidFill>
              <a:srgbClr val="235F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9829800" y="2487168"/>
            <a:ext cx="274320" cy="0"/>
          </a:xfrm>
          <a:prstGeom prst="line">
            <a:avLst/>
          </a:prstGeom>
          <a:ln w="27940">
            <a:solidFill>
              <a:srgbClr val="235F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731520" y="3977639"/>
            <a:ext cx="106984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02124"/>
                </a:solidFill>
              </a:defRPr>
            </a:pPr>
            <a:r>
              <a:t>`screening-api.ts` verifies the returned JSON against `screeningReportSchema` and also checks the returned entityId matches the request.</a:t>
            </a:r>
          </a:p>
          <a:p>
            <a:pPr>
              <a:spcAft>
                <a:spcPts val="800"/>
              </a:spcAft>
              <a:defRPr sz="1400">
                <a:solidFill>
                  <a:srgbClr val="202124"/>
                </a:solidFill>
              </a:defRPr>
            </a:pPr>
            <a:r>
              <a:t>`screening-service.ts` is currently a mock provider: it waits ~1.8 seconds and returns fictional findings.</a:t>
            </a:r>
          </a:p>
          <a:p>
            <a:pPr>
              <a:spcAft>
                <a:spcPts val="800"/>
              </a:spcAft>
              <a:defRPr sz="1400">
                <a:solidFill>
                  <a:srgbClr val="202124"/>
                </a:solidFill>
              </a:defRPr>
            </a:pPr>
            <a:r>
              <a:t>Production replacement point is the server service adapter, not the React components.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3233A"/>
                </a:solidFill>
              </a:defRPr>
            </a:pPr>
            <a:r>
              <a:t>25. screenings/route.ts — more than a controller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50392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56F7D"/>
                </a:solidFill>
              </a:defRPr>
            </a:pPr>
            <a:r>
              <a:t>HTTP boundary checks visible in the source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88720"/>
            <a:ext cx="11155680" cy="36576"/>
          </a:xfrm>
          <a:prstGeom prst="rect">
            <a:avLst/>
          </a:prstGeom>
          <a:solidFill>
            <a:srgbClr val="C900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92840" y="6473952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56F7D"/>
                </a:solidFill>
              </a:defRPr>
            </a:pPr>
            <a:r>
              <a:t>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46520"/>
            <a:ext cx="9875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656F7D"/>
                </a:solidFill>
              </a:defRPr>
            </a:pPr>
            <a:r>
              <a:t>Reactpoc • Next.js architecture explained for a Java/Spring Boot developer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02124"/>
                </a:solidFill>
              </a:defRPr>
            </a:pPr>
            <a:r>
              <a:t>Checks browser `Origin` against expected origin / APP_ORIGIN; rejects mismatch with 403.</a:t>
            </a:r>
          </a:p>
          <a:p>
            <a:pPr>
              <a:spcAft>
                <a:spcPts val="800"/>
              </a:spcAft>
              <a:defRPr sz="1500">
                <a:solidFill>
                  <a:srgbClr val="202124"/>
                </a:solidFill>
              </a:defRPr>
            </a:pPr>
            <a:r>
              <a:t>Requires `Content-Type: application/json`; otherwise 415.</a:t>
            </a:r>
          </a:p>
          <a:p>
            <a:pPr>
              <a:spcAft>
                <a:spcPts val="800"/>
              </a:spcAft>
              <a:defRPr sz="1500">
                <a:solidFill>
                  <a:srgbClr val="202124"/>
                </a:solidFill>
              </a:defRPr>
            </a:pPr>
            <a:r>
              <a:t>Reads text body and rejects payload over 2048 bytes with 413.</a:t>
            </a:r>
          </a:p>
          <a:p>
            <a:pPr>
              <a:spcAft>
                <a:spcPts val="800"/>
              </a:spcAft>
              <a:defRPr sz="1500">
                <a:solidFill>
                  <a:srgbClr val="202124"/>
                </a:solidFill>
              </a:defRPr>
            </a:pPr>
            <a:r>
              <a:t>Handles malformed JSON with 400.</a:t>
            </a:r>
          </a:p>
          <a:p>
            <a:pPr>
              <a:spcAft>
                <a:spcPts val="800"/>
              </a:spcAft>
              <a:defRPr sz="1500">
                <a:solidFill>
                  <a:srgbClr val="202124"/>
                </a:solidFill>
              </a:defRPr>
            </a:pPr>
            <a:r>
              <a:t>Zod validates strict `{ entityId: string }` request shape.</a:t>
            </a:r>
          </a:p>
          <a:p>
            <a:pPr>
              <a:spcAft>
                <a:spcPts val="800"/>
              </a:spcAft>
              <a:defRPr sz="1500">
                <a:solidFill>
                  <a:srgbClr val="202124"/>
                </a:solidFill>
              </a:defRPr>
            </a:pPr>
            <a:r>
              <a:t>Unknown entity returns 404; provider/service failure returns 500.</a:t>
            </a:r>
          </a:p>
          <a:p>
            <a:pPr>
              <a:spcAft>
                <a:spcPts val="800"/>
              </a:spcAft>
              <a:defRPr sz="1500">
                <a:solidFill>
                  <a:srgbClr val="202124"/>
                </a:solidFill>
              </a:defRPr>
            </a:pPr>
            <a:r>
              <a:t>Responses use `Cache-Control: no-store`.</a:t>
            </a:r>
          </a:p>
          <a:p>
            <a:pPr>
              <a:spcAft>
                <a:spcPts val="800"/>
              </a:spcAft>
              <a:defRPr sz="1500">
                <a:solidFill>
                  <a:srgbClr val="202124"/>
                </a:solidFill>
              </a:defRPr>
            </a:pPr>
            <a:r>
              <a:t>Important: README explicitly says origin checking is not authentication; real customer data requires identity and authorization.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3233A"/>
                </a:solidFill>
              </a:defRPr>
            </a:pPr>
            <a:r>
              <a:t>26. case-workspace/types.ts — domain contracts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50392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56F7D"/>
                </a:solidFill>
              </a:defRPr>
            </a:pPr>
            <a:r>
              <a:t>Screening report, finding, risk and policy shapes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88720"/>
            <a:ext cx="11155680" cy="36576"/>
          </a:xfrm>
          <a:prstGeom prst="rect">
            <a:avLst/>
          </a:prstGeom>
          <a:solidFill>
            <a:srgbClr val="C900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92840" y="6473952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56F7D"/>
                </a:solidFill>
              </a:defRPr>
            </a:pPr>
            <a:r>
              <a:t>27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46520"/>
            <a:ext cx="9875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656F7D"/>
                </a:solidFill>
              </a:defRPr>
            </a:pPr>
            <a:r>
              <a:t>Reactpoc • Next.js architecture explained for a Java/Spring Boot developer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02124"/>
                </a:solidFill>
              </a:defRPr>
            </a:pPr>
            <a:r>
              <a:t>`severitySchema`: low / medium / high.</a:t>
            </a:r>
          </a:p>
          <a:p>
            <a:pPr>
              <a:spcAft>
                <a:spcPts val="800"/>
              </a:spcAft>
              <a:defRPr sz="1600">
                <a:solidFill>
                  <a:srgbClr val="202124"/>
                </a:solidFill>
              </a:defRPr>
            </a:pPr>
            <a:r>
              <a:t>`riskLevelSchema`: low / medium / high / critical.</a:t>
            </a:r>
          </a:p>
          <a:p>
            <a:pPr>
              <a:spcAft>
                <a:spcPts val="800"/>
              </a:spcAft>
              <a:defRPr sz="1600">
                <a:solidFill>
                  <a:srgbClr val="202124"/>
                </a:solidFill>
              </a:defRPr>
            </a:pPr>
            <a:r>
              <a:t>`decisionSchema`: pending / include / exclude.</a:t>
            </a:r>
          </a:p>
          <a:p>
            <a:pPr>
              <a:spcAft>
                <a:spcPts val="800"/>
              </a:spcAft>
              <a:defRPr sz="1600">
                <a:solidFill>
                  <a:srgbClr val="202124"/>
                </a:solidFill>
              </a:defRPr>
            </a:pPr>
            <a:r>
              <a:t>`findingSchema`: finding content + severity + reviewer decision + notes.</a:t>
            </a:r>
          </a:p>
          <a:p>
            <a:pPr>
              <a:spcAft>
                <a:spcPts val="800"/>
              </a:spcAft>
              <a:defRPr sz="1600">
                <a:solidFill>
                  <a:srgbClr val="202124"/>
                </a:solidFill>
              </a:defRPr>
            </a:pPr>
            <a:r>
              <a:t>`screeningReportSchema`: report ID, entity ID, timestamp, sample flag, risk, counts, categories and findings.</a:t>
            </a:r>
          </a:p>
          <a:p>
            <a:pPr>
              <a:spcAft>
                <a:spcPts val="800"/>
              </a:spcAft>
              <a:defRPr sz="1600">
                <a:solidFill>
                  <a:srgbClr val="202124"/>
                </a:solidFill>
              </a:defRPr>
            </a:pPr>
            <a:r>
              <a:t>`CaseMetadata` and `PolicyAssessment` are TypeScript interfaces for editable UI state.</a:t>
            </a:r>
          </a:p>
          <a:p>
            <a:pPr>
              <a:spcAft>
                <a:spcPts val="800"/>
              </a:spcAft>
              <a:defRPr sz="1600">
                <a:solidFill>
                  <a:srgbClr val="202124"/>
                </a:solidFill>
              </a:defRPr>
            </a:pPr>
            <a:r>
              <a:t>These contracts are shared by API client and UI so the same shape is enforced across layers.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3233A"/>
                </a:solidFill>
              </a:defRPr>
            </a:pPr>
            <a:r>
              <a:t>27. loading.tsx, error.tsx, not-found.tsx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50392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56F7D"/>
                </a:solidFill>
              </a:defRPr>
            </a:pPr>
            <a:r>
              <a:t>Framework-level user experience for non-happy paths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88720"/>
            <a:ext cx="11155680" cy="36576"/>
          </a:xfrm>
          <a:prstGeom prst="rect">
            <a:avLst/>
          </a:prstGeom>
          <a:solidFill>
            <a:srgbClr val="C900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92840" y="6473952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56F7D"/>
                </a:solidFill>
              </a:defRPr>
            </a:pPr>
            <a:r>
              <a:t>28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46520"/>
            <a:ext cx="9875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656F7D"/>
                </a:solidFill>
              </a:defRPr>
            </a:pPr>
            <a:r>
              <a:t>Reactpoc • Next.js architecture explained for a Java/Spring Boot developer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202124"/>
                </a:solidFill>
              </a:defRPr>
            </a:pPr>
            <a:r>
              <a:t>`loading.tsx`: route loading fallback with spinner/status semantics.</a:t>
            </a:r>
          </a:p>
          <a:p>
            <a:pPr>
              <a:spcAft>
                <a:spcPts val="800"/>
              </a:spcAft>
              <a:defRPr sz="1700">
                <a:solidFill>
                  <a:srgbClr val="202124"/>
                </a:solidFill>
              </a:defRPr>
            </a:pPr>
            <a:r>
              <a:t>`error.tsx`: client error boundary UI; receives `reset()` so the user can retry.</a:t>
            </a:r>
          </a:p>
          <a:p>
            <a:pPr>
              <a:spcAft>
                <a:spcPts val="800"/>
              </a:spcAft>
              <a:defRPr sz="1700">
                <a:solidFill>
                  <a:srgbClr val="202124"/>
                </a:solidFill>
              </a:defRPr>
            </a:pPr>
            <a:r>
              <a:t>`not-found.tsx`: 404 screen used when `notFound()` is called or route is missing.</a:t>
            </a:r>
          </a:p>
          <a:p>
            <a:pPr>
              <a:spcAft>
                <a:spcPts val="800"/>
              </a:spcAft>
              <a:defRPr sz="1700">
                <a:solidFill>
                  <a:srgbClr val="202124"/>
                </a:solidFill>
              </a:defRPr>
            </a:pPr>
            <a:r>
              <a:t>These are special App Router files — Next.js wires them automatically.</a:t>
            </a:r>
          </a:p>
          <a:p>
            <a:pPr>
              <a:spcAft>
                <a:spcPts val="800"/>
              </a:spcAft>
              <a:defRPr sz="1700">
                <a:solidFill>
                  <a:srgbClr val="202124"/>
                </a:solidFill>
              </a:defRPr>
            </a:pPr>
            <a:r>
              <a:t>Inside features, request-specific errors are also handled locally because an API failure should not necessarily crash the whole page.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3233A"/>
                </a:solidFill>
              </a:defRPr>
            </a:pPr>
            <a:r>
              <a:t>28. components/ui — small reusable primitives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50392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56F7D"/>
                </a:solidFill>
              </a:defRPr>
            </a:pPr>
            <a:r>
              <a:t>Why Button and Input are separate files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88720"/>
            <a:ext cx="11155680" cy="36576"/>
          </a:xfrm>
          <a:prstGeom prst="rect">
            <a:avLst/>
          </a:prstGeom>
          <a:solidFill>
            <a:srgbClr val="C900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92840" y="6473952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56F7D"/>
                </a:solidFill>
              </a:defRPr>
            </a:pPr>
            <a:r>
              <a:t>29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46520"/>
            <a:ext cx="9875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656F7D"/>
                </a:solidFill>
              </a:defRPr>
            </a:pPr>
            <a:r>
              <a:t>Reactpoc • Next.js architecture explained for a Java/Spring Boot developer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463040"/>
            <a:ext cx="64008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02124"/>
                </a:solidFill>
              </a:defRPr>
            </a:pPr>
            <a:r>
              <a:t>`Button` accepts normal native button attributes plus a typed `variant`.</a:t>
            </a:r>
          </a:p>
          <a:p>
            <a:pPr>
              <a:spcAft>
                <a:spcPts val="800"/>
              </a:spcAft>
              <a:defRPr sz="1600">
                <a:solidFill>
                  <a:srgbClr val="202124"/>
                </a:solidFill>
              </a:defRPr>
            </a:pPr>
            <a:r>
              <a:t>`buttonStyles()` centralizes primary/secondary/ghost styling and is also reused for Links that should look like buttons.</a:t>
            </a:r>
          </a:p>
          <a:p>
            <a:pPr>
              <a:spcAft>
                <a:spcPts val="800"/>
              </a:spcAft>
              <a:defRPr sz="1600">
                <a:solidFill>
                  <a:srgbClr val="202124"/>
                </a:solidFill>
              </a:defRPr>
            </a:pPr>
            <a:r>
              <a:t>`Input` accepts `InputHTMLAttributes&lt;HTMLInputElement&gt;`, so callers can pass native props such as type, disabled, maxLength and onChange.</a:t>
            </a:r>
          </a:p>
          <a:p>
            <a:pPr>
              <a:spcAft>
                <a:spcPts val="800"/>
              </a:spcAft>
              <a:defRPr sz="1600">
                <a:solidFill>
                  <a:srgbClr val="202124"/>
                </a:solidFill>
              </a:defRPr>
            </a:pPr>
            <a:r>
              <a:t>`...props` forwards remaining props to the native element.</a:t>
            </a:r>
          </a:p>
          <a:p>
            <a:pPr>
              <a:spcAft>
                <a:spcPts val="800"/>
              </a:spcAft>
              <a:defRPr sz="1600">
                <a:solidFill>
                  <a:srgbClr val="202124"/>
                </a:solidFill>
              </a:defRPr>
            </a:pPr>
            <a:r>
              <a:t>Benefit: consistent styling, accessibility and less repeated markup.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79" y="1691640"/>
            <a:ext cx="3657600" cy="1005840"/>
          </a:xfrm>
          <a:prstGeom prst="roundRect">
            <a:avLst/>
          </a:prstGeom>
          <a:solidFill>
            <a:srgbClr val="F5F7FA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91440"/>
          <a:lstStyle/>
          <a:p>
            <a:pPr algn="ctr">
              <a:defRPr b="1" sz="1500">
                <a:solidFill>
                  <a:srgbClr val="13233A"/>
                </a:solidFill>
              </a:defRPr>
            </a:pPr>
            <a:r>
              <a:t>Java analogy</a:t>
            </a:r>
          </a:p>
          <a:p>
            <a:pPr>
              <a:spcBef>
                <a:spcPts val="600"/>
              </a:spcBef>
              <a:defRPr sz="1200">
                <a:solidFill>
                  <a:srgbClr val="202124"/>
                </a:solidFill>
              </a:defRPr>
            </a:pPr>
            <a:r>
              <a:t>Reusable UI class/helper — but rendered declaratively.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79" y="3063240"/>
            <a:ext cx="3657600" cy="1005840"/>
          </a:xfrm>
          <a:prstGeom prst="roundRect">
            <a:avLst/>
          </a:prstGeom>
          <a:solidFill>
            <a:srgbClr val="F5F7FA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91440"/>
          <a:lstStyle/>
          <a:p>
            <a:pPr algn="ctr">
              <a:defRPr b="1" sz="1500">
                <a:solidFill>
                  <a:srgbClr val="13233A"/>
                </a:solidFill>
              </a:defRPr>
            </a:pPr>
            <a:r>
              <a:t>Important</a:t>
            </a:r>
          </a:p>
          <a:p>
            <a:pPr>
              <a:spcBef>
                <a:spcPts val="600"/>
              </a:spcBef>
              <a:defRPr sz="1200">
                <a:solidFill>
                  <a:srgbClr val="202124"/>
                </a:solidFill>
              </a:defRPr>
            </a:pPr>
            <a:r>
              <a:t>Props are inputs to a component.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98079" y="4434840"/>
            <a:ext cx="3657600" cy="1005840"/>
          </a:xfrm>
          <a:prstGeom prst="roundRect">
            <a:avLst/>
          </a:prstGeom>
          <a:solidFill>
            <a:srgbClr val="F5F7FA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91440"/>
          <a:lstStyle/>
          <a:p>
            <a:pPr algn="ctr">
              <a:defRPr b="1" sz="1500">
                <a:solidFill>
                  <a:srgbClr val="13233A"/>
                </a:solidFill>
              </a:defRPr>
            </a:pPr>
            <a:r>
              <a:t>Pattern</a:t>
            </a:r>
          </a:p>
          <a:p>
            <a:pPr>
              <a:spcBef>
                <a:spcPts val="600"/>
              </a:spcBef>
              <a:defRPr sz="1200">
                <a:solidFill>
                  <a:srgbClr val="202124"/>
                </a:solidFill>
              </a:defRPr>
            </a:pPr>
            <a:r>
              <a:t>Composition over duplicated HTML.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3233A"/>
                </a:solidFill>
              </a:defRPr>
            </a:pPr>
            <a:r>
              <a:t>29. Configuration files — why they exist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50392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56F7D"/>
                </a:solidFill>
              </a:defRPr>
            </a:pPr>
            <a:r>
              <a:t>Framework/tool configuration around the application code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88720"/>
            <a:ext cx="11155680" cy="36576"/>
          </a:xfrm>
          <a:prstGeom prst="rect">
            <a:avLst/>
          </a:prstGeom>
          <a:solidFill>
            <a:srgbClr val="C900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92840" y="6473952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56F7D"/>
                </a:solidFill>
              </a:defRPr>
            </a:pPr>
            <a:r>
              <a:t>30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46520"/>
            <a:ext cx="9875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656F7D"/>
                </a:solidFill>
              </a:defRPr>
            </a:pPr>
            <a:r>
              <a:t>Reactpoc • Next.js architecture explained for a Java/Spring Boot developer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353312"/>
            <a:ext cx="5257800" cy="960120"/>
          </a:xfrm>
          <a:prstGeom prst="roundRect">
            <a:avLst/>
          </a:prstGeom>
          <a:solidFill>
            <a:srgbClr val="F5F7FA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91440"/>
          <a:lstStyle/>
          <a:p>
            <a:pPr algn="ctr">
              <a:defRPr b="1" sz="1500">
                <a:solidFill>
                  <a:srgbClr val="13233A"/>
                </a:solidFill>
              </a:defRPr>
            </a:pPr>
            <a:r>
              <a:t>tsconfig.json</a:t>
            </a:r>
          </a:p>
          <a:p>
            <a:pPr>
              <a:spcBef>
                <a:spcPts val="600"/>
              </a:spcBef>
              <a:defRPr sz="1050">
                <a:solidFill>
                  <a:srgbClr val="202124"/>
                </a:solidFill>
              </a:defRPr>
            </a:pPr>
            <a:r>
              <a:t>Strict TypeScript, ES2022 target, React JSX, Next plugin, `@/*` path alias.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353312"/>
            <a:ext cx="5257800" cy="960120"/>
          </a:xfrm>
          <a:prstGeom prst="roundRect">
            <a:avLst/>
          </a:prstGeom>
          <a:solidFill>
            <a:srgbClr val="F5F7FA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91440"/>
          <a:lstStyle/>
          <a:p>
            <a:pPr algn="ctr">
              <a:defRPr b="1" sz="1500">
                <a:solidFill>
                  <a:srgbClr val="13233A"/>
                </a:solidFill>
              </a:defRPr>
            </a:pPr>
            <a:r>
              <a:t>next.config.ts</a:t>
            </a:r>
          </a:p>
          <a:p>
            <a:pPr>
              <a:spcBef>
                <a:spcPts val="600"/>
              </a:spcBef>
              <a:defRPr sz="1050">
                <a:solidFill>
                  <a:srgbClr val="202124"/>
                </a:solidFill>
              </a:defRPr>
            </a:pPr>
            <a:r>
              <a:t>Disables powered-by header; adds security response headers.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2587752"/>
            <a:ext cx="5257800" cy="960120"/>
          </a:xfrm>
          <a:prstGeom prst="roundRect">
            <a:avLst/>
          </a:prstGeom>
          <a:solidFill>
            <a:srgbClr val="F5F7FA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91440"/>
          <a:lstStyle/>
          <a:p>
            <a:pPr algn="ctr">
              <a:defRPr b="1" sz="1500">
                <a:solidFill>
                  <a:srgbClr val="13233A"/>
                </a:solidFill>
              </a:defRPr>
            </a:pPr>
            <a:r>
              <a:t>postcss.config.mjs</a:t>
            </a:r>
          </a:p>
          <a:p>
            <a:pPr>
              <a:spcBef>
                <a:spcPts val="600"/>
              </a:spcBef>
              <a:defRPr sz="1050">
                <a:solidFill>
                  <a:srgbClr val="202124"/>
                </a:solidFill>
              </a:defRPr>
            </a:pPr>
            <a:r>
              <a:t>Connects Tailwind CSS PostCSS plugin.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2587752"/>
            <a:ext cx="5257800" cy="960120"/>
          </a:xfrm>
          <a:prstGeom prst="roundRect">
            <a:avLst/>
          </a:prstGeom>
          <a:solidFill>
            <a:srgbClr val="F5F7FA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91440"/>
          <a:lstStyle/>
          <a:p>
            <a:pPr algn="ctr">
              <a:defRPr b="1" sz="1500">
                <a:solidFill>
                  <a:srgbClr val="13233A"/>
                </a:solidFill>
              </a:defRPr>
            </a:pPr>
            <a:r>
              <a:t>eslint.config.mjs</a:t>
            </a:r>
          </a:p>
          <a:p>
            <a:pPr>
              <a:spcBef>
                <a:spcPts val="600"/>
              </a:spcBef>
              <a:defRPr sz="1050">
                <a:solidFill>
                  <a:srgbClr val="202124"/>
                </a:solidFill>
              </a:defRPr>
            </a:pPr>
            <a:r>
              <a:t>Next core-web-vitals + TypeScript lint rules; ignores generated outputs.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3822191"/>
            <a:ext cx="5257800" cy="960120"/>
          </a:xfrm>
          <a:prstGeom prst="roundRect">
            <a:avLst/>
          </a:prstGeom>
          <a:solidFill>
            <a:srgbClr val="F5F7FA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91440"/>
          <a:lstStyle/>
          <a:p>
            <a:pPr algn="ctr">
              <a:defRPr b="1" sz="1500">
                <a:solidFill>
                  <a:srgbClr val="13233A"/>
                </a:solidFill>
              </a:defRPr>
            </a:pPr>
            <a:r>
              <a:t>playwright.config.ts</a:t>
            </a:r>
          </a:p>
          <a:p>
            <a:pPr>
              <a:spcBef>
                <a:spcPts val="600"/>
              </a:spcBef>
              <a:defRPr sz="1050">
                <a:solidFill>
                  <a:srgbClr val="202124"/>
                </a:solidFill>
              </a:defRPr>
            </a:pPr>
            <a:r>
              <a:t>E2E browser, base URL, viewport, timeouts, screenshots/traces, dev web server.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3822191"/>
            <a:ext cx="5257800" cy="960120"/>
          </a:xfrm>
          <a:prstGeom prst="roundRect">
            <a:avLst/>
          </a:prstGeom>
          <a:solidFill>
            <a:srgbClr val="F5F7FA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91440"/>
          <a:lstStyle/>
          <a:p>
            <a:pPr algn="ctr">
              <a:defRPr b="1" sz="1500">
                <a:solidFill>
                  <a:srgbClr val="13233A"/>
                </a:solidFill>
              </a:defRPr>
            </a:pPr>
            <a:r>
              <a:t>next-env.d.ts</a:t>
            </a:r>
          </a:p>
          <a:p>
            <a:pPr>
              <a:spcBef>
                <a:spcPts val="600"/>
              </a:spcBef>
              <a:defRPr sz="1050">
                <a:solidFill>
                  <a:srgbClr val="202124"/>
                </a:solidFill>
              </a:defRPr>
            </a:pPr>
            <a:r>
              <a:t>Generated Next.js TypeScript environment declarations; normally do not hand-edit.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" y="5056632"/>
            <a:ext cx="5257800" cy="960120"/>
          </a:xfrm>
          <a:prstGeom prst="roundRect">
            <a:avLst/>
          </a:prstGeom>
          <a:solidFill>
            <a:srgbClr val="F5F7FA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91440"/>
          <a:lstStyle/>
          <a:p>
            <a:pPr algn="ctr">
              <a:defRPr b="1" sz="1500">
                <a:solidFill>
                  <a:srgbClr val="13233A"/>
                </a:solidFill>
              </a:defRPr>
            </a:pPr>
            <a:r>
              <a:t>globals.css</a:t>
            </a:r>
          </a:p>
          <a:p>
            <a:pPr>
              <a:spcBef>
                <a:spcPts val="600"/>
              </a:spcBef>
              <a:defRPr sz="1050">
                <a:solidFill>
                  <a:srgbClr val="202124"/>
                </a:solidFill>
              </a:defRPr>
            </a:pPr>
            <a:r>
              <a:t>Tailwind import, theme tokens, global focus/reduced-motion/print rules.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5056632"/>
            <a:ext cx="5257800" cy="960120"/>
          </a:xfrm>
          <a:prstGeom prst="roundRect">
            <a:avLst/>
          </a:prstGeom>
          <a:solidFill>
            <a:srgbClr val="F5F7FA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91440"/>
          <a:lstStyle/>
          <a:p>
            <a:pPr algn="ctr">
              <a:defRPr b="1" sz="1500">
                <a:solidFill>
                  <a:srgbClr val="13233A"/>
                </a:solidFill>
              </a:defRPr>
            </a:pPr>
            <a:r>
              <a:t>.gitignore</a:t>
            </a:r>
          </a:p>
          <a:p>
            <a:pPr>
              <a:spcBef>
                <a:spcPts val="600"/>
              </a:spcBef>
              <a:defRPr sz="1050">
                <a:solidFill>
                  <a:srgbClr val="202124"/>
                </a:solidFill>
              </a:defRPr>
            </a:pPr>
            <a:r>
              <a:t>Prevents generated/local files from being committed.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3233A"/>
                </a:solidFill>
              </a:defRPr>
            </a:pPr>
            <a:r>
              <a:t>30. Tests — how the project proves the flow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50392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56F7D"/>
                </a:solidFill>
              </a:defRPr>
            </a:pPr>
            <a:r>
              <a:t>Unit + browser + accessibility coverage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88720"/>
            <a:ext cx="11155680" cy="36576"/>
          </a:xfrm>
          <a:prstGeom prst="rect">
            <a:avLst/>
          </a:prstGeom>
          <a:solidFill>
            <a:srgbClr val="C900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92840" y="6473952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56F7D"/>
                </a:solidFill>
              </a:defRPr>
            </a:pPr>
            <a:r>
              <a:t>31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46520"/>
            <a:ext cx="9875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656F7D"/>
                </a:solidFill>
              </a:defRPr>
            </a:pPr>
            <a:r>
              <a:t>Reactpoc • Next.js architecture explained for a Java/Spring Boot developer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02124"/>
                </a:solidFill>
              </a:defRPr>
            </a:pPr>
            <a:r>
              <a:t>`entity-search.test.ts`: validation, case-insensitive lookup, unknown IDs, ownership data and clone protection.</a:t>
            </a:r>
          </a:p>
          <a:p>
            <a:pPr>
              <a:spcAft>
                <a:spcPts val="800"/>
              </a:spcAft>
              <a:defRPr sz="1500">
                <a:solidFill>
                  <a:srgbClr val="202124"/>
                </a:solidFill>
              </a:defRPr>
            </a:pPr>
            <a:r>
              <a:t>`screening.test.ts`: reducer/domain behavior and screening report contract.</a:t>
            </a:r>
          </a:p>
          <a:p>
            <a:pPr>
              <a:spcAft>
                <a:spcPts val="800"/>
              </a:spcAft>
              <a:defRPr sz="1500">
                <a:solidFill>
                  <a:srgbClr val="202124"/>
                </a:solidFill>
              </a:defRPr>
            </a:pPr>
            <a:r>
              <a:t>`workflow.spec.ts`: browser journey from search → confirm → overview → screening → decisions → memo.</a:t>
            </a:r>
          </a:p>
          <a:p>
            <a:pPr>
              <a:spcAft>
                <a:spcPts val="800"/>
              </a:spcAft>
              <a:defRPr sz="1500">
                <a:solidFill>
                  <a:srgbClr val="202124"/>
                </a:solidFill>
              </a:defRPr>
            </a:pPr>
            <a:r>
              <a:t>Playwright also checks mobile 390px layout and keyboard tab behavior.</a:t>
            </a:r>
          </a:p>
          <a:p>
            <a:pPr>
              <a:spcAft>
                <a:spcPts val="800"/>
              </a:spcAft>
              <a:defRPr sz="1500">
                <a:solidFill>
                  <a:srgbClr val="202124"/>
                </a:solidFill>
              </a:defRPr>
            </a:pPr>
            <a:r>
              <a:t>`@axe-core/playwright` checks WCAG rule violations in browser tests.</a:t>
            </a:r>
          </a:p>
          <a:p>
            <a:pPr>
              <a:spcAft>
                <a:spcPts val="800"/>
              </a:spcAft>
              <a:defRPr sz="1500">
                <a:solidFill>
                  <a:srgbClr val="202124"/>
                </a:solidFill>
              </a:defRPr>
            </a:pPr>
            <a:r>
              <a:t>API tests cover empty search, malformed JSON, invalid entity ID, unknown entity and cross-origin rejection.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3233A"/>
                </a:solidFill>
              </a:defRPr>
            </a:pPr>
            <a:r>
              <a:t>31. Complete runtime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50392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56F7D"/>
                </a:solidFill>
              </a:defRPr>
            </a:pPr>
            <a:r>
              <a:t>One picture to remember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88720"/>
            <a:ext cx="11155680" cy="36576"/>
          </a:xfrm>
          <a:prstGeom prst="rect">
            <a:avLst/>
          </a:prstGeom>
          <a:solidFill>
            <a:srgbClr val="C900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92840" y="6473952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56F7D"/>
                </a:solidFill>
              </a:defRPr>
            </a:pPr>
            <a:r>
              <a:t>32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46520"/>
            <a:ext cx="9875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656F7D"/>
                </a:solidFill>
              </a:defRPr>
            </a:pPr>
            <a:r>
              <a:t>Reactpoc • Next.js architecture explained for a Java/Spring Boot developer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417320"/>
            <a:ext cx="3246120" cy="4251960"/>
          </a:xfrm>
          <a:prstGeom prst="roundRect">
            <a:avLst/>
          </a:prstGeom>
          <a:solidFill>
            <a:srgbClr val="F2F7FC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91440"/>
          <a:lstStyle/>
          <a:p>
            <a:pPr algn="ctr">
              <a:defRPr b="1" sz="1500">
                <a:solidFill>
                  <a:srgbClr val="13233A"/>
                </a:solidFill>
              </a:defRPr>
            </a:pPr>
            <a:r>
              <a:t>BROWSER / CLIENT</a:t>
            </a:r>
          </a:p>
          <a:p>
            <a:pPr>
              <a:spcBef>
                <a:spcPts val="600"/>
              </a:spcBef>
              <a:defRPr sz="1500">
                <a:solidFill>
                  <a:srgbClr val="202124"/>
                </a:solidFill>
              </a:defRPr>
            </a:pPr>
            <a:r>
              <a:t>AppShell</a:t>
            </a:r>
            <a:br/>
            <a:r>
              <a:t>EntitySearch</a:t>
            </a:r>
            <a:br/>
            <a:r>
              <a:t>EntityResult</a:t>
            </a:r>
            <a:br/>
            <a:r>
              <a:t>CaseWorkspace</a:t>
            </a:r>
            <a:br/>
            <a:r>
              <a:t>Panels</a:t>
            </a:r>
            <a:br/>
            <a:r>
              <a:t>Hooks + reducer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0" y="1417320"/>
            <a:ext cx="3246120" cy="4251960"/>
          </a:xfrm>
          <a:prstGeom prst="roundRect">
            <a:avLst/>
          </a:prstGeom>
          <a:solidFill>
            <a:srgbClr val="F7F7F7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91440"/>
          <a:lstStyle/>
          <a:p>
            <a:pPr algn="ctr">
              <a:defRPr b="1" sz="1500">
                <a:solidFill>
                  <a:srgbClr val="13233A"/>
                </a:solidFill>
              </a:defRPr>
            </a:pPr>
            <a:r>
              <a:t>NEXT.JS HTTP / SERVER</a:t>
            </a:r>
          </a:p>
          <a:p>
            <a:pPr>
              <a:spcBef>
                <a:spcPts val="600"/>
              </a:spcBef>
              <a:defRPr sz="1500">
                <a:solidFill>
                  <a:srgbClr val="202124"/>
                </a:solidFill>
              </a:defRPr>
            </a:pPr>
            <a:r>
              <a:t>page.tsx server routes</a:t>
            </a:r>
            <a:br/>
            <a:r>
              <a:t>api/entities/route.ts</a:t>
            </a:r>
            <a:br/>
            <a:r>
              <a:t>api/screenings/route.ts</a:t>
            </a:r>
            <a:br/>
            <a:r>
              <a:t>Zod request validation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458200" y="1417320"/>
            <a:ext cx="3246120" cy="4251960"/>
          </a:xfrm>
          <a:prstGeom prst="roundRect">
            <a:avLst/>
          </a:prstGeom>
          <a:solidFill>
            <a:srgbClr val="F4F9F5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91440"/>
          <a:lstStyle/>
          <a:p>
            <a:pPr algn="ctr">
              <a:defRPr b="1" sz="1500">
                <a:solidFill>
                  <a:srgbClr val="13233A"/>
                </a:solidFill>
              </a:defRPr>
            </a:pPr>
            <a:r>
              <a:t>SERVER SERVICES / DATA</a:t>
            </a:r>
          </a:p>
          <a:p>
            <a:pPr>
              <a:spcBef>
                <a:spcPts val="600"/>
              </a:spcBef>
              <a:defRPr sz="1500">
                <a:solidFill>
                  <a:srgbClr val="202124"/>
                </a:solidFill>
              </a:defRPr>
            </a:pPr>
            <a:r>
              <a:t>entity-service.ts</a:t>
            </a:r>
            <a:br/>
            <a:r>
              <a:t>screening-service.ts</a:t>
            </a:r>
            <a:br/>
            <a:r>
              <a:t>entity-data.ts</a:t>
            </a:r>
            <a:br/>
            <a:r>
              <a:t>future DB/provider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749039" y="2743200"/>
            <a:ext cx="731521" cy="0"/>
          </a:xfrm>
          <a:prstGeom prst="line">
            <a:avLst/>
          </a:prstGeom>
          <a:ln w="27940">
            <a:solidFill>
              <a:srgbClr val="235F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3566160" y="251460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56F7D"/>
                </a:solidFill>
              </a:defRPr>
            </a:pPr>
            <a:r>
              <a:t>HTTP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726679" y="2743200"/>
            <a:ext cx="731521" cy="0"/>
          </a:xfrm>
          <a:prstGeom prst="line">
            <a:avLst/>
          </a:prstGeom>
          <a:ln w="27940">
            <a:solidFill>
              <a:srgbClr val="235F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7543800" y="251460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56F7D"/>
                </a:solidFill>
              </a:defRPr>
            </a:pPr>
            <a:r>
              <a:t>calls</a:t>
            </a:r>
          </a:p>
        </p:txBody>
      </p:sp>
      <p:cxnSp>
        <p:nvCxnSpPr>
          <p:cNvPr id="15" name="Connector 14"/>
          <p:cNvCxnSpPr/>
          <p:nvPr/>
        </p:nvCxnSpPr>
        <p:spPr>
          <a:xfrm flipH="1">
            <a:off x="7726679" y="3931920"/>
            <a:ext cx="731521" cy="0"/>
          </a:xfrm>
          <a:prstGeom prst="line">
            <a:avLst/>
          </a:prstGeom>
          <a:ln w="27940">
            <a:solidFill>
              <a:srgbClr val="235F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7543800" y="370332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56F7D"/>
                </a:solidFill>
              </a:defRPr>
            </a:pPr>
            <a:r>
              <a:t>data</a:t>
            </a:r>
          </a:p>
        </p:txBody>
      </p:sp>
      <p:cxnSp>
        <p:nvCxnSpPr>
          <p:cNvPr id="17" name="Connector 16"/>
          <p:cNvCxnSpPr/>
          <p:nvPr/>
        </p:nvCxnSpPr>
        <p:spPr>
          <a:xfrm flipH="1">
            <a:off x="3749039" y="3931920"/>
            <a:ext cx="731521" cy="0"/>
          </a:xfrm>
          <a:prstGeom prst="line">
            <a:avLst/>
          </a:prstGeom>
          <a:ln w="27940">
            <a:solidFill>
              <a:srgbClr val="235F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3566160" y="370332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56F7D"/>
                </a:solidFill>
              </a:defRPr>
            </a:pPr>
            <a:r>
              <a:t>JSON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3233A"/>
                </a:solidFill>
              </a:defRPr>
            </a:pPr>
            <a:r>
              <a:t>32. Server Component vs Client Component — critical Next.js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50392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56F7D"/>
                </a:solidFill>
              </a:defRPr>
            </a:pPr>
            <a:r>
              <a:t>Where code executes is as important as what the file is called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88720"/>
            <a:ext cx="11155680" cy="36576"/>
          </a:xfrm>
          <a:prstGeom prst="rect">
            <a:avLst/>
          </a:prstGeom>
          <a:solidFill>
            <a:srgbClr val="C900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92840" y="6473952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56F7D"/>
                </a:solidFill>
              </a:defRPr>
            </a:pPr>
            <a:r>
              <a:t>33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46520"/>
            <a:ext cx="9875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656F7D"/>
                </a:solidFill>
              </a:defRPr>
            </a:pPr>
            <a:r>
              <a:t>Reactpoc • Next.js architecture explained for a Java/Spring Boot developer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02124"/>
                </a:solidFill>
              </a:defRPr>
            </a:pPr>
            <a:r>
              <a:t>Server by default: page/layout components without `"use client"` execute in the server rendering environment.</a:t>
            </a:r>
          </a:p>
          <a:p>
            <a:pPr>
              <a:spcAft>
                <a:spcPts val="800"/>
              </a:spcAft>
              <a:defRPr sz="1500">
                <a:solidFill>
                  <a:srgbClr val="202124"/>
                </a:solidFill>
              </a:defRPr>
            </a:pPr>
            <a:r>
              <a:t>Client components: AppShell, EntitySearch and CaseWorkspace explicitly need browser hooks/events.</a:t>
            </a:r>
          </a:p>
          <a:p>
            <a:pPr>
              <a:spcAft>
                <a:spcPts val="800"/>
              </a:spcAft>
              <a:defRPr sz="1500">
                <a:solidFill>
                  <a:srgbClr val="202124"/>
                </a:solidFill>
              </a:defRPr>
            </a:pPr>
            <a:r>
              <a:t>`entity-service.ts` and `screening-service.ts` import `server-only` to prevent them from being bundled into browser code.</a:t>
            </a:r>
          </a:p>
          <a:p>
            <a:pPr>
              <a:spcAft>
                <a:spcPts val="800"/>
              </a:spcAft>
              <a:defRPr sz="1500">
                <a:solidFill>
                  <a:srgbClr val="202124"/>
                </a:solidFill>
              </a:defRPr>
            </a:pPr>
            <a:r>
              <a:t>Client UI should not import server-only services directly; it uses browser API clients and HTTP routes.</a:t>
            </a:r>
          </a:p>
          <a:p>
            <a:pPr>
              <a:spcAft>
                <a:spcPts val="800"/>
              </a:spcAft>
              <a:defRPr sz="1500">
                <a:solidFill>
                  <a:srgbClr val="202124"/>
                </a:solidFill>
              </a:defRPr>
            </a:pPr>
            <a:r>
              <a:t>Server page `entities/[id]/page.tsx` can call `getEntityById()` directly because it already runs on the server.</a:t>
            </a:r>
          </a:p>
          <a:p>
            <a:pPr>
              <a:spcAft>
                <a:spcPts val="800"/>
              </a:spcAft>
              <a:defRPr sz="1500">
                <a:solidFill>
                  <a:srgbClr val="202124"/>
                </a:solidFill>
              </a:defRPr>
            </a:pPr>
            <a:r>
              <a:t>This explains why entity lookup has two valid paths: browser search uses HTTP; server page lookup uses direct server service call.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3233A"/>
                </a:solidFill>
              </a:defRPr>
            </a:pPr>
            <a:r>
              <a:t>33. Why the GPT agent likely created these layers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50392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56F7D"/>
                </a:solidFill>
              </a:defRPr>
            </a:pPr>
            <a:r>
              <a:t>The source shows deliberate separation, not random extra files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88720"/>
            <a:ext cx="11155680" cy="36576"/>
          </a:xfrm>
          <a:prstGeom prst="rect">
            <a:avLst/>
          </a:prstGeom>
          <a:solidFill>
            <a:srgbClr val="C900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92840" y="6473952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56F7D"/>
                </a:solidFill>
              </a:defRPr>
            </a:pPr>
            <a:r>
              <a:t>34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46520"/>
            <a:ext cx="9875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656F7D"/>
                </a:solidFill>
              </a:defRPr>
            </a:pPr>
            <a:r>
              <a:t>Reactpoc • Next.js architecture explained for a Java/Spring Boot developer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02124"/>
                </a:solidFill>
              </a:defRPr>
            </a:pPr>
            <a:r>
              <a:t>Thin route/page files make routing easy to understand.</a:t>
            </a:r>
          </a:p>
          <a:p>
            <a:pPr>
              <a:spcAft>
                <a:spcPts val="800"/>
              </a:spcAft>
              <a:defRPr sz="1500">
                <a:solidFill>
                  <a:srgbClr val="202124"/>
                </a:solidFill>
              </a:defRPr>
            </a:pPr>
            <a:r>
              <a:t>Feature folders keep business-specific UI/state/contracts together.</a:t>
            </a:r>
          </a:p>
          <a:p>
            <a:pPr>
              <a:spcAft>
                <a:spcPts val="800"/>
              </a:spcAft>
              <a:defRPr sz="1500">
                <a:solidFill>
                  <a:srgbClr val="202124"/>
                </a:solidFill>
              </a:defRPr>
            </a:pPr>
            <a:r>
              <a:t>Shared components avoid repeating generic Button/Input/layout code.</a:t>
            </a:r>
          </a:p>
          <a:p>
            <a:pPr>
              <a:spcAft>
                <a:spcPts val="800"/>
              </a:spcAft>
              <a:defRPr sz="1500">
                <a:solidFill>
                  <a:srgbClr val="202124"/>
                </a:solidFill>
              </a:defRPr>
            </a:pPr>
            <a:r>
              <a:t>Typed API clients prevent raw `fetch()` calls from being scattered through UI components.</a:t>
            </a:r>
          </a:p>
          <a:p>
            <a:pPr>
              <a:spcAft>
                <a:spcPts val="800"/>
              </a:spcAft>
              <a:defRPr sz="1500">
                <a:solidFill>
                  <a:srgbClr val="202124"/>
                </a:solidFill>
              </a:defRPr>
            </a:pPr>
            <a:r>
              <a:t>Server-only services create replaceable integration points for a future directory/screening provider.</a:t>
            </a:r>
          </a:p>
          <a:p>
            <a:pPr>
              <a:spcAft>
                <a:spcPts val="800"/>
              </a:spcAft>
              <a:defRPr sz="1500">
                <a:solidFill>
                  <a:srgbClr val="202124"/>
                </a:solidFill>
              </a:defRPr>
            </a:pPr>
            <a:r>
              <a:t>Zod protects runtime boundaries where TypeScript alone cannot.</a:t>
            </a:r>
          </a:p>
          <a:p>
            <a:pPr>
              <a:spcAft>
                <a:spcPts val="800"/>
              </a:spcAft>
              <a:defRPr sz="1500">
                <a:solidFill>
                  <a:srgbClr val="202124"/>
                </a:solidFill>
              </a:defRPr>
            </a:pPr>
            <a:r>
              <a:t>Reducer keeps a multi-step case workflow predictable.</a:t>
            </a:r>
          </a:p>
          <a:p>
            <a:pPr>
              <a:spcAft>
                <a:spcPts val="800"/>
              </a:spcAft>
              <a:defRPr sz="1500">
                <a:solidFill>
                  <a:srgbClr val="202124"/>
                </a:solidFill>
              </a:defRPr>
            </a:pPr>
            <a:r>
              <a:t>Tests encode the intended user journey and guard refactoring.</a:t>
            </a:r>
          </a:p>
          <a:p>
            <a:pPr>
              <a:spcAft>
                <a:spcPts val="800"/>
              </a:spcAft>
              <a:defRPr sz="1500">
                <a:solidFill>
                  <a:srgbClr val="202124"/>
                </a:solidFill>
              </a:defRPr>
            </a:pPr>
            <a:r>
              <a:t>Security/accessibility/responsive behavior are treated as cross-cutting requirements.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3233A"/>
                </a:solidFill>
              </a:defRPr>
            </a:pPr>
            <a:r>
              <a:t>34. What is demo-only vs what a production banking app still needs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50392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56F7D"/>
                </a:solidFill>
              </a:defRPr>
            </a:pPr>
            <a:r>
              <a:t>Important because this POC intentionally uses fictional/in-memory data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88720"/>
            <a:ext cx="11155680" cy="36576"/>
          </a:xfrm>
          <a:prstGeom prst="rect">
            <a:avLst/>
          </a:prstGeom>
          <a:solidFill>
            <a:srgbClr val="C900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92840" y="6473952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56F7D"/>
                </a:solidFill>
              </a:defRPr>
            </a:pPr>
            <a:r>
              <a:t>35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46520"/>
            <a:ext cx="9875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656F7D"/>
                </a:solidFill>
              </a:defRPr>
            </a:pPr>
            <a:r>
              <a:t>Reactpoc • Next.js architecture explained for a Java/Spring Boot developer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02124"/>
                </a:solidFill>
              </a:defRPr>
            </a:pPr>
            <a:r>
              <a:t>Current entity records and screening findings are fictional fixtures; no live provider is called.</a:t>
            </a:r>
          </a:p>
          <a:p>
            <a:pPr>
              <a:spcAft>
                <a:spcPts val="800"/>
              </a:spcAft>
              <a:defRPr sz="1500">
                <a:solidFill>
                  <a:srgbClr val="202124"/>
                </a:solidFill>
              </a:defRPr>
            </a:pPr>
            <a:r>
              <a:t>Case edits exist only in browser memory and reset on reload/leaving the case.</a:t>
            </a:r>
          </a:p>
          <a:p>
            <a:pPr>
              <a:spcAft>
                <a:spcPts val="800"/>
              </a:spcAft>
              <a:defRPr sz="1500">
                <a:solidFill>
                  <a:srgbClr val="202124"/>
                </a:solidFill>
              </a:defRPr>
            </a:pPr>
            <a:r>
              <a:t>README states authentication and authorization are not implemented.</a:t>
            </a:r>
          </a:p>
          <a:p>
            <a:pPr>
              <a:spcAft>
                <a:spcPts val="800"/>
              </a:spcAft>
              <a:defRPr sz="1500">
                <a:solidFill>
                  <a:srgbClr val="202124"/>
                </a:solidFill>
              </a:defRPr>
            </a:pPr>
            <a:r>
              <a:t>Production would need identity, tenant/entity authorization, audit logging, durable case storage, rate limiting and secrets management.</a:t>
            </a:r>
          </a:p>
          <a:p>
            <a:pPr>
              <a:spcAft>
                <a:spcPts val="800"/>
              </a:spcAft>
              <a:defRPr sz="1500">
                <a:solidFill>
                  <a:srgbClr val="202124"/>
                </a:solidFill>
              </a:defRPr>
            </a:pPr>
            <a:r>
              <a:t>Real screening should usually use background jobs/status polling/idempotency rather than keeping a request open.</a:t>
            </a:r>
          </a:p>
          <a:p>
            <a:pPr>
              <a:spcAft>
                <a:spcPts val="800"/>
              </a:spcAft>
              <a:defRPr sz="1500">
                <a:solidFill>
                  <a:srgbClr val="202124"/>
                </a:solidFill>
              </a:defRPr>
            </a:pPr>
            <a:r>
              <a:t>Server adapters are the intended replacement point; preserve client-facing contracts while changing the implementation.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3233A"/>
                </a:solidFill>
              </a:defRPr>
            </a:pPr>
            <a:r>
              <a:t>35. Recommended learning/build order for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50392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56F7D"/>
                </a:solidFill>
              </a:defRPr>
            </a:pPr>
            <a:r>
              <a:t>Recreate a smaller version manually so the generated project becomes your code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88720"/>
            <a:ext cx="11155680" cy="36576"/>
          </a:xfrm>
          <a:prstGeom prst="rect">
            <a:avLst/>
          </a:prstGeom>
          <a:solidFill>
            <a:srgbClr val="C900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92840" y="6473952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56F7D"/>
                </a:solidFill>
              </a:defRPr>
            </a:pPr>
            <a:r>
              <a:t>36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46520"/>
            <a:ext cx="9875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656F7D"/>
                </a:solidFill>
              </a:defRPr>
            </a:pPr>
            <a:r>
              <a:t>Reactpoc • Next.js architecture explained for a Java/Spring Boot developer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50">
                <a:solidFill>
                  <a:srgbClr val="202124"/>
                </a:solidFill>
              </a:defRPr>
            </a:pPr>
            <a:r>
              <a:t>Step 1 — Create Next.js TypeScript app; understand package.json, app/layout.tsx and app/page.tsx.</a:t>
            </a:r>
          </a:p>
          <a:p>
            <a:pPr>
              <a:spcAft>
                <a:spcPts val="800"/>
              </a:spcAft>
              <a:defRPr sz="1450">
                <a:solidFill>
                  <a:srgbClr val="202124"/>
                </a:solidFill>
              </a:defRPr>
            </a:pPr>
            <a:r>
              <a:t>Step 2 — Build AppShell + navigation; practice Link, usePathname and useState.</a:t>
            </a:r>
          </a:p>
          <a:p>
            <a:pPr>
              <a:spcAft>
                <a:spcPts val="800"/>
              </a:spcAft>
              <a:defRPr sz="1450">
                <a:solidFill>
                  <a:srgbClr val="202124"/>
                </a:solidFill>
              </a:defRPr>
            </a:pPr>
            <a:r>
              <a:t>Step 3 — Create Entity type/schema and one fixture record.</a:t>
            </a:r>
          </a:p>
          <a:p>
            <a:pPr>
              <a:spcAft>
                <a:spcPts val="800"/>
              </a:spcAft>
              <a:defRPr sz="1450">
                <a:solidFill>
                  <a:srgbClr val="202124"/>
                </a:solidFill>
              </a:defRPr>
            </a:pPr>
            <a:r>
              <a:t>Step 4 — Create entity-service.ts and GET /api/entities route.</a:t>
            </a:r>
          </a:p>
          <a:p>
            <a:pPr>
              <a:spcAft>
                <a:spcPts val="800"/>
              </a:spcAft>
              <a:defRPr sz="1450">
                <a:solidFill>
                  <a:srgbClr val="202124"/>
                </a:solidFill>
              </a:defRPr>
            </a:pPr>
            <a:r>
              <a:t>Step 5 — Create entity-api.ts and EntitySearch form using useState.</a:t>
            </a:r>
          </a:p>
          <a:p>
            <a:pPr>
              <a:spcAft>
                <a:spcPts val="800"/>
              </a:spcAft>
              <a:defRPr sz="1450">
                <a:solidFill>
                  <a:srgbClr val="202124"/>
                </a:solidFill>
              </a:defRPr>
            </a:pPr>
            <a:r>
              <a:t>Step 6 — Add `[id]/page.tsx` and understand params/notFound/generateMetadata.</a:t>
            </a:r>
          </a:p>
          <a:p>
            <a:pPr>
              <a:spcAft>
                <a:spcPts val="800"/>
              </a:spcAft>
              <a:defRPr sz="1450">
                <a:solidFill>
                  <a:srgbClr val="202124"/>
                </a:solidFill>
              </a:defRPr>
            </a:pPr>
            <a:r>
              <a:t>Step 7 — Build CaseWorkspace with two tabs, then migrate to useReducer.</a:t>
            </a:r>
          </a:p>
          <a:p>
            <a:pPr>
              <a:spcAft>
                <a:spcPts val="800"/>
              </a:spcAft>
              <a:defRPr sz="1450">
                <a:solidFill>
                  <a:srgbClr val="202124"/>
                </a:solidFill>
              </a:defRPr>
            </a:pPr>
            <a:r>
              <a:t>Step 8 — Add POST screening API + screening-service mock.</a:t>
            </a:r>
          </a:p>
          <a:p>
            <a:pPr>
              <a:spcAft>
                <a:spcPts val="800"/>
              </a:spcAft>
              <a:defRPr sz="1450">
                <a:solidFill>
                  <a:srgbClr val="202124"/>
                </a:solidFill>
              </a:defRPr>
            </a:pPr>
            <a:r>
              <a:t>Step 9 — Add validation, loading/errors, accessibility and tests.</a:t>
            </a:r>
          </a:p>
          <a:p>
            <a:pPr>
              <a:spcAft>
                <a:spcPts val="800"/>
              </a:spcAft>
              <a:defRPr sz="1450">
                <a:solidFill>
                  <a:srgbClr val="202124"/>
                </a:solidFill>
              </a:defRPr>
            </a:pPr>
            <a:r>
              <a:t>Step 10 — Replace mock service with real backend only after the contracts are clear.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3233A"/>
                </a:solidFill>
              </a:defRPr>
            </a:pPr>
            <a:r>
              <a:t>36. Final memory 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50392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56F7D"/>
                </a:solidFill>
              </a:defRPr>
            </a:pPr>
            <a:r>
              <a:t>If you remember only this, you can navigate the project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88720"/>
            <a:ext cx="11155680" cy="36576"/>
          </a:xfrm>
          <a:prstGeom prst="rect">
            <a:avLst/>
          </a:prstGeom>
          <a:solidFill>
            <a:srgbClr val="C900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92840" y="6473952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56F7D"/>
                </a:solidFill>
              </a:defRPr>
            </a:pPr>
            <a:r>
              <a:t>37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46520"/>
            <a:ext cx="9875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656F7D"/>
                </a:solidFill>
              </a:defRPr>
            </a:pPr>
            <a:r>
              <a:t>Reactpoc • Next.js architecture explained for a Java/Spring Boot developer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51560" y="1417320"/>
            <a:ext cx="4754880" cy="4572000"/>
          </a:xfrm>
          <a:prstGeom prst="roundRect">
            <a:avLst/>
          </a:prstGeom>
          <a:solidFill>
            <a:srgbClr val="F8F9FB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>
                <a:solidFill>
                  <a:srgbClr val="202124"/>
                </a:solidFill>
                <a:latin typeface="Courier New"/>
              </a:defRPr>
            </a:pPr>
            <a:r>
              <a:t>URL</a:t>
            </a:r>
            <a:br/>
            <a:r>
              <a:t> ↓</a:t>
            </a:r>
            <a:br/>
            <a:r>
              <a:t>app/.../page.tsx                ← page route</a:t>
            </a:r>
            <a:br/>
            <a:r>
              <a:t> ↓</a:t>
            </a:r>
            <a:br/>
            <a:r>
              <a:t>feature .tsx component          ← screen/UI</a:t>
            </a:r>
            <a:br/>
            <a:r>
              <a:t> ↓ (when browser needs data)</a:t>
            </a:r>
            <a:br/>
            <a:r>
              <a:t>services/*-api.ts               ← typed fetch client</a:t>
            </a:r>
            <a:br/>
            <a:r>
              <a:t> ↓ HTTP</a:t>
            </a:r>
            <a:br/>
            <a:r>
              <a:t>app/api/.../route.ts            ← controller</a:t>
            </a:r>
            <a:br/>
            <a:r>
              <a:t> ↓</a:t>
            </a:r>
            <a:br/>
            <a:r>
              <a:t>services/*-service.ts           ← server service/adapter</a:t>
            </a:r>
            <a:br/>
            <a:r>
              <a:t> ↓</a:t>
            </a:r>
            <a:br/>
            <a:r>
              <a:t>entity-data.ts / real backend   ← data/provider</a:t>
            </a:r>
            <a:br/>
            <a:r>
              <a:t> ↓</a:t>
            </a:r>
            <a:br/>
            <a:r>
              <a:t>JSON / typed object</a:t>
            </a:r>
            <a:br/>
            <a:r>
              <a:t> ↓</a:t>
            </a:r>
            <a:br/>
            <a:r>
              <a:t>React state/reducer</a:t>
            </a:r>
            <a:br/>
            <a:r>
              <a:t> ↓</a:t>
            </a:r>
            <a:br/>
            <a:r>
              <a:t>UI re-renders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508760"/>
            <a:ext cx="46634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02124"/>
                </a:solidFill>
              </a:defRPr>
            </a:pPr>
            <a:r>
              <a:t>`.tsx` = TypeScript that can contain React JSX.</a:t>
            </a:r>
          </a:p>
          <a:p>
            <a:pPr>
              <a:spcAft>
                <a:spcPts val="800"/>
              </a:spcAft>
              <a:defRPr sz="1500">
                <a:solidFill>
                  <a:srgbClr val="202124"/>
                </a:solidFill>
              </a:defRPr>
            </a:pPr>
            <a:r>
              <a:t>`page.tsx` = UI route.</a:t>
            </a:r>
          </a:p>
          <a:p>
            <a:pPr>
              <a:spcAft>
                <a:spcPts val="800"/>
              </a:spcAft>
              <a:defRPr sz="1500">
                <a:solidFill>
                  <a:srgbClr val="202124"/>
                </a:solidFill>
              </a:defRPr>
            </a:pPr>
            <a:r>
              <a:t>`route.ts` = HTTP API route.</a:t>
            </a:r>
          </a:p>
          <a:p>
            <a:pPr>
              <a:spcAft>
                <a:spcPts val="800"/>
              </a:spcAft>
              <a:defRPr sz="1500">
                <a:solidFill>
                  <a:srgbClr val="202124"/>
                </a:solidFill>
              </a:defRPr>
            </a:pPr>
            <a:r>
              <a:t>`schema.ts` = runtime validation.</a:t>
            </a:r>
          </a:p>
          <a:p>
            <a:pPr>
              <a:spcAft>
                <a:spcPts val="800"/>
              </a:spcAft>
              <a:defRPr sz="1500">
                <a:solidFill>
                  <a:srgbClr val="202124"/>
                </a:solidFill>
              </a:defRPr>
            </a:pPr>
            <a:r>
              <a:t>`types.ts` = compile-time shape/type.</a:t>
            </a:r>
          </a:p>
          <a:p>
            <a:pPr>
              <a:spcAft>
                <a:spcPts val="800"/>
              </a:spcAft>
              <a:defRPr sz="1500">
                <a:solidFill>
                  <a:srgbClr val="202124"/>
                </a:solidFill>
              </a:defRPr>
            </a:pPr>
            <a:r>
              <a:t>`use client` = browser-interactive boundary.</a:t>
            </a:r>
          </a:p>
          <a:p>
            <a:pPr>
              <a:spcAft>
                <a:spcPts val="800"/>
              </a:spcAft>
              <a:defRPr sz="1500">
                <a:solidFill>
                  <a:srgbClr val="202124"/>
                </a:solidFill>
              </a:defRPr>
            </a:pPr>
            <a:r>
              <a:t>`props` = component inputs.</a:t>
            </a:r>
          </a:p>
          <a:p>
            <a:pPr>
              <a:spcAft>
                <a:spcPts val="800"/>
              </a:spcAft>
              <a:defRPr sz="1500">
                <a:solidFill>
                  <a:srgbClr val="202124"/>
                </a:solidFill>
              </a:defRPr>
            </a:pPr>
            <a:r>
              <a:t>`state` = values that can change and update UI.</a:t>
            </a:r>
          </a:p>
          <a:p>
            <a:pPr>
              <a:spcAft>
                <a:spcPts val="800"/>
              </a:spcAft>
              <a:defRPr sz="1500">
                <a:solidFill>
                  <a:srgbClr val="202124"/>
                </a:solidFill>
              </a:defRPr>
            </a:pPr>
            <a:r>
              <a:t>`children` = nested page/content inserted by a parent component.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