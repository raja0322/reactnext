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7ef20a7f2f44e5" /><Relationship Type="http://schemas.openxmlformats.org/officeDocument/2006/relationships/extended-properties" Target="/docProps/app.xml" Id="R5b8064f26982437e" /><Relationship Type="http://schemas.openxmlformats.org/officeDocument/2006/relationships/officeDocument" Target="/ppt/presentation.xml" Id="R4dce0e0371614ef6" /></Relationships>
</file>

<file path=ppt/presentation.xml><?xml version="1.0" encoding="utf-8"?>
<p:presentation xmlns:p="http://schemas.openxmlformats.org/presentationml/2006/main">
  <p:sldMasterIdLst>
    <p:sldMasterId xmlns:r="http://schemas.openxmlformats.org/officeDocument/2006/relationships" id="2147483648" r:id="Rb66975d9f0994f9c"/>
  </p:sldMasterIdLst>
  <p:notesMasterIdLst>
    <p:notesMasterId xmlns:r="http://schemas.openxmlformats.org/officeDocument/2006/relationships" r:id="R20189ed5f4b344b5"/>
  </p:notesMasterIdLst>
  <p:sldIdLst>
    <p:sldId xmlns:r="http://schemas.openxmlformats.org/officeDocument/2006/relationships" id="256" r:id="R4bc39fb266ef4db5"/>
    <p:sldId xmlns:r="http://schemas.openxmlformats.org/officeDocument/2006/relationships" id="257" r:id="R931ff22242344d53"/>
    <p:sldId xmlns:r="http://schemas.openxmlformats.org/officeDocument/2006/relationships" id="258" r:id="R6dc6116701d64114"/>
    <p:sldId xmlns:r="http://schemas.openxmlformats.org/officeDocument/2006/relationships" id="259" r:id="R931e74e1e33c4752"/>
    <p:sldId xmlns:r="http://schemas.openxmlformats.org/officeDocument/2006/relationships" id="260" r:id="Rf32ba0133a7146d5"/>
    <p:sldId xmlns:r="http://schemas.openxmlformats.org/officeDocument/2006/relationships" id="261" r:id="Rfae6e09462b04689"/>
    <p:sldId xmlns:r="http://schemas.openxmlformats.org/officeDocument/2006/relationships" id="262" r:id="Ra9d2634bb4ba444e"/>
    <p:sldId xmlns:r="http://schemas.openxmlformats.org/officeDocument/2006/relationships" id="263" r:id="R1260f2d05e61476c"/>
    <p:sldId xmlns:r="http://schemas.openxmlformats.org/officeDocument/2006/relationships" id="264" r:id="R6beb3f25c37f4096"/>
    <p:sldId xmlns:r="http://schemas.openxmlformats.org/officeDocument/2006/relationships" id="265" r:id="Re3e359df13c54655"/>
    <p:sldId xmlns:r="http://schemas.openxmlformats.org/officeDocument/2006/relationships" id="266" r:id="R46c9cbdbd23145f8"/>
    <p:sldId xmlns:r="http://schemas.openxmlformats.org/officeDocument/2006/relationships" id="267" r:id="Rf25a003147f14bb7"/>
    <p:sldId xmlns:r="http://schemas.openxmlformats.org/officeDocument/2006/relationships" id="268" r:id="R1d3c41af56fd4b02"/>
    <p:sldId xmlns:r="http://schemas.openxmlformats.org/officeDocument/2006/relationships" id="269" r:id="R37063eec4050440c"/>
    <p:sldId xmlns:r="http://schemas.openxmlformats.org/officeDocument/2006/relationships" id="270" r:id="Rd2f72b48def24a3f"/>
    <p:sldId xmlns:r="http://schemas.openxmlformats.org/officeDocument/2006/relationships" id="271" r:id="R204fd41ceb334336"/>
    <p:sldId xmlns:r="http://schemas.openxmlformats.org/officeDocument/2006/relationships" id="272" r:id="R38ae32ad1b43432e"/>
    <p:sldId xmlns:r="http://schemas.openxmlformats.org/officeDocument/2006/relationships" id="273" r:id="Rab59c35004a042df"/>
    <p:sldId xmlns:r="http://schemas.openxmlformats.org/officeDocument/2006/relationships" id="274" r:id="R0cb99ad06d354247"/>
    <p:sldId xmlns:r="http://schemas.openxmlformats.org/officeDocument/2006/relationships" id="275" r:id="Rcaac20efbd8c462a"/>
    <p:sldId xmlns:r="http://schemas.openxmlformats.org/officeDocument/2006/relationships" id="276" r:id="Ree95d49b31b44a2e"/>
    <p:sldId xmlns:r="http://schemas.openxmlformats.org/officeDocument/2006/relationships" id="277" r:id="Reecb65788a8a45e0"/>
    <p:sldId xmlns:r="http://schemas.openxmlformats.org/officeDocument/2006/relationships" id="278" r:id="R9c5e297eb4cc405e"/>
    <p:sldId xmlns:r="http://schemas.openxmlformats.org/officeDocument/2006/relationships" id="279" r:id="R56a071cb2c964bc2"/>
    <p:sldId xmlns:r="http://schemas.openxmlformats.org/officeDocument/2006/relationships" id="280" r:id="R35c4018cac984747"/>
    <p:sldId xmlns:r="http://schemas.openxmlformats.org/officeDocument/2006/relationships" id="281" r:id="R037f1e0731dc41cf"/>
    <p:sldId xmlns:r="http://schemas.openxmlformats.org/officeDocument/2006/relationships" id="282" r:id="R6200e529e8d54ab7"/>
    <p:sldId xmlns:r="http://schemas.openxmlformats.org/officeDocument/2006/relationships" id="283" r:id="Rd4bfb76e18584ed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1414d7e6bf418a" /><Relationship Type="http://schemas.openxmlformats.org/officeDocument/2006/relationships/slideMaster" Target="/ppt/slideMasters/slideMaster1.xml" Id="Rb66975d9f0994f9c" /><Relationship Type="http://schemas.openxmlformats.org/officeDocument/2006/relationships/notesMaster" Target="/ppt/notesMasters/notesMaster1.xml" Id="R20189ed5f4b344b5" /><Relationship Type="http://schemas.openxmlformats.org/officeDocument/2006/relationships/presProps" Target="/ppt/presProps.xml" Id="Re3e8c2af4a59456f" /><Relationship Type="http://schemas.openxmlformats.org/officeDocument/2006/relationships/tableStyles" Target="/ppt/tableStyles.xml" Id="R8fa24ed457bc4ea4" /><Relationship Type="http://schemas.openxmlformats.org/officeDocument/2006/relationships/slide" Target="/ppt/slides/slide1.xml" Id="R4bc39fb266ef4db5" /><Relationship Type="http://schemas.openxmlformats.org/officeDocument/2006/relationships/slide" Target="/ppt/slides/slide2.xml" Id="R931ff22242344d53" /><Relationship Type="http://schemas.openxmlformats.org/officeDocument/2006/relationships/slide" Target="/ppt/slides/slide3.xml" Id="R6dc6116701d64114" /><Relationship Type="http://schemas.openxmlformats.org/officeDocument/2006/relationships/slide" Target="/ppt/slides/slide4.xml" Id="R931e74e1e33c4752" /><Relationship Type="http://schemas.openxmlformats.org/officeDocument/2006/relationships/slide" Target="/ppt/slides/slide5.xml" Id="Rf32ba0133a7146d5" /><Relationship Type="http://schemas.openxmlformats.org/officeDocument/2006/relationships/slide" Target="/ppt/slides/slide6.xml" Id="Rfae6e09462b04689" /><Relationship Type="http://schemas.openxmlformats.org/officeDocument/2006/relationships/slide" Target="/ppt/slides/slide7.xml" Id="Ra9d2634bb4ba444e" /><Relationship Type="http://schemas.openxmlformats.org/officeDocument/2006/relationships/slide" Target="/ppt/slides/slide8.xml" Id="R1260f2d05e61476c" /><Relationship Type="http://schemas.openxmlformats.org/officeDocument/2006/relationships/slide" Target="/ppt/slides/slide9.xml" Id="R6beb3f25c37f4096" /><Relationship Type="http://schemas.openxmlformats.org/officeDocument/2006/relationships/slide" Target="/ppt/slides/slide10.xml" Id="Re3e359df13c54655" /><Relationship Type="http://schemas.openxmlformats.org/officeDocument/2006/relationships/slide" Target="/ppt/slides/slide11.xml" Id="R46c9cbdbd23145f8" /><Relationship Type="http://schemas.openxmlformats.org/officeDocument/2006/relationships/slide" Target="/ppt/slides/slide12.xml" Id="Rf25a003147f14bb7" /><Relationship Type="http://schemas.openxmlformats.org/officeDocument/2006/relationships/slide" Target="/ppt/slides/slide13.xml" Id="R1d3c41af56fd4b02" /><Relationship Type="http://schemas.openxmlformats.org/officeDocument/2006/relationships/slide" Target="/ppt/slides/slide14.xml" Id="R37063eec4050440c" /><Relationship Type="http://schemas.openxmlformats.org/officeDocument/2006/relationships/slide" Target="/ppt/slides/slide15.xml" Id="Rd2f72b48def24a3f" /><Relationship Type="http://schemas.openxmlformats.org/officeDocument/2006/relationships/slide" Target="/ppt/slides/slide16.xml" Id="R204fd41ceb334336" /><Relationship Type="http://schemas.openxmlformats.org/officeDocument/2006/relationships/slide" Target="/ppt/slides/slide17.xml" Id="R38ae32ad1b43432e" /><Relationship Type="http://schemas.openxmlformats.org/officeDocument/2006/relationships/slide" Target="/ppt/slides/slide18.xml" Id="Rab59c35004a042df" /><Relationship Type="http://schemas.openxmlformats.org/officeDocument/2006/relationships/slide" Target="/ppt/slides/slide19.xml" Id="R0cb99ad06d354247" /><Relationship Type="http://schemas.openxmlformats.org/officeDocument/2006/relationships/slide" Target="/ppt/slides/slide20.xml" Id="Rcaac20efbd8c462a" /><Relationship Type="http://schemas.openxmlformats.org/officeDocument/2006/relationships/slide" Target="/ppt/slides/slide21.xml" Id="Ree95d49b31b44a2e" /><Relationship Type="http://schemas.openxmlformats.org/officeDocument/2006/relationships/slide" Target="/ppt/slides/slide22.xml" Id="Reecb65788a8a45e0" /><Relationship Type="http://schemas.openxmlformats.org/officeDocument/2006/relationships/slide" Target="/ppt/slides/slide23.xml" Id="R9c5e297eb4cc405e" /><Relationship Type="http://schemas.openxmlformats.org/officeDocument/2006/relationships/slide" Target="/ppt/slides/slide24.xml" Id="R56a071cb2c964bc2" /><Relationship Type="http://schemas.openxmlformats.org/officeDocument/2006/relationships/slide" Target="/ppt/slides/slide25.xml" Id="R35c4018cac984747" /><Relationship Type="http://schemas.openxmlformats.org/officeDocument/2006/relationships/slide" Target="/ppt/slides/slide26.xml" Id="R037f1e0731dc41cf" /><Relationship Type="http://schemas.openxmlformats.org/officeDocument/2006/relationships/slide" Target="/ppt/slides/slide27.xml" Id="R6200e529e8d54ab7" /><Relationship Type="http://schemas.openxmlformats.org/officeDocument/2006/relationships/slide" Target="/ppt/slides/slide28.xml" Id="Rd4bfb76e18584e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4740c2c20144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34d03796414696" /><Relationship Type="http://schemas.openxmlformats.org/officeDocument/2006/relationships/notesMaster" Target="/ppt/notesMasters/notesMaster1.xml" Id="R54c1a033b96543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71041ef86b4cad" /><Relationship Type="http://schemas.openxmlformats.org/officeDocument/2006/relationships/notesMaster" Target="/ppt/notesMasters/notesMaster1.xml" Id="R88e562e7530145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0a70073f8c4aba" /><Relationship Type="http://schemas.openxmlformats.org/officeDocument/2006/relationships/notesMaster" Target="/ppt/notesMasters/notesMaster1.xml" Id="R4ac5d5405d4543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21fcd788d945af" /><Relationship Type="http://schemas.openxmlformats.org/officeDocument/2006/relationships/notesMaster" Target="/ppt/notesMasters/notesMaster1.xml" Id="Ra4513e91502e4c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3f7c8ea92f4aeb" /><Relationship Type="http://schemas.openxmlformats.org/officeDocument/2006/relationships/notesMaster" Target="/ppt/notesMasters/notesMaster1.xml" Id="R93a60d6dec3d48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5efc01c6ff49fc" /><Relationship Type="http://schemas.openxmlformats.org/officeDocument/2006/relationships/notesMaster" Target="/ppt/notesMasters/notesMaster1.xml" Id="R4ddb3c62cbae48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d50a92836a4545" /><Relationship Type="http://schemas.openxmlformats.org/officeDocument/2006/relationships/notesMaster" Target="/ppt/notesMasters/notesMaster1.xml" Id="R5f3b6b57d84747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645b203da74d3b" /><Relationship Type="http://schemas.openxmlformats.org/officeDocument/2006/relationships/notesMaster" Target="/ppt/notesMasters/notesMaster1.xml" Id="R87490fe0d4e3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6acf6b80f4429c" /><Relationship Type="http://schemas.openxmlformats.org/officeDocument/2006/relationships/notesMaster" Target="/ppt/notesMasters/notesMaster1.xml" Id="R4365dfcc218941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63292014df4311" /><Relationship Type="http://schemas.openxmlformats.org/officeDocument/2006/relationships/notesMaster" Target="/ppt/notesMasters/notesMaster1.xml" Id="R7178a9ee69eb4e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31e9d0c77b445a" /><Relationship Type="http://schemas.openxmlformats.org/officeDocument/2006/relationships/notesMaster" Target="/ppt/notesMasters/notesMaster1.xml" Id="R254e09f5c30444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d5d100d4d54511" /><Relationship Type="http://schemas.openxmlformats.org/officeDocument/2006/relationships/notesMaster" Target="/ppt/notesMasters/notesMaster1.xml" Id="R38a5a2c5ac6b46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df55d107204b92" /><Relationship Type="http://schemas.openxmlformats.org/officeDocument/2006/relationships/notesMaster" Target="/ppt/notesMasters/notesMaster1.xml" Id="R9463880e13ae4c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8a64f6d3174360" /><Relationship Type="http://schemas.openxmlformats.org/officeDocument/2006/relationships/notesMaster" Target="/ppt/notesMasters/notesMaster1.xml" Id="R7d8fc27240d140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a6c0afd7d3431f" /><Relationship Type="http://schemas.openxmlformats.org/officeDocument/2006/relationships/notesMaster" Target="/ppt/notesMasters/notesMaster1.xml" Id="R7bb6e9f0333347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0dd704d7a14ae0" /><Relationship Type="http://schemas.openxmlformats.org/officeDocument/2006/relationships/notesMaster" Target="/ppt/notesMasters/notesMaster1.xml" Id="R9215a5999dab4a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2ae93ce4a140c0" /><Relationship Type="http://schemas.openxmlformats.org/officeDocument/2006/relationships/notesMaster" Target="/ppt/notesMasters/notesMaster1.xml" Id="R90be578501cc4d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df7d0032c44a5c" /><Relationship Type="http://schemas.openxmlformats.org/officeDocument/2006/relationships/notesMaster" Target="/ppt/notesMasters/notesMaster1.xml" Id="R16cf9c71dfc941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576f36757aa4fce" /><Relationship Type="http://schemas.openxmlformats.org/officeDocument/2006/relationships/notesMaster" Target="/ppt/notesMasters/notesMaster1.xml" Id="R10bb58400a644aa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60664a47e447fa" /><Relationship Type="http://schemas.openxmlformats.org/officeDocument/2006/relationships/notesMaster" Target="/ppt/notesMasters/notesMaster1.xml" Id="R2d2e463434ab460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6282aeba554bdf" /><Relationship Type="http://schemas.openxmlformats.org/officeDocument/2006/relationships/notesMaster" Target="/ppt/notesMasters/notesMaster1.xml" Id="R56d4746bc56443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dcebd9666ed4824" /><Relationship Type="http://schemas.openxmlformats.org/officeDocument/2006/relationships/notesMaster" Target="/ppt/notesMasters/notesMaster1.xml" Id="R3e5aa9c654d249b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526421374f43ad" /><Relationship Type="http://schemas.openxmlformats.org/officeDocument/2006/relationships/notesMaster" Target="/ppt/notesMasters/notesMaster1.xml" Id="R091dd4364f44425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3a54a9051c42ba" /><Relationship Type="http://schemas.openxmlformats.org/officeDocument/2006/relationships/notesMaster" Target="/ppt/notesMasters/notesMaster1.xml" Id="R3311bc4f0e4147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9dc799213c4890" /><Relationship Type="http://schemas.openxmlformats.org/officeDocument/2006/relationships/notesMaster" Target="/ppt/notesMasters/notesMaster1.xml" Id="Rc5adc782b3b544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d8c81821944a77" /><Relationship Type="http://schemas.openxmlformats.org/officeDocument/2006/relationships/notesMaster" Target="/ppt/notesMasters/notesMaster1.xml" Id="R6ea3c8e3b52940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d1b7e34f264e50" /><Relationship Type="http://schemas.openxmlformats.org/officeDocument/2006/relationships/notesMaster" Target="/ppt/notesMasters/notesMaster1.xml" Id="R721c090c81ae4ed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c432aff242b4f3f" /><Relationship Type="http://schemas.openxmlformats.org/officeDocument/2006/relationships/notesMaster" Target="/ppt/notesMasters/notesMaster1.xml" Id="R3dd1bee0b62a4f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screen1-screen6 references; current README.md. Prepared 26 September 2026. This deck documents the working mock application, not an authorized bank policy or live risk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app/page.tsx; features/entity-search/entity-search.tsx and entity-result.tsx; features/case-workspace/case-workspace.tsx. Each state maps to one supplied screenshot. The workspace uses tabs rather than separate routes for overview, assessment and memo.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features/entity-search/entity-search.tsx; schema.ts; entity-data.ts. Initial state displays Matches (0). Screenshot captured from the local implemented app, not a redesign. Input is trimmed, validated to 1-120 characters, and disallows remaining control characters.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entity-result.tsx; services/entity-api.ts; app/api/entities/route.ts. Matching checks name, legalName, gcif and groupName case-insensitively. Confirm Entity navigates to /entities/ENT-001. The parent value bnm1 is preserved from the source photo.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overview-panel.tsx; entity-data.ts. The three entities are Meridian Agri (Parent, 100%), Kestral (Subsidiary, 100%) and Meridian health (Operating company, 50%). Case metadata: assigned officer, transaction type, facility description. No save call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screening-progress.tsx; case-workspace.tsx; services/screening-service.ts. Current adapter waits 1.8 seconds and returns fixtures. The 84-source count is illustrative; no external sources are queried. Duplicate launches are guarded. Browser requests are aborted on unmount.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assessment-panel.tsx; finding-card.tsx; screening-service.ts. The first fictional finding concerns disclosure governance; the second concerns recruitment-fee debt in an illustrative labour scenario. There are two fixtures. Severity is independently editable per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memo-panel.tsx; policy-checks.tsx; case-state.ts. Memo reflects entity data, metadata, included findings, reviewer notes, policy notes and rationale. Sensitive sector defaults to Palm oil, Equator Principles is unchecked. Assessed risk starts at provider Critical and can be changed. Print uses window.print(); there is no document submission or approval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finding-card.tsx; case-state.ts getIncludedFindings/getPendingFindingsCount; memo-panel.tsx. Provider inherent risk does not recalculate after include/exclude or severity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entity-search.tsx; case-workspace.tsx; app/error.tsx; app/not-found.tsx. Error messages are generic. Screening failure can be retried without discarding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components/layout/app-shell.tsx; case-tabs.tsx; app/globals.css; responsive Tailwind classes in feature panels. Sidebar routes: Dashboard, Search Entity, Case Queue, Reference. Mobile screenshot captured at 390px.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 directory; features directory; services/entity-api.ts, entity-service.ts, screening-api.ts and screening-service.ts. Pages fetch the entity on the server. Interactive events call API clients. Services marked server-only are not imported into client bundles.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map; app/layout.tsx; components; features/entity-search; features/case-workspace; services. No extra state library or unnecessary custom hooks.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app/page.tsx; app/entities/[id]/page.tsx; app/dashboard/page.tsx; app/cases/page.tsx; app/reference/page.tsx; app/api routes. Entity route is keyed by entity ID to reset case state when switching 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app/api/entities/route.ts; features/entity-search/schema.ts, entity-data.ts, types.ts; services/entity-api.ts. Browser uses URLSearchParams and validates returned data; generic error messages avoid internal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services/screening-api.ts; screening-service.ts; features/case-workspace/types.ts. Server delay 1800ms; no external queries. Counts are fixture properties.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app/api/screenings/route.ts. Request is a strict object with entityId string length 1–100. The body limit is checked after request.text() and counts characters, not a streaming byte limit. An upstream request limit is still needed. Missing Origin is accepted; origin checking is not 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features/entity-search/types.ts and schema.ts; features/case-workspace/types.ts. Case metadata and policy fields are local browser state; no persistence endpoint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case-state.ts; case-workspace.tsx. Reducer guards running duplicates. A useRef request guard prevents duplicate client requests. AbortController cleanup runs on unmount. State transitions do not save to disk, localStorage, sessionStorage or a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features/entity-search/schema.ts; case-workspace/overview-panel.tsx; finding-card.tsx; policy-checks.tsx. Entity search is validated server-side and client-side. Case editing fields are local only; HTML maxLength constrains their UI entry. Production save endpoints must revalidate them server-side.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next.config.ts; app/api routes; services/*-service.ts; README.md Security section. Headers include X-Content-Type-Options nosniff, X-Frame-Options DENY, Referrer-Policy, Permissions-Policy, and baseline CSP. Missing authentication means this remains a public fictional-data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app/layout.tsx; app/entities/[id]/page.tsx; components/layout/app-shell.tsx; case-tabs.tsx; app/globals.css. Client components are used only where interaction is required. Accessibility testing is not a claim of complete WCAG conformance.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tests/entity-search.test.ts (5 unit cases); tests/screening.test.ts (4); tests/workflow.spec.ts (6). Implementation verification on 25 September 2026 passed build, typecheck and lint. The six browser specs passed across an initial run and targeted re-run after correcting origin validation. Fresh screenshots in this deck were captured on 26 September; a new full-suite execution was not needed for this documentation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package.json; README.md; playwright.config.ts. Playwright uses the configured local Chrome if available; otherwise run npx playwright install chromium, or set PLAYWRIGHT_CHROMIUM_EXECUTABLE.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package.json and package-lock.json, inspected 26 September 2026. These are project versions, not a fresh claim of latest stable releases. TypeScript 7 compiler is aliased as @typescript/native; typescript aliases @typescript/typescript6 for the programmatic API used by tooling. README links Microsoft’s side-by-side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API integration; server-only service adapters; case-workspace/types.ts sample literal. This slide is a proposed integration plan, not implemented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six user photographs and README.md assumptions. No institutional policy or legal/financial conclusions are asserted. References in the source photographs were not queried or verified against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IMPLEMENTATION.md; actual local application. All sources are project-local; no external research was required for this deck. Screenshots are fresh captures of the implemented local app. Suggested walkthrough is demonstrative and uses fictional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d75f05f4e340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e9c025522c4d08" /><Relationship Type="http://schemas.openxmlformats.org/officeDocument/2006/relationships/slideLayout" Target="/ppt/slideLayouts/slideLayout1.xml" Id="Rcf579f3022c849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579f3022c849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ed4a56f86a4487" /><Relationship Type="http://schemas.openxmlformats.org/officeDocument/2006/relationships/notesSlide" Target="/ppt/notesSlides/notesSlide1.xml" Id="Rc6eb48a2ad4445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2a0d16bfd54296" /><Relationship Type="http://schemas.openxmlformats.org/officeDocument/2006/relationships/notesSlide" Target="/ppt/notesSlides/notesSlide2.xml" Id="Rd7d0eb98f84747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c22e367239437b" /><Relationship Type="http://schemas.openxmlformats.org/officeDocument/2006/relationships/image" Target="/ppt/media/image.png" Id="R308c9d81bd164061" /><Relationship Type="http://schemas.openxmlformats.org/officeDocument/2006/relationships/notesSlide" Target="/ppt/notesSlides/notesSlide3.xml" Id="R369334d53ae14c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a1b4cbee954ddd" /><Relationship Type="http://schemas.openxmlformats.org/officeDocument/2006/relationships/image" Target="/ppt/media/image2.png" Id="R82e2676b952a4d8c" /><Relationship Type="http://schemas.openxmlformats.org/officeDocument/2006/relationships/notesSlide" Target="/ppt/notesSlides/notesSlide4.xml" Id="R5557d7b3f0af4b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ec0aa40dda433f" /><Relationship Type="http://schemas.openxmlformats.org/officeDocument/2006/relationships/image" Target="/ppt/media/image3.png" Id="R0a3a4a737d9740d2" /><Relationship Type="http://schemas.openxmlformats.org/officeDocument/2006/relationships/notesSlide" Target="/ppt/notesSlides/notesSlide5.xml" Id="R21a36c1212de4f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3dce1c1957425c" /><Relationship Type="http://schemas.openxmlformats.org/officeDocument/2006/relationships/image" Target="/ppt/media/image4.png" Id="R0eaf5485448343f6" /><Relationship Type="http://schemas.openxmlformats.org/officeDocument/2006/relationships/notesSlide" Target="/ppt/notesSlides/notesSlide6.xml" Id="Rc2e531a097f64f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dc84b5ca264208" /><Relationship Type="http://schemas.openxmlformats.org/officeDocument/2006/relationships/image" Target="/ppt/media/image5.png" Id="R10bb213a170d4261" /><Relationship Type="http://schemas.openxmlformats.org/officeDocument/2006/relationships/notesSlide" Target="/ppt/notesSlides/notesSlide7.xml" Id="R66be816e821a45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87b8c27ba84df0" /><Relationship Type="http://schemas.openxmlformats.org/officeDocument/2006/relationships/image" Target="/ppt/media/image6.png" Id="R0a56f3f5e36a4db4" /><Relationship Type="http://schemas.openxmlformats.org/officeDocument/2006/relationships/notesSlide" Target="/ppt/notesSlides/notesSlide8.xml" Id="R47ba0542f9f34d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08f5384f9d4e51" /><Relationship Type="http://schemas.openxmlformats.org/officeDocument/2006/relationships/notesSlide" Target="/ppt/notesSlides/notesSlide9.xml" Id="R5a83f4d186fd4e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971f275ccd4e07" /><Relationship Type="http://schemas.openxmlformats.org/officeDocument/2006/relationships/notesSlide" Target="/ppt/notesSlides/notesSlide10.xml" Id="R909af302df4c43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f3c18b756e4b9b" /><Relationship Type="http://schemas.openxmlformats.org/officeDocument/2006/relationships/image" Target="/ppt/media/image7.png" Id="Re7ea5b33e0fb478e" /><Relationship Type="http://schemas.openxmlformats.org/officeDocument/2006/relationships/notesSlide" Target="/ppt/notesSlides/notesSlide11.xml" Id="Rccc8ad0811d945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5d96d98af04a84" /><Relationship Type="http://schemas.openxmlformats.org/officeDocument/2006/relationships/notesSlide" Target="/ppt/notesSlides/notesSlide12.xml" Id="R676eb93ecc4445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3025dd7f2b44cc" /><Relationship Type="http://schemas.openxmlformats.org/officeDocument/2006/relationships/notesSlide" Target="/ppt/notesSlides/notesSlide13.xml" Id="R4f03596b75e447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8c2258df5f4e67" /><Relationship Type="http://schemas.openxmlformats.org/officeDocument/2006/relationships/notesSlide" Target="/ppt/notesSlides/notesSlide14.xml" Id="R36f080bf989440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8e6861e7e5458f" /><Relationship Type="http://schemas.openxmlformats.org/officeDocument/2006/relationships/notesSlide" Target="/ppt/notesSlides/notesSlide15.xml" Id="R6f22ca4e414341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74aaccdb294fb8" /><Relationship Type="http://schemas.openxmlformats.org/officeDocument/2006/relationships/notesSlide" Target="/ppt/notesSlides/notesSlide16.xml" Id="R0a14a696612646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4e7dc44a834382" /><Relationship Type="http://schemas.openxmlformats.org/officeDocument/2006/relationships/notesSlide" Target="/ppt/notesSlides/notesSlide17.xml" Id="Rc630daf5166146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f9f55fbfe384e0f" /><Relationship Type="http://schemas.openxmlformats.org/officeDocument/2006/relationships/notesSlide" Target="/ppt/notesSlides/notesSlide18.xml" Id="R09c1648135224e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4f1d6d9cddb47f9" /><Relationship Type="http://schemas.openxmlformats.org/officeDocument/2006/relationships/notesSlide" Target="/ppt/notesSlides/notesSlide19.xml" Id="R58b42ef85c8f4f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ce24a2919b4b31" /><Relationship Type="http://schemas.openxmlformats.org/officeDocument/2006/relationships/notesSlide" Target="/ppt/notesSlides/notesSlide20.xml" Id="R65a024ce566048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5f30094e4044bf" /><Relationship Type="http://schemas.openxmlformats.org/officeDocument/2006/relationships/notesSlide" Target="/ppt/notesSlides/notesSlide21.xml" Id="R6514eda3dae24a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8f5478d18034b8f" /><Relationship Type="http://schemas.openxmlformats.org/officeDocument/2006/relationships/notesSlide" Target="/ppt/notesSlides/notesSlide22.xml" Id="R32476dba3eda4c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6e33321611f4a1b" /><Relationship Type="http://schemas.openxmlformats.org/officeDocument/2006/relationships/notesSlide" Target="/ppt/notesSlides/notesSlide23.xml" Id="Rdf6dc49d192c4e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88b1b8df27342bf" /><Relationship Type="http://schemas.openxmlformats.org/officeDocument/2006/relationships/notesSlide" Target="/ppt/notesSlides/notesSlide24.xml" Id="Rbebbdb93a3a1419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037f58793d44a14" /><Relationship Type="http://schemas.openxmlformats.org/officeDocument/2006/relationships/notesSlide" Target="/ppt/notesSlides/notesSlide25.xml" Id="R31f157216ef44f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d58b0d8f0774bb2" /><Relationship Type="http://schemas.openxmlformats.org/officeDocument/2006/relationships/notesSlide" Target="/ppt/notesSlides/notesSlide26.xml" Id="Ra6395a0b9cca459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b0cfc88f1174aef" /><Relationship Type="http://schemas.openxmlformats.org/officeDocument/2006/relationships/notesSlide" Target="/ppt/notesSlides/notesSlide27.xml" Id="Rf1e3401b5ea246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648594b2c96468d" /><Relationship Type="http://schemas.openxmlformats.org/officeDocument/2006/relationships/notesSlide" Target="/ppt/notesSlides/notesSlide28.xml" Id="R746a08a606374e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C62B37DA-D9C7-4275-9AF4-58BD104776AC}"/>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APPLICATION FLOW + TECHNICAL DETAILS  /  01</a:t>
            </a:r>
          </a:p>
        </p:txBody>
      </p:sp>
      <p:sp>
        <p:nvSpPr>
          <p:cNvPr id="2" name="footer">
            <a:extLst xmlns:a="http://schemas.openxmlformats.org/drawingml/2006/main">
              <a:ext uri="{FF2B5EF4-FFF2-40B4-BE49-F238E27FC236}">
                <a16:creationId xmlns:a16="http://schemas.microsoft.com/office/drawing/2014/main" id="{D21EA048-23B7-4AFE-8B9B-DAA579390976}"/>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Application handover</a:t>
            </a:r>
          </a:p>
        </p:txBody>
      </p:sp>
      <p:sp>
        <p:nvSpPr>
          <p:cNvPr id="3" name="page">
            <a:extLst xmlns:a="http://schemas.openxmlformats.org/drawingml/2006/main">
              <a:ext uri="{FF2B5EF4-FFF2-40B4-BE49-F238E27FC236}">
                <a16:creationId xmlns:a16="http://schemas.microsoft.com/office/drawing/2014/main" id="{77F94E5F-B9F1-4D79-A720-DE4294BC9486}"/>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01</a:t>
            </a:r>
          </a:p>
        </p:txBody>
      </p:sp>
      <p:sp>
        <p:nvSpPr>
          <p:cNvPr id="4" name="cover-title">
            <a:extLst xmlns:a="http://schemas.openxmlformats.org/drawingml/2006/main">
              <a:ext uri="{FF2B5EF4-FFF2-40B4-BE49-F238E27FC236}">
                <a16:creationId xmlns:a16="http://schemas.microsoft.com/office/drawing/2014/main" id="{F0523A84-EA82-41CB-9931-1CF4335F9B90}"/>
              </a:ext>
            </a:extLst>
          </p:cNvPr>
          <p:cNvSpPr>
            <a:spLocks xmlns:a="http://schemas.openxmlformats.org/drawingml/2006/main" noGrp="1"/>
          </p:cNvSpPr>
          <p:nvPr/>
        </p:nvSpPr>
        <p:spPr>
          <a:xfrm xmlns:a="http://schemas.openxmlformats.org/drawingml/2006/main">
            <a:off x="533400" y="1657350"/>
            <a:ext cx="10763250" cy="1714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5400" b="1">
                <a:solidFill>
                  <a:srgbClr val="202124"/>
                </a:solidFill>
                <a:latin typeface="Arial"/>
                <a:ea typeface="Arial"/>
                <a:cs typeface="Arial"/>
              </a:defRPr>
            </a:pPr>
            <a:r>
              <a:t>Armo Reputation Risk</a:t>
            </a:r>
          </a:p>
          <a:p xmlns:a="http://schemas.openxmlformats.org/drawingml/2006/main">
            <a:pPr>
              <a:defRPr sz="5400" b="1">
                <a:solidFill>
                  <a:srgbClr val="202124"/>
                </a:solidFill>
                <a:latin typeface="Arial"/>
                <a:ea typeface="Arial"/>
                <a:cs typeface="Arial"/>
              </a:defRPr>
            </a:pPr>
            <a:r>
              <a:t>Screening Platform</a:t>
            </a:r>
          </a:p>
        </p:txBody>
      </p:sp>
      <p:sp>
        <p:nvSpPr>
          <p:cNvPr id="5" name="cover-subtitle">
            <a:extLst xmlns:a="http://schemas.openxmlformats.org/drawingml/2006/main">
              <a:ext uri="{FF2B5EF4-FFF2-40B4-BE49-F238E27FC236}">
                <a16:creationId xmlns:a16="http://schemas.microsoft.com/office/drawing/2014/main" id="{9CDFE9A5-3231-443D-A603-6A1E2436B773}"/>
              </a:ext>
            </a:extLst>
          </p:cNvPr>
          <p:cNvSpPr>
            <a:spLocks xmlns:a="http://schemas.openxmlformats.org/drawingml/2006/main" noGrp="1"/>
          </p:cNvSpPr>
          <p:nvPr/>
        </p:nvSpPr>
        <p:spPr>
          <a:xfrm xmlns:a="http://schemas.openxmlformats.org/drawingml/2006/main">
            <a:off x="533400" y="3724275"/>
            <a:ext cx="1066800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0">
                <a:solidFill>
                  <a:srgbClr val="60646C"/>
                </a:solidFill>
                <a:latin typeface="Arial"/>
                <a:ea typeface="Arial"/>
                <a:cs typeface="Arial"/>
              </a:defRPr>
            </a:pPr>
            <a:r>
              <a:t>Six-screen workflow and implementation handover</a:t>
            </a:r>
          </a:p>
        </p:txBody>
      </p:sp>
      <p:sp>
        <p:nvSpPr>
          <p:cNvPr id="6" name="cover-date">
            <a:extLst xmlns:a="http://schemas.openxmlformats.org/drawingml/2006/main">
              <a:ext uri="{FF2B5EF4-FFF2-40B4-BE49-F238E27FC236}">
                <a16:creationId xmlns:a16="http://schemas.microsoft.com/office/drawing/2014/main" id="{32087DAE-4A0F-483B-B367-B3D8B81E49B9}"/>
              </a:ext>
            </a:extLst>
          </p:cNvPr>
          <p:cNvSpPr>
            <a:spLocks xmlns:a="http://schemas.openxmlformats.org/drawingml/2006/main" noGrp="1"/>
          </p:cNvSpPr>
          <p:nvPr/>
        </p:nvSpPr>
        <p:spPr>
          <a:xfrm xmlns:a="http://schemas.openxmlformats.org/drawingml/2006/main">
            <a:off x="533400" y="5105400"/>
            <a:ext cx="428625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26 September 2026</a:t>
            </a:r>
          </a:p>
        </p:txBody>
      </p:sp>
      <p:sp>
        <p:nvSpPr>
          <p:cNvPr id="7" name="cover-scope">
            <a:extLst xmlns:a="http://schemas.openxmlformats.org/drawingml/2006/main">
              <a:ext uri="{FF2B5EF4-FFF2-40B4-BE49-F238E27FC236}">
                <a16:creationId xmlns:a16="http://schemas.microsoft.com/office/drawing/2014/main" id="{D28A7615-1778-46D5-93C6-6F72FE490EA4}"/>
              </a:ext>
            </a:extLst>
          </p:cNvPr>
          <p:cNvSpPr>
            <a:spLocks xmlns:a="http://schemas.openxmlformats.org/drawingml/2006/main" noGrp="1"/>
          </p:cNvSpPr>
          <p:nvPr/>
        </p:nvSpPr>
        <p:spPr>
          <a:xfrm xmlns:a="http://schemas.openxmlformats.org/drawingml/2006/main">
            <a:off x="6419850" y="4991100"/>
            <a:ext cx="52387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60646C"/>
                </a:solidFill>
                <a:latin typeface="Arial"/>
                <a:ea typeface="Arial"/>
                <a:cs typeface="Arial"/>
              </a:defRPr>
            </a:pPr>
            <a:r>
              <a:t>Functional demo</a:t>
            </a:r>
          </a:p>
          <a:p xmlns:a="http://schemas.openxmlformats.org/drawingml/2006/main">
            <a:pPr>
              <a:defRPr sz="1800" b="0">
                <a:solidFill>
                  <a:srgbClr val="60646C"/>
                </a:solidFill>
                <a:latin typeface="Arial"/>
                <a:ea typeface="Arial"/>
                <a:cs typeface="Arial"/>
              </a:defRPr>
            </a:pPr>
            <a:r>
              <a:t>Fictional data; in-memory case edits</a:t>
            </a:r>
          </a:p>
        </p:txBody>
      </p:sp>
    </p:spTree>
    <p:extLst>
      <p:ext uri="{BB962C8B-B14F-4D97-AF65-F5344CB8AC3E}">
        <p14:creationId xmlns:p14="http://schemas.microsoft.com/office/powerpoint/2010/main" val="8865534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1F6111B5-5585-44E8-997C-109E7599A119}"/>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WORKFLOW  /  02</a:t>
            </a:r>
          </a:p>
        </p:txBody>
      </p:sp>
      <p:sp>
        <p:nvSpPr>
          <p:cNvPr id="2" name="title">
            <a:extLst xmlns:a="http://schemas.openxmlformats.org/drawingml/2006/main">
              <a:ext uri="{FF2B5EF4-FFF2-40B4-BE49-F238E27FC236}">
                <a16:creationId xmlns:a16="http://schemas.microsoft.com/office/drawing/2014/main" id="{F2E6F4AF-DFBE-446B-8AD2-6E5291E9CC49}"/>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Six states form one review journey</a:t>
            </a:r>
          </a:p>
        </p:txBody>
      </p:sp>
      <p:sp>
        <p:nvSpPr>
          <p:cNvPr id="3" name="footer">
            <a:extLst xmlns:a="http://schemas.openxmlformats.org/drawingml/2006/main">
              <a:ext uri="{FF2B5EF4-FFF2-40B4-BE49-F238E27FC236}">
                <a16:creationId xmlns:a16="http://schemas.microsoft.com/office/drawing/2014/main" id="{DE9139CA-56F6-49AA-AB2F-12539F0D9081}"/>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Six states form one review journey</a:t>
            </a:r>
          </a:p>
        </p:txBody>
      </p:sp>
      <p:sp>
        <p:nvSpPr>
          <p:cNvPr id="4" name="page">
            <a:extLst xmlns:a="http://schemas.openxmlformats.org/drawingml/2006/main">
              <a:ext uri="{FF2B5EF4-FFF2-40B4-BE49-F238E27FC236}">
                <a16:creationId xmlns:a16="http://schemas.microsoft.com/office/drawing/2014/main" id="{D36AF3FB-34B2-4242-8FC9-15BFA4B62169}"/>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02</a:t>
            </a:r>
          </a:p>
        </p:txBody>
      </p:sp>
      <p:sp>
        <p:nvSpPr>
          <p:cNvPr id="5" name="arrow-0">
            <a:extLst xmlns:a="http://schemas.openxmlformats.org/drawingml/2006/main">
              <a:ext uri="{FF2B5EF4-FFF2-40B4-BE49-F238E27FC236}">
                <a16:creationId xmlns:a16="http://schemas.microsoft.com/office/drawing/2014/main" id="{4A674784-3CD4-46F7-A240-4DF3EDF74DEC}"/>
              </a:ext>
            </a:extLst>
          </p:cNvPr>
          <p:cNvSpPr>
            <a:spLocks xmlns:a="http://schemas.openxmlformats.org/drawingml/2006/main" noGrp="1"/>
          </p:cNvSpPr>
          <p:nvPr/>
        </p:nvSpPr>
        <p:spPr>
          <a:xfrm xmlns:a="http://schemas.openxmlformats.org/drawingml/2006/main">
            <a:off x="2171700" y="2809875"/>
            <a:ext cx="2857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6" name="arrow-1">
            <a:extLst xmlns:a="http://schemas.openxmlformats.org/drawingml/2006/main">
              <a:ext uri="{FF2B5EF4-FFF2-40B4-BE49-F238E27FC236}">
                <a16:creationId xmlns:a16="http://schemas.microsoft.com/office/drawing/2014/main" id="{657ABB24-C4E0-42DA-9750-D0500CB35BD8}"/>
              </a:ext>
            </a:extLst>
          </p:cNvPr>
          <p:cNvSpPr>
            <a:spLocks xmlns:a="http://schemas.openxmlformats.org/drawingml/2006/main" noGrp="1"/>
          </p:cNvSpPr>
          <p:nvPr/>
        </p:nvSpPr>
        <p:spPr>
          <a:xfrm xmlns:a="http://schemas.openxmlformats.org/drawingml/2006/main">
            <a:off x="4038600" y="2809875"/>
            <a:ext cx="2857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7" name="arrow-2">
            <a:extLst xmlns:a="http://schemas.openxmlformats.org/drawingml/2006/main">
              <a:ext uri="{FF2B5EF4-FFF2-40B4-BE49-F238E27FC236}">
                <a16:creationId xmlns:a16="http://schemas.microsoft.com/office/drawing/2014/main" id="{94EBAB1F-B426-4292-935E-DCF3718DFA1E}"/>
              </a:ext>
            </a:extLst>
          </p:cNvPr>
          <p:cNvSpPr>
            <a:spLocks xmlns:a="http://schemas.openxmlformats.org/drawingml/2006/main" noGrp="1"/>
          </p:cNvSpPr>
          <p:nvPr/>
        </p:nvSpPr>
        <p:spPr>
          <a:xfrm xmlns:a="http://schemas.openxmlformats.org/drawingml/2006/main">
            <a:off x="5905500" y="2809875"/>
            <a:ext cx="2857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8" name="arrow-3">
            <a:extLst xmlns:a="http://schemas.openxmlformats.org/drawingml/2006/main">
              <a:ext uri="{FF2B5EF4-FFF2-40B4-BE49-F238E27FC236}">
                <a16:creationId xmlns:a16="http://schemas.microsoft.com/office/drawing/2014/main" id="{0D45EB29-BF4C-4C62-ABEC-BABFBDF10522}"/>
              </a:ext>
            </a:extLst>
          </p:cNvPr>
          <p:cNvSpPr>
            <a:spLocks xmlns:a="http://schemas.openxmlformats.org/drawingml/2006/main" noGrp="1"/>
          </p:cNvSpPr>
          <p:nvPr/>
        </p:nvSpPr>
        <p:spPr>
          <a:xfrm xmlns:a="http://schemas.openxmlformats.org/drawingml/2006/main">
            <a:off x="7772400" y="2809875"/>
            <a:ext cx="2857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9" name="arrow-4">
            <a:extLst xmlns:a="http://schemas.openxmlformats.org/drawingml/2006/main">
              <a:ext uri="{FF2B5EF4-FFF2-40B4-BE49-F238E27FC236}">
                <a16:creationId xmlns:a16="http://schemas.microsoft.com/office/drawing/2014/main" id="{1FA73596-111C-4DAA-859E-B1F231B4D86E}"/>
              </a:ext>
            </a:extLst>
          </p:cNvPr>
          <p:cNvSpPr>
            <a:spLocks xmlns:a="http://schemas.openxmlformats.org/drawingml/2006/main" noGrp="1"/>
          </p:cNvSpPr>
          <p:nvPr/>
        </p:nvSpPr>
        <p:spPr>
          <a:xfrm xmlns:a="http://schemas.openxmlformats.org/drawingml/2006/main">
            <a:off x="9639300" y="2809875"/>
            <a:ext cx="2857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10" name="step-0">
            <a:extLst xmlns:a="http://schemas.openxmlformats.org/drawingml/2006/main">
              <a:ext uri="{FF2B5EF4-FFF2-40B4-BE49-F238E27FC236}">
                <a16:creationId xmlns:a16="http://schemas.microsoft.com/office/drawing/2014/main" id="{A54BF7F8-2271-418E-986A-4FCA0EB88CE6}"/>
              </a:ext>
            </a:extLst>
          </p:cNvPr>
          <p:cNvSpPr>
            <a:spLocks xmlns:a="http://schemas.openxmlformats.org/drawingml/2006/main" noGrp="1"/>
          </p:cNvSpPr>
          <p:nvPr/>
        </p:nvSpPr>
        <p:spPr>
          <a:xfrm xmlns:a="http://schemas.openxmlformats.org/drawingml/2006/main">
            <a:off x="5334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1" name="number-0">
            <a:extLst xmlns:a="http://schemas.openxmlformats.org/drawingml/2006/main">
              <a:ext uri="{FF2B5EF4-FFF2-40B4-BE49-F238E27FC236}">
                <a16:creationId xmlns:a16="http://schemas.microsoft.com/office/drawing/2014/main" id="{12A1A420-E4B2-4E00-875B-9EFA8E33695F}"/>
              </a:ext>
            </a:extLst>
          </p:cNvPr>
          <p:cNvSpPr>
            <a:spLocks xmlns:a="http://schemas.openxmlformats.org/drawingml/2006/main" noGrp="1"/>
          </p:cNvSpPr>
          <p:nvPr/>
        </p:nvSpPr>
        <p:spPr>
          <a:xfrm xmlns:a="http://schemas.openxmlformats.org/drawingml/2006/main">
            <a:off x="6667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01</a:t>
            </a:r>
          </a:p>
        </p:txBody>
      </p:sp>
      <p:sp>
        <p:nvSpPr>
          <p:cNvPr id="12" name="step-title-0">
            <a:extLst xmlns:a="http://schemas.openxmlformats.org/drawingml/2006/main">
              <a:ext uri="{FF2B5EF4-FFF2-40B4-BE49-F238E27FC236}">
                <a16:creationId xmlns:a16="http://schemas.microsoft.com/office/drawing/2014/main" id="{7D4E2E1F-5395-403B-966F-2BBBF35A58C1}"/>
              </a:ext>
            </a:extLst>
          </p:cNvPr>
          <p:cNvSpPr>
            <a:spLocks xmlns:a="http://schemas.openxmlformats.org/drawingml/2006/main" noGrp="1"/>
          </p:cNvSpPr>
          <p:nvPr/>
        </p:nvSpPr>
        <p:spPr>
          <a:xfrm xmlns:a="http://schemas.openxmlformats.org/drawingml/2006/main">
            <a:off x="6667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Search</a:t>
            </a:r>
          </a:p>
        </p:txBody>
      </p:sp>
      <p:sp>
        <p:nvSpPr>
          <p:cNvPr id="13" name="step-detail-0">
            <a:extLst xmlns:a="http://schemas.openxmlformats.org/drawingml/2006/main">
              <a:ext uri="{FF2B5EF4-FFF2-40B4-BE49-F238E27FC236}">
                <a16:creationId xmlns:a16="http://schemas.microsoft.com/office/drawing/2014/main" id="{0A5264CE-5E56-466B-8515-B0D134273894}"/>
              </a:ext>
            </a:extLst>
          </p:cNvPr>
          <p:cNvSpPr>
            <a:spLocks xmlns:a="http://schemas.openxmlformats.org/drawingml/2006/main" noGrp="1"/>
          </p:cNvSpPr>
          <p:nvPr/>
        </p:nvSpPr>
        <p:spPr>
          <a:xfrm xmlns:a="http://schemas.openxmlformats.org/drawingml/2006/main">
            <a:off x="6667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Name or GCIF</a:t>
            </a:r>
          </a:p>
        </p:txBody>
      </p:sp>
      <p:sp>
        <p:nvSpPr>
          <p:cNvPr id="14" name="step-1">
            <a:extLst xmlns:a="http://schemas.openxmlformats.org/drawingml/2006/main">
              <a:ext uri="{FF2B5EF4-FFF2-40B4-BE49-F238E27FC236}">
                <a16:creationId xmlns:a16="http://schemas.microsoft.com/office/drawing/2014/main" id="{19C027F2-9E23-44E3-B393-FFF7E0DD76FA}"/>
              </a:ext>
            </a:extLst>
          </p:cNvPr>
          <p:cNvSpPr>
            <a:spLocks xmlns:a="http://schemas.openxmlformats.org/drawingml/2006/main" noGrp="1"/>
          </p:cNvSpPr>
          <p:nvPr/>
        </p:nvSpPr>
        <p:spPr>
          <a:xfrm xmlns:a="http://schemas.openxmlformats.org/drawingml/2006/main">
            <a:off x="24003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5" name="number-1">
            <a:extLst xmlns:a="http://schemas.openxmlformats.org/drawingml/2006/main">
              <a:ext uri="{FF2B5EF4-FFF2-40B4-BE49-F238E27FC236}">
                <a16:creationId xmlns:a16="http://schemas.microsoft.com/office/drawing/2014/main" id="{B4F7827C-73B8-480B-86D9-C672A6AF5493}"/>
              </a:ext>
            </a:extLst>
          </p:cNvPr>
          <p:cNvSpPr>
            <a:spLocks xmlns:a="http://schemas.openxmlformats.org/drawingml/2006/main" noGrp="1"/>
          </p:cNvSpPr>
          <p:nvPr/>
        </p:nvSpPr>
        <p:spPr>
          <a:xfrm xmlns:a="http://schemas.openxmlformats.org/drawingml/2006/main">
            <a:off x="25336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02</a:t>
            </a:r>
          </a:p>
        </p:txBody>
      </p:sp>
      <p:sp>
        <p:nvSpPr>
          <p:cNvPr id="16" name="step-title-1">
            <a:extLst xmlns:a="http://schemas.openxmlformats.org/drawingml/2006/main">
              <a:ext uri="{FF2B5EF4-FFF2-40B4-BE49-F238E27FC236}">
                <a16:creationId xmlns:a16="http://schemas.microsoft.com/office/drawing/2014/main" id="{28FA63D4-2232-4C3A-A35D-496827834D02}"/>
              </a:ext>
            </a:extLst>
          </p:cNvPr>
          <p:cNvSpPr>
            <a:spLocks xmlns:a="http://schemas.openxmlformats.org/drawingml/2006/main" noGrp="1"/>
          </p:cNvSpPr>
          <p:nvPr/>
        </p:nvSpPr>
        <p:spPr>
          <a:xfrm xmlns:a="http://schemas.openxmlformats.org/drawingml/2006/main">
            <a:off x="25336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Confirm</a:t>
            </a:r>
          </a:p>
        </p:txBody>
      </p:sp>
      <p:sp>
        <p:nvSpPr>
          <p:cNvPr id="17" name="step-detail-1">
            <a:extLst xmlns:a="http://schemas.openxmlformats.org/drawingml/2006/main">
              <a:ext uri="{FF2B5EF4-FFF2-40B4-BE49-F238E27FC236}">
                <a16:creationId xmlns:a16="http://schemas.microsoft.com/office/drawing/2014/main" id="{0A8C38FD-4B2D-4EC1-88C1-68181EED0B03}"/>
              </a:ext>
            </a:extLst>
          </p:cNvPr>
          <p:cNvSpPr>
            <a:spLocks xmlns:a="http://schemas.openxmlformats.org/drawingml/2006/main" noGrp="1"/>
          </p:cNvSpPr>
          <p:nvPr/>
        </p:nvSpPr>
        <p:spPr>
          <a:xfrm xmlns:a="http://schemas.openxmlformats.org/drawingml/2006/main">
            <a:off x="25336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Correct entity</a:t>
            </a:r>
          </a:p>
        </p:txBody>
      </p:sp>
      <p:sp>
        <p:nvSpPr>
          <p:cNvPr id="18" name="step-2">
            <a:extLst xmlns:a="http://schemas.openxmlformats.org/drawingml/2006/main">
              <a:ext uri="{FF2B5EF4-FFF2-40B4-BE49-F238E27FC236}">
                <a16:creationId xmlns:a16="http://schemas.microsoft.com/office/drawing/2014/main" id="{C1E0FC82-6BC3-4D79-AF01-866232EADA5C}"/>
              </a:ext>
            </a:extLst>
          </p:cNvPr>
          <p:cNvSpPr>
            <a:spLocks xmlns:a="http://schemas.openxmlformats.org/drawingml/2006/main" noGrp="1"/>
          </p:cNvSpPr>
          <p:nvPr/>
        </p:nvSpPr>
        <p:spPr>
          <a:xfrm xmlns:a="http://schemas.openxmlformats.org/drawingml/2006/main">
            <a:off x="42672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9" name="number-2">
            <a:extLst xmlns:a="http://schemas.openxmlformats.org/drawingml/2006/main">
              <a:ext uri="{FF2B5EF4-FFF2-40B4-BE49-F238E27FC236}">
                <a16:creationId xmlns:a16="http://schemas.microsoft.com/office/drawing/2014/main" id="{B6015EA0-8317-4EF4-A8B5-B87D842604FE}"/>
              </a:ext>
            </a:extLst>
          </p:cNvPr>
          <p:cNvSpPr>
            <a:spLocks xmlns:a="http://schemas.openxmlformats.org/drawingml/2006/main" noGrp="1"/>
          </p:cNvSpPr>
          <p:nvPr/>
        </p:nvSpPr>
        <p:spPr>
          <a:xfrm xmlns:a="http://schemas.openxmlformats.org/drawingml/2006/main">
            <a:off x="44005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03</a:t>
            </a:r>
          </a:p>
        </p:txBody>
      </p:sp>
      <p:sp>
        <p:nvSpPr>
          <p:cNvPr id="20" name="step-title-2">
            <a:extLst xmlns:a="http://schemas.openxmlformats.org/drawingml/2006/main">
              <a:ext uri="{FF2B5EF4-FFF2-40B4-BE49-F238E27FC236}">
                <a16:creationId xmlns:a16="http://schemas.microsoft.com/office/drawing/2014/main" id="{D0A93E7F-F63D-4E11-B585-31050590225C}"/>
              </a:ext>
            </a:extLst>
          </p:cNvPr>
          <p:cNvSpPr>
            <a:spLocks xmlns:a="http://schemas.openxmlformats.org/drawingml/2006/main" noGrp="1"/>
          </p:cNvSpPr>
          <p:nvPr/>
        </p:nvSpPr>
        <p:spPr>
          <a:xfrm xmlns:a="http://schemas.openxmlformats.org/drawingml/2006/main">
            <a:off x="44005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Overview</a:t>
            </a:r>
          </a:p>
        </p:txBody>
      </p:sp>
      <p:sp>
        <p:nvSpPr>
          <p:cNvPr id="21" name="step-detail-2">
            <a:extLst xmlns:a="http://schemas.openxmlformats.org/drawingml/2006/main">
              <a:ext uri="{FF2B5EF4-FFF2-40B4-BE49-F238E27FC236}">
                <a16:creationId xmlns:a16="http://schemas.microsoft.com/office/drawing/2014/main" id="{3F964898-476E-4F17-92DA-266C37359FEE}"/>
              </a:ext>
            </a:extLst>
          </p:cNvPr>
          <p:cNvSpPr>
            <a:spLocks xmlns:a="http://schemas.openxmlformats.org/drawingml/2006/main" noGrp="1"/>
          </p:cNvSpPr>
          <p:nvPr/>
        </p:nvSpPr>
        <p:spPr>
          <a:xfrm xmlns:a="http://schemas.openxmlformats.org/drawingml/2006/main">
            <a:off x="44005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Profile + group</a:t>
            </a:r>
          </a:p>
        </p:txBody>
      </p:sp>
      <p:sp>
        <p:nvSpPr>
          <p:cNvPr id="22" name="step-3">
            <a:extLst xmlns:a="http://schemas.openxmlformats.org/drawingml/2006/main">
              <a:ext uri="{FF2B5EF4-FFF2-40B4-BE49-F238E27FC236}">
                <a16:creationId xmlns:a16="http://schemas.microsoft.com/office/drawing/2014/main" id="{B4EB67F7-A7AF-4BC3-9FD2-80A955EAEFD4}"/>
              </a:ext>
            </a:extLst>
          </p:cNvPr>
          <p:cNvSpPr>
            <a:spLocks xmlns:a="http://schemas.openxmlformats.org/drawingml/2006/main" noGrp="1"/>
          </p:cNvSpPr>
          <p:nvPr/>
        </p:nvSpPr>
        <p:spPr>
          <a:xfrm xmlns:a="http://schemas.openxmlformats.org/drawingml/2006/main">
            <a:off x="61341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23" name="number-3">
            <a:extLst xmlns:a="http://schemas.openxmlformats.org/drawingml/2006/main">
              <a:ext uri="{FF2B5EF4-FFF2-40B4-BE49-F238E27FC236}">
                <a16:creationId xmlns:a16="http://schemas.microsoft.com/office/drawing/2014/main" id="{514E6925-0774-49C1-B7CE-9CFF47414912}"/>
              </a:ext>
            </a:extLst>
          </p:cNvPr>
          <p:cNvSpPr>
            <a:spLocks xmlns:a="http://schemas.openxmlformats.org/drawingml/2006/main" noGrp="1"/>
          </p:cNvSpPr>
          <p:nvPr/>
        </p:nvSpPr>
        <p:spPr>
          <a:xfrm xmlns:a="http://schemas.openxmlformats.org/drawingml/2006/main">
            <a:off x="62674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04</a:t>
            </a:r>
          </a:p>
        </p:txBody>
      </p:sp>
      <p:sp>
        <p:nvSpPr>
          <p:cNvPr id="24" name="step-title-3">
            <a:extLst xmlns:a="http://schemas.openxmlformats.org/drawingml/2006/main">
              <a:ext uri="{FF2B5EF4-FFF2-40B4-BE49-F238E27FC236}">
                <a16:creationId xmlns:a16="http://schemas.microsoft.com/office/drawing/2014/main" id="{F76DF8EC-1EEA-49D9-A1CE-261C3BA08D45}"/>
              </a:ext>
            </a:extLst>
          </p:cNvPr>
          <p:cNvSpPr>
            <a:spLocks xmlns:a="http://schemas.openxmlformats.org/drawingml/2006/main" noGrp="1"/>
          </p:cNvSpPr>
          <p:nvPr/>
        </p:nvSpPr>
        <p:spPr>
          <a:xfrm xmlns:a="http://schemas.openxmlformats.org/drawingml/2006/main">
            <a:off x="62674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Screen</a:t>
            </a:r>
          </a:p>
        </p:txBody>
      </p:sp>
      <p:sp>
        <p:nvSpPr>
          <p:cNvPr id="25" name="step-detail-3">
            <a:extLst xmlns:a="http://schemas.openxmlformats.org/drawingml/2006/main">
              <a:ext uri="{FF2B5EF4-FFF2-40B4-BE49-F238E27FC236}">
                <a16:creationId xmlns:a16="http://schemas.microsoft.com/office/drawing/2014/main" id="{29ECEA72-7B77-4D8B-BC70-8EB710D8FE92}"/>
              </a:ext>
            </a:extLst>
          </p:cNvPr>
          <p:cNvSpPr>
            <a:spLocks xmlns:a="http://schemas.openxmlformats.org/drawingml/2006/main" noGrp="1"/>
          </p:cNvSpPr>
          <p:nvPr/>
        </p:nvSpPr>
        <p:spPr>
          <a:xfrm xmlns:a="http://schemas.openxmlformats.org/drawingml/2006/main">
            <a:off x="62674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Run provider</a:t>
            </a:r>
          </a:p>
        </p:txBody>
      </p:sp>
      <p:sp>
        <p:nvSpPr>
          <p:cNvPr id="26" name="step-4">
            <a:extLst xmlns:a="http://schemas.openxmlformats.org/drawingml/2006/main">
              <a:ext uri="{FF2B5EF4-FFF2-40B4-BE49-F238E27FC236}">
                <a16:creationId xmlns:a16="http://schemas.microsoft.com/office/drawing/2014/main" id="{8B8EB324-91FA-456B-8DEC-EADB5CCB7559}"/>
              </a:ext>
            </a:extLst>
          </p:cNvPr>
          <p:cNvSpPr>
            <a:spLocks xmlns:a="http://schemas.openxmlformats.org/drawingml/2006/main" noGrp="1"/>
          </p:cNvSpPr>
          <p:nvPr/>
        </p:nvSpPr>
        <p:spPr>
          <a:xfrm xmlns:a="http://schemas.openxmlformats.org/drawingml/2006/main">
            <a:off x="80010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27" name="number-4">
            <a:extLst xmlns:a="http://schemas.openxmlformats.org/drawingml/2006/main">
              <a:ext uri="{FF2B5EF4-FFF2-40B4-BE49-F238E27FC236}">
                <a16:creationId xmlns:a16="http://schemas.microsoft.com/office/drawing/2014/main" id="{AFA9EE44-C7EE-409E-88E3-F09039D0627B}"/>
              </a:ext>
            </a:extLst>
          </p:cNvPr>
          <p:cNvSpPr>
            <a:spLocks xmlns:a="http://schemas.openxmlformats.org/drawingml/2006/main" noGrp="1"/>
          </p:cNvSpPr>
          <p:nvPr/>
        </p:nvSpPr>
        <p:spPr>
          <a:xfrm xmlns:a="http://schemas.openxmlformats.org/drawingml/2006/main">
            <a:off x="81343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05</a:t>
            </a:r>
          </a:p>
        </p:txBody>
      </p:sp>
      <p:sp>
        <p:nvSpPr>
          <p:cNvPr id="28" name="step-title-4">
            <a:extLst xmlns:a="http://schemas.openxmlformats.org/drawingml/2006/main">
              <a:ext uri="{FF2B5EF4-FFF2-40B4-BE49-F238E27FC236}">
                <a16:creationId xmlns:a16="http://schemas.microsoft.com/office/drawing/2014/main" id="{17DFA494-B2C9-4EA4-9212-835781B999C1}"/>
              </a:ext>
            </a:extLst>
          </p:cNvPr>
          <p:cNvSpPr>
            <a:spLocks xmlns:a="http://schemas.openxmlformats.org/drawingml/2006/main" noGrp="1"/>
          </p:cNvSpPr>
          <p:nvPr/>
        </p:nvSpPr>
        <p:spPr>
          <a:xfrm xmlns:a="http://schemas.openxmlformats.org/drawingml/2006/main">
            <a:off x="81343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Assess</a:t>
            </a:r>
          </a:p>
        </p:txBody>
      </p:sp>
      <p:sp>
        <p:nvSpPr>
          <p:cNvPr id="29" name="step-detail-4">
            <a:extLst xmlns:a="http://schemas.openxmlformats.org/drawingml/2006/main">
              <a:ext uri="{FF2B5EF4-FFF2-40B4-BE49-F238E27FC236}">
                <a16:creationId xmlns:a16="http://schemas.microsoft.com/office/drawing/2014/main" id="{4497FD28-AD2A-4BE1-AE03-9DB4C36C8215}"/>
              </a:ext>
            </a:extLst>
          </p:cNvPr>
          <p:cNvSpPr>
            <a:spLocks xmlns:a="http://schemas.openxmlformats.org/drawingml/2006/main" noGrp="1"/>
          </p:cNvSpPr>
          <p:nvPr/>
        </p:nvSpPr>
        <p:spPr>
          <a:xfrm xmlns:a="http://schemas.openxmlformats.org/drawingml/2006/main">
            <a:off x="81343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Review findings</a:t>
            </a:r>
          </a:p>
        </p:txBody>
      </p:sp>
      <p:sp>
        <p:nvSpPr>
          <p:cNvPr id="30" name="step-5">
            <a:extLst xmlns:a="http://schemas.openxmlformats.org/drawingml/2006/main">
              <a:ext uri="{FF2B5EF4-FFF2-40B4-BE49-F238E27FC236}">
                <a16:creationId xmlns:a16="http://schemas.microsoft.com/office/drawing/2014/main" id="{4AD91D99-4369-4303-AD89-617E68276185}"/>
              </a:ext>
            </a:extLst>
          </p:cNvPr>
          <p:cNvSpPr>
            <a:spLocks xmlns:a="http://schemas.openxmlformats.org/drawingml/2006/main" noGrp="1"/>
          </p:cNvSpPr>
          <p:nvPr/>
        </p:nvSpPr>
        <p:spPr>
          <a:xfrm xmlns:a="http://schemas.openxmlformats.org/drawingml/2006/main">
            <a:off x="9867900" y="2095500"/>
            <a:ext cx="1638300" cy="192405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31" name="number-5">
            <a:extLst xmlns:a="http://schemas.openxmlformats.org/drawingml/2006/main">
              <a:ext uri="{FF2B5EF4-FFF2-40B4-BE49-F238E27FC236}">
                <a16:creationId xmlns:a16="http://schemas.microsoft.com/office/drawing/2014/main" id="{1B318829-D734-447F-9A85-A8A2C86F1920}"/>
              </a:ext>
            </a:extLst>
          </p:cNvPr>
          <p:cNvSpPr>
            <a:spLocks xmlns:a="http://schemas.openxmlformats.org/drawingml/2006/main" noGrp="1"/>
          </p:cNvSpPr>
          <p:nvPr/>
        </p:nvSpPr>
        <p:spPr>
          <a:xfrm xmlns:a="http://schemas.openxmlformats.org/drawingml/2006/main">
            <a:off x="10001250" y="2257425"/>
            <a:ext cx="13716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C90024"/>
                </a:solidFill>
                <a:latin typeface="Arial"/>
                <a:ea typeface="Arial"/>
                <a:cs typeface="Arial"/>
              </a:defRPr>
            </a:pPr>
            <a:r>
              <a:t>06</a:t>
            </a:r>
          </a:p>
        </p:txBody>
      </p:sp>
      <p:sp>
        <p:nvSpPr>
          <p:cNvPr id="32" name="step-title-5">
            <a:extLst xmlns:a="http://schemas.openxmlformats.org/drawingml/2006/main">
              <a:ext uri="{FF2B5EF4-FFF2-40B4-BE49-F238E27FC236}">
                <a16:creationId xmlns:a16="http://schemas.microsoft.com/office/drawing/2014/main" id="{4D4423BB-0BF4-4F20-A67B-4353F539FC0D}"/>
              </a:ext>
            </a:extLst>
          </p:cNvPr>
          <p:cNvSpPr>
            <a:spLocks xmlns:a="http://schemas.openxmlformats.org/drawingml/2006/main" noGrp="1"/>
          </p:cNvSpPr>
          <p:nvPr/>
        </p:nvSpPr>
        <p:spPr>
          <a:xfrm xmlns:a="http://schemas.openxmlformats.org/drawingml/2006/main">
            <a:off x="10001250" y="2876550"/>
            <a:ext cx="13716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Memo</a:t>
            </a:r>
          </a:p>
        </p:txBody>
      </p:sp>
      <p:sp>
        <p:nvSpPr>
          <p:cNvPr id="33" name="step-detail-5">
            <a:extLst xmlns:a="http://schemas.openxmlformats.org/drawingml/2006/main">
              <a:ext uri="{FF2B5EF4-FFF2-40B4-BE49-F238E27FC236}">
                <a16:creationId xmlns:a16="http://schemas.microsoft.com/office/drawing/2014/main" id="{05E9E069-2D51-473B-996F-E6F9AF3C9280}"/>
              </a:ext>
            </a:extLst>
          </p:cNvPr>
          <p:cNvSpPr>
            <a:spLocks xmlns:a="http://schemas.openxmlformats.org/drawingml/2006/main" noGrp="1"/>
          </p:cNvSpPr>
          <p:nvPr/>
        </p:nvSpPr>
        <p:spPr>
          <a:xfrm xmlns:a="http://schemas.openxmlformats.org/drawingml/2006/main">
            <a:off x="10001250" y="3409950"/>
            <a:ext cx="13716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Explain + print</a:t>
            </a:r>
          </a:p>
        </p:txBody>
      </p:sp>
      <p:sp>
        <p:nvSpPr>
          <p:cNvPr id="34" name="journey-result">
            <a:extLst xmlns:a="http://schemas.openxmlformats.org/drawingml/2006/main">
              <a:ext uri="{FF2B5EF4-FFF2-40B4-BE49-F238E27FC236}">
                <a16:creationId xmlns:a16="http://schemas.microsoft.com/office/drawing/2014/main" id="{49C549C9-06F9-422A-96F2-05A49A488F00}"/>
              </a:ext>
            </a:extLst>
          </p:cNvPr>
          <p:cNvSpPr>
            <a:spLocks xmlns:a="http://schemas.openxmlformats.org/drawingml/2006/main" noGrp="1"/>
          </p:cNvSpPr>
          <p:nvPr/>
        </p:nvSpPr>
        <p:spPr>
          <a:xfrm xmlns:a="http://schemas.openxmlformats.org/drawingml/2006/main">
            <a:off x="533400" y="4667250"/>
            <a:ext cx="11125200" cy="685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Result: a draft memo containing only the findings the reviewer includes.</a:t>
            </a:r>
          </a:p>
        </p:txBody>
      </p:sp>
      <p:sp>
        <p:nvSpPr>
          <p:cNvPr id="35" name="journey-scope">
            <a:extLst xmlns:a="http://schemas.openxmlformats.org/drawingml/2006/main">
              <a:ext uri="{FF2B5EF4-FFF2-40B4-BE49-F238E27FC236}">
                <a16:creationId xmlns:a16="http://schemas.microsoft.com/office/drawing/2014/main" id="{F4C95250-822D-4A56-8386-F4AA86C2C6A0}"/>
              </a:ext>
            </a:extLst>
          </p:cNvPr>
          <p:cNvSpPr>
            <a:spLocks xmlns:a="http://schemas.openxmlformats.org/drawingml/2006/main" noGrp="1"/>
          </p:cNvSpPr>
          <p:nvPr/>
        </p:nvSpPr>
        <p:spPr>
          <a:xfrm xmlns:a="http://schemas.openxmlformats.org/drawingml/2006/main">
            <a:off x="533400" y="5581650"/>
            <a:ext cx="111252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60646C"/>
                </a:solidFill>
                <a:latin typeface="Arial"/>
                <a:ea typeface="Arial"/>
                <a:cs typeface="Arial"/>
              </a:defRPr>
            </a:pPr>
            <a:r>
              <a:t>The sample workflow has no final approval, submission, or case-save action.</a:t>
            </a:r>
          </a:p>
        </p:txBody>
      </p:sp>
    </p:spTree>
    <p:extLst>
      <p:ext uri="{BB962C8B-B14F-4D97-AF65-F5344CB8AC3E}">
        <p14:creationId xmlns:p14="http://schemas.microsoft.com/office/powerpoint/2010/main" val="12655380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5F287044-12A0-4A75-95CE-3EFB1B1CB932}"/>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01  /  ENTITY SEARCH  /  03</a:t>
            </a:r>
          </a:p>
        </p:txBody>
      </p:sp>
      <p:sp>
        <p:nvSpPr>
          <p:cNvPr id="2" name="title">
            <a:extLst xmlns:a="http://schemas.openxmlformats.org/drawingml/2006/main">
              <a:ext uri="{FF2B5EF4-FFF2-40B4-BE49-F238E27FC236}">
                <a16:creationId xmlns:a16="http://schemas.microsoft.com/office/drawing/2014/main" id="{1E82C131-7894-4D81-8BAA-2E217F1034C3}"/>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Start with an entity name or GCIF</a:t>
            </a:r>
          </a:p>
        </p:txBody>
      </p:sp>
      <p:sp>
        <p:nvSpPr>
          <p:cNvPr id="3" name="footer">
            <a:extLst xmlns:a="http://schemas.openxmlformats.org/drawingml/2006/main">
              <a:ext uri="{FF2B5EF4-FFF2-40B4-BE49-F238E27FC236}">
                <a16:creationId xmlns:a16="http://schemas.microsoft.com/office/drawing/2014/main" id="{BF878740-A972-4DBE-B2A8-17DD56E4E2E2}"/>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Start with an entity name or GCIF</a:t>
            </a:r>
          </a:p>
        </p:txBody>
      </p:sp>
      <p:sp>
        <p:nvSpPr>
          <p:cNvPr id="4" name="page">
            <a:extLst xmlns:a="http://schemas.openxmlformats.org/drawingml/2006/main">
              <a:ext uri="{FF2B5EF4-FFF2-40B4-BE49-F238E27FC236}">
                <a16:creationId xmlns:a16="http://schemas.microsoft.com/office/drawing/2014/main" id="{AC506372-4257-4A6A-9EB3-635DED67A116}"/>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03</a:t>
            </a:r>
          </a:p>
        </p:txBody>
      </p:sp>
      <p:pic>
        <p:nvPicPr>
          <p:cNvPr id="14" name="screenshot-01-search"/>
          <p:cNvPicPr>
            <a:picLocks xmlns:a="http://schemas.openxmlformats.org/drawingml/2006/main" noChangeAspect="1"/>
          </p:cNvPicPr>
          <p:nvPr/>
        </p:nvPicPr>
        <p:blipFill>
          <a:blip xmlns:r="http://schemas.openxmlformats.org/officeDocument/2006/relationships" xmlns:a="http://schemas.openxmlformats.org/drawingml/2006/main" r:embed="R308c9d81bd164061"/>
          <a:stretch xmlns:a="http://schemas.openxmlformats.org/drawingml/2006/main"/>
        </p:blipFill>
        <p:spPr>
          <a:xfrm xmlns:a="http://schemas.openxmlformats.org/drawingml/2006/main">
            <a:off x="632817" y="1543050"/>
            <a:ext cx="10926366" cy="3067050"/>
          </a:xfrm>
          <a:prstGeom xmlns:a="http://schemas.openxmlformats.org/drawingml/2006/main" prst="rect">
            <a:avLst/>
          </a:prstGeom>
        </p:spPr>
      </p:pic>
      <p:sp>
        <p:nvSpPr>
          <p:cNvPr id="6" name="User action-heading">
            <a:extLst xmlns:a="http://schemas.openxmlformats.org/drawingml/2006/main">
              <a:ext uri="{FF2B5EF4-FFF2-40B4-BE49-F238E27FC236}">
                <a16:creationId xmlns:a16="http://schemas.microsoft.com/office/drawing/2014/main" id="{5AB30BEE-E9A9-4608-8209-799300FE2F3E}"/>
              </a:ext>
            </a:extLst>
          </p:cNvPr>
          <p:cNvSpPr>
            <a:spLocks xmlns:a="http://schemas.openxmlformats.org/drawingml/2006/main" noGrp="1"/>
          </p:cNvSpPr>
          <p:nvPr/>
        </p:nvSpPr>
        <p:spPr>
          <a:xfrm xmlns:a="http://schemas.openxmlformats.org/drawingml/2006/main">
            <a:off x="533400" y="485775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User action</a:t>
            </a:r>
          </a:p>
        </p:txBody>
      </p:sp>
      <p:sp>
        <p:nvSpPr>
          <p:cNvPr id="7" name="User action-577">
            <a:extLst xmlns:a="http://schemas.openxmlformats.org/drawingml/2006/main">
              <a:ext uri="{FF2B5EF4-FFF2-40B4-BE49-F238E27FC236}">
                <a16:creationId xmlns:a16="http://schemas.microsoft.com/office/drawing/2014/main" id="{AEFB3F31-D8B4-4948-AE6A-91492C7969E5}"/>
              </a:ext>
            </a:extLst>
          </p:cNvPr>
          <p:cNvSpPr>
            <a:spLocks xmlns:a="http://schemas.openxmlformats.org/drawingml/2006/main" noGrp="1"/>
          </p:cNvSpPr>
          <p:nvPr/>
        </p:nvSpPr>
        <p:spPr>
          <a:xfrm xmlns:a="http://schemas.openxmlformats.org/drawingml/2006/main">
            <a:off x="533400" y="54959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Enter Meridian or ENT-001, then select Search.</a:t>
            </a:r>
          </a:p>
        </p:txBody>
      </p:sp>
      <p:sp>
        <p:nvSpPr>
          <p:cNvPr id="8" name="System response-heading">
            <a:extLst xmlns:a="http://schemas.openxmlformats.org/drawingml/2006/main">
              <a:ext uri="{FF2B5EF4-FFF2-40B4-BE49-F238E27FC236}">
                <a16:creationId xmlns:a16="http://schemas.microsoft.com/office/drawing/2014/main" id="{9E9A50C9-6655-4132-8647-693A41C34464}"/>
              </a:ext>
            </a:extLst>
          </p:cNvPr>
          <p:cNvSpPr>
            <a:spLocks xmlns:a="http://schemas.openxmlformats.org/drawingml/2006/main" noGrp="1"/>
          </p:cNvSpPr>
          <p:nvPr/>
        </p:nvSpPr>
        <p:spPr>
          <a:xfrm xmlns:a="http://schemas.openxmlformats.org/drawingml/2006/main">
            <a:off x="6419850" y="485775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System response</a:t>
            </a:r>
          </a:p>
        </p:txBody>
      </p:sp>
      <p:sp>
        <p:nvSpPr>
          <p:cNvPr id="9" name="System response-577">
            <a:extLst xmlns:a="http://schemas.openxmlformats.org/drawingml/2006/main">
              <a:ext uri="{FF2B5EF4-FFF2-40B4-BE49-F238E27FC236}">
                <a16:creationId xmlns:a16="http://schemas.microsoft.com/office/drawing/2014/main" id="{808CE3A1-56B1-4C23-BBD6-447119BD1501}"/>
              </a:ext>
            </a:extLst>
          </p:cNvPr>
          <p:cNvSpPr>
            <a:spLocks xmlns:a="http://schemas.openxmlformats.org/drawingml/2006/main" noGrp="1"/>
          </p:cNvSpPr>
          <p:nvPr/>
        </p:nvSpPr>
        <p:spPr>
          <a:xfrm xmlns:a="http://schemas.openxmlformats.org/drawingml/2006/main">
            <a:off x="6419850" y="54959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Validate the query and request matching reference records.</a:t>
            </a:r>
          </a:p>
        </p:txBody>
      </p:sp>
    </p:spTree>
    <p:extLst>
      <p:ext uri="{BB962C8B-B14F-4D97-AF65-F5344CB8AC3E}">
        <p14:creationId xmlns:p14="http://schemas.microsoft.com/office/powerpoint/2010/main" val="4011337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32D467C8-16E0-402D-A932-773F51A0A24F}"/>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02  /  SEARCH RESULTS  /  04</a:t>
            </a:r>
          </a:p>
        </p:txBody>
      </p:sp>
      <p:sp>
        <p:nvSpPr>
          <p:cNvPr id="2" name="title">
            <a:extLst xmlns:a="http://schemas.openxmlformats.org/drawingml/2006/main">
              <a:ext uri="{FF2B5EF4-FFF2-40B4-BE49-F238E27FC236}">
                <a16:creationId xmlns:a16="http://schemas.microsoft.com/office/drawing/2014/main" id="{888D3FF4-A170-4FDE-B454-A6A67D0A906A}"/>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Confirm the correct reference entity</a:t>
            </a:r>
          </a:p>
        </p:txBody>
      </p:sp>
      <p:sp>
        <p:nvSpPr>
          <p:cNvPr id="3" name="footer">
            <a:extLst xmlns:a="http://schemas.openxmlformats.org/drawingml/2006/main">
              <a:ext uri="{FF2B5EF4-FFF2-40B4-BE49-F238E27FC236}">
                <a16:creationId xmlns:a16="http://schemas.microsoft.com/office/drawing/2014/main" id="{D389BD6C-9A75-4A87-BD8C-0BF6709083A3}"/>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Confirm the correct reference entity</a:t>
            </a:r>
          </a:p>
        </p:txBody>
      </p:sp>
      <p:sp>
        <p:nvSpPr>
          <p:cNvPr id="4" name="page">
            <a:extLst xmlns:a="http://schemas.openxmlformats.org/drawingml/2006/main">
              <a:ext uri="{FF2B5EF4-FFF2-40B4-BE49-F238E27FC236}">
                <a16:creationId xmlns:a16="http://schemas.microsoft.com/office/drawing/2014/main" id="{DB1FEEF7-248B-4059-8562-525AA922CACC}"/>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04</a:t>
            </a:r>
          </a:p>
        </p:txBody>
      </p:sp>
      <p:pic>
        <p:nvPicPr>
          <p:cNvPr id="11" name="screenshot-02-result"/>
          <p:cNvPicPr>
            <a:picLocks xmlns:a="http://schemas.openxmlformats.org/drawingml/2006/main" noChangeAspect="1"/>
          </p:cNvPicPr>
          <p:nvPr/>
        </p:nvPicPr>
        <p:blipFill>
          <a:blip xmlns:r="http://schemas.openxmlformats.org/officeDocument/2006/relationships" xmlns:a="http://schemas.openxmlformats.org/drawingml/2006/main" r:embed="R82e2676b952a4d8c"/>
          <a:stretch xmlns:a="http://schemas.openxmlformats.org/drawingml/2006/main"/>
        </p:blipFill>
        <p:spPr>
          <a:xfrm xmlns:a="http://schemas.openxmlformats.org/drawingml/2006/main">
            <a:off x="666750" y="1485900"/>
            <a:ext cx="10858500" cy="3619500"/>
          </a:xfrm>
          <a:prstGeom xmlns:a="http://schemas.openxmlformats.org/drawingml/2006/main" prst="rect">
            <a:avLst/>
          </a:prstGeom>
        </p:spPr>
      </p:pic>
      <p:sp>
        <p:nvSpPr>
          <p:cNvPr id="6" name="confirmation-check">
            <a:extLst xmlns:a="http://schemas.openxmlformats.org/drawingml/2006/main">
              <a:ext uri="{FF2B5EF4-FFF2-40B4-BE49-F238E27FC236}">
                <a16:creationId xmlns:a16="http://schemas.microsoft.com/office/drawing/2014/main" id="{716AA1B5-E869-4E9C-8290-4B58D13A1B03}"/>
              </a:ext>
            </a:extLst>
          </p:cNvPr>
          <p:cNvSpPr>
            <a:spLocks xmlns:a="http://schemas.openxmlformats.org/drawingml/2006/main" noGrp="1"/>
          </p:cNvSpPr>
          <p:nvPr/>
        </p:nvSpPr>
        <p:spPr>
          <a:xfrm xmlns:a="http://schemas.openxmlformats.org/drawingml/2006/main">
            <a:off x="533400" y="5334000"/>
            <a:ext cx="1112520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1">
                <a:solidFill>
                  <a:srgbClr val="202124"/>
                </a:solidFill>
                <a:latin typeface="Arial"/>
                <a:ea typeface="Arial"/>
                <a:cs typeface="Arial"/>
              </a:defRPr>
            </a:pPr>
            <a:r>
              <a:t>Check country, sector, GCIF, role, and parent before choosing Confirm Entity.</a:t>
            </a:r>
          </a:p>
        </p:txBody>
      </p:sp>
    </p:spTree>
    <p:extLst>
      <p:ext uri="{BB962C8B-B14F-4D97-AF65-F5344CB8AC3E}">
        <p14:creationId xmlns:p14="http://schemas.microsoft.com/office/powerpoint/2010/main" val="10348551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D592BD03-A51D-4BE8-8106-ACA96B80805E}"/>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03  /  OVERVIEW &amp; STRUCTURE  /  05</a:t>
            </a:r>
          </a:p>
        </p:txBody>
      </p:sp>
      <p:sp>
        <p:nvSpPr>
          <p:cNvPr id="2" name="title">
            <a:extLst xmlns:a="http://schemas.openxmlformats.org/drawingml/2006/main">
              <a:ext uri="{FF2B5EF4-FFF2-40B4-BE49-F238E27FC236}">
                <a16:creationId xmlns:a16="http://schemas.microsoft.com/office/drawing/2014/main" id="{4837DA5B-A209-4C15-83FC-953EEF2162E5}"/>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Review the subject and its group</a:t>
            </a:r>
          </a:p>
        </p:txBody>
      </p:sp>
      <p:sp>
        <p:nvSpPr>
          <p:cNvPr id="3" name="footer">
            <a:extLst xmlns:a="http://schemas.openxmlformats.org/drawingml/2006/main">
              <a:ext uri="{FF2B5EF4-FFF2-40B4-BE49-F238E27FC236}">
                <a16:creationId xmlns:a16="http://schemas.microsoft.com/office/drawing/2014/main" id="{EA2DCDF9-1FB8-4790-B7F6-0CC6876562F9}"/>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Review the subject and its group</a:t>
            </a:r>
          </a:p>
        </p:txBody>
      </p:sp>
      <p:sp>
        <p:nvSpPr>
          <p:cNvPr id="4" name="page">
            <a:extLst xmlns:a="http://schemas.openxmlformats.org/drawingml/2006/main">
              <a:ext uri="{FF2B5EF4-FFF2-40B4-BE49-F238E27FC236}">
                <a16:creationId xmlns:a16="http://schemas.microsoft.com/office/drawing/2014/main" id="{CE332B34-F2D4-4CC2-A8CB-830FFD7E1504}"/>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05</a:t>
            </a:r>
          </a:p>
        </p:txBody>
      </p:sp>
      <p:sp>
        <p:nvSpPr>
          <p:cNvPr id="5" name="Before screening-heading">
            <a:extLst xmlns:a="http://schemas.openxmlformats.org/drawingml/2006/main">
              <a:ext uri="{FF2B5EF4-FFF2-40B4-BE49-F238E27FC236}">
                <a16:creationId xmlns:a16="http://schemas.microsoft.com/office/drawing/2014/main" id="{4BDB91B5-04ED-4931-AD04-37AD6556A63B}"/>
              </a:ext>
            </a:extLst>
          </p:cNvPr>
          <p:cNvSpPr>
            <a:spLocks xmlns:a="http://schemas.openxmlformats.org/drawingml/2006/main" noGrp="1"/>
          </p:cNvSpPr>
          <p:nvPr/>
        </p:nvSpPr>
        <p:spPr>
          <a:xfrm xmlns:a="http://schemas.openxmlformats.org/drawingml/2006/main">
            <a:off x="533400" y="1752600"/>
            <a:ext cx="31432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Before screening</a:t>
            </a:r>
          </a:p>
        </p:txBody>
      </p:sp>
      <p:sp>
        <p:nvSpPr>
          <p:cNvPr id="6" name="Before screening-251">
            <a:extLst xmlns:a="http://schemas.openxmlformats.org/drawingml/2006/main">
              <a:ext uri="{FF2B5EF4-FFF2-40B4-BE49-F238E27FC236}">
                <a16:creationId xmlns:a16="http://schemas.microsoft.com/office/drawing/2014/main" id="{7CF0C916-9375-4975-B9FF-1F47B8393255}"/>
              </a:ext>
            </a:extLst>
          </p:cNvPr>
          <p:cNvSpPr>
            <a:spLocks xmlns:a="http://schemas.openxmlformats.org/drawingml/2006/main" noGrp="1"/>
          </p:cNvSpPr>
          <p:nvPr/>
        </p:nvSpPr>
        <p:spPr>
          <a:xfrm xmlns:a="http://schemas.openxmlformats.org/drawingml/2006/main">
            <a:off x="533400" y="2390775"/>
            <a:ext cx="31432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Check the legal profile and ownership structure.</a:t>
            </a:r>
          </a:p>
        </p:txBody>
      </p:sp>
      <p:sp>
        <p:nvSpPr>
          <p:cNvPr id="7" name="Before screening-329">
            <a:extLst xmlns:a="http://schemas.openxmlformats.org/drawingml/2006/main">
              <a:ext uri="{FF2B5EF4-FFF2-40B4-BE49-F238E27FC236}">
                <a16:creationId xmlns:a16="http://schemas.microsoft.com/office/drawing/2014/main" id="{58F7D1A4-0648-4AD9-8135-6B7E909A2C51}"/>
              </a:ext>
            </a:extLst>
          </p:cNvPr>
          <p:cNvSpPr>
            <a:spLocks xmlns:a="http://schemas.openxmlformats.org/drawingml/2006/main" noGrp="1"/>
          </p:cNvSpPr>
          <p:nvPr/>
        </p:nvSpPr>
        <p:spPr>
          <a:xfrm xmlns:a="http://schemas.openxmlformats.org/drawingml/2006/main">
            <a:off x="533400" y="3133725"/>
            <a:ext cx="31432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Enter officer, transaction type, and facility details.</a:t>
            </a:r>
          </a:p>
        </p:txBody>
      </p:sp>
      <p:sp>
        <p:nvSpPr>
          <p:cNvPr id="8" name="Before screening-435">
            <a:extLst xmlns:a="http://schemas.openxmlformats.org/drawingml/2006/main">
              <a:ext uri="{FF2B5EF4-FFF2-40B4-BE49-F238E27FC236}">
                <a16:creationId xmlns:a16="http://schemas.microsoft.com/office/drawing/2014/main" id="{B660B06C-9399-4E16-BAF5-317A0E2F9FF9}"/>
              </a:ext>
            </a:extLst>
          </p:cNvPr>
          <p:cNvSpPr>
            <a:spLocks xmlns:a="http://schemas.openxmlformats.org/drawingml/2006/main" noGrp="1"/>
          </p:cNvSpPr>
          <p:nvPr/>
        </p:nvSpPr>
        <p:spPr>
          <a:xfrm xmlns:a="http://schemas.openxmlformats.org/drawingml/2006/main">
            <a:off x="533400" y="4143375"/>
            <a:ext cx="31432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Launch Screening Engine when ready.</a:t>
            </a:r>
          </a:p>
        </p:txBody>
      </p:sp>
      <p:pic>
        <p:nvPicPr>
          <p:cNvPr id="18" name="screenshot-03-overview"/>
          <p:cNvPicPr>
            <a:picLocks xmlns:a="http://schemas.openxmlformats.org/drawingml/2006/main" noChangeAspect="1"/>
          </p:cNvPicPr>
          <p:nvPr/>
        </p:nvPicPr>
        <p:blipFill>
          <a:blip xmlns:r="http://schemas.openxmlformats.org/officeDocument/2006/relationships" xmlns:a="http://schemas.openxmlformats.org/drawingml/2006/main" r:embed="R0a3a4a737d9740d2"/>
          <a:stretch xmlns:a="http://schemas.openxmlformats.org/drawingml/2006/main"/>
        </p:blipFill>
        <p:spPr>
          <a:xfrm xmlns:a="http://schemas.openxmlformats.org/drawingml/2006/main">
            <a:off x="4513751" y="1571625"/>
            <a:ext cx="6612548" cy="4524375"/>
          </a:xfrm>
          <a:prstGeom xmlns:a="http://schemas.openxmlformats.org/drawingml/2006/main" prst="rect">
            <a:avLst/>
          </a:prstGeom>
        </p:spPr>
      </p:pic>
    </p:spTree>
    <p:extLst>
      <p:ext uri="{BB962C8B-B14F-4D97-AF65-F5344CB8AC3E}">
        <p14:creationId xmlns:p14="http://schemas.microsoft.com/office/powerpoint/2010/main" val="7463700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4D67FF6C-DF14-4CB8-96FD-40E74D9000EB}"/>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04  /  SCREENING IN PROGRESS  /  06</a:t>
            </a:r>
          </a:p>
        </p:txBody>
      </p:sp>
      <p:sp>
        <p:nvSpPr>
          <p:cNvPr id="2" name="title">
            <a:extLst xmlns:a="http://schemas.openxmlformats.org/drawingml/2006/main">
              <a:ext uri="{FF2B5EF4-FFF2-40B4-BE49-F238E27FC236}">
                <a16:creationId xmlns:a16="http://schemas.microsoft.com/office/drawing/2014/main" id="{661371B9-C18B-44CD-8A78-17C97AE04868}"/>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Screening runs asynchronously</a:t>
            </a:r>
          </a:p>
        </p:txBody>
      </p:sp>
      <p:sp>
        <p:nvSpPr>
          <p:cNvPr id="3" name="footer">
            <a:extLst xmlns:a="http://schemas.openxmlformats.org/drawingml/2006/main">
              <a:ext uri="{FF2B5EF4-FFF2-40B4-BE49-F238E27FC236}">
                <a16:creationId xmlns:a16="http://schemas.microsoft.com/office/drawing/2014/main" id="{EDF1A546-19B5-43AC-9044-227545941306}"/>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Screening runs asynchronously</a:t>
            </a:r>
          </a:p>
        </p:txBody>
      </p:sp>
      <p:sp>
        <p:nvSpPr>
          <p:cNvPr id="4" name="page">
            <a:extLst xmlns:a="http://schemas.openxmlformats.org/drawingml/2006/main">
              <a:ext uri="{FF2B5EF4-FFF2-40B4-BE49-F238E27FC236}">
                <a16:creationId xmlns:a16="http://schemas.microsoft.com/office/drawing/2014/main" id="{6B2C1CDC-70F0-49A5-8901-DF5B7005D002}"/>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06</a:t>
            </a:r>
          </a:p>
        </p:txBody>
      </p:sp>
      <p:pic>
        <p:nvPicPr>
          <p:cNvPr id="12" name="screenshot-04-progress"/>
          <p:cNvPicPr>
            <a:picLocks xmlns:a="http://schemas.openxmlformats.org/drawingml/2006/main" noChangeAspect="1"/>
          </p:cNvPicPr>
          <p:nvPr/>
        </p:nvPicPr>
        <p:blipFill>
          <a:blip xmlns:r="http://schemas.openxmlformats.org/officeDocument/2006/relationships" xmlns:a="http://schemas.openxmlformats.org/drawingml/2006/main" r:embed="R0eaf5485448343f6"/>
          <a:stretch xmlns:a="http://schemas.openxmlformats.org/drawingml/2006/main"/>
        </p:blipFill>
        <p:spPr>
          <a:xfrm xmlns:a="http://schemas.openxmlformats.org/drawingml/2006/main">
            <a:off x="2013204" y="1466850"/>
            <a:ext cx="8165592" cy="3581400"/>
          </a:xfrm>
          <a:prstGeom xmlns:a="http://schemas.openxmlformats.org/drawingml/2006/main" prst="rect">
            <a:avLst/>
          </a:prstGeom>
        </p:spPr>
      </p:pic>
      <p:sp>
        <p:nvSpPr>
          <p:cNvPr id="6" name="running-behavior">
            <a:extLst xmlns:a="http://schemas.openxmlformats.org/drawingml/2006/main">
              <a:ext uri="{FF2B5EF4-FFF2-40B4-BE49-F238E27FC236}">
                <a16:creationId xmlns:a16="http://schemas.microsoft.com/office/drawing/2014/main" id="{556C3C3A-A319-44A4-90F1-9D2C5372ADC8}"/>
              </a:ext>
            </a:extLst>
          </p:cNvPr>
          <p:cNvSpPr>
            <a:spLocks xmlns:a="http://schemas.openxmlformats.org/drawingml/2006/main" noGrp="1"/>
          </p:cNvSpPr>
          <p:nvPr/>
        </p:nvSpPr>
        <p:spPr>
          <a:xfrm xmlns:a="http://schemas.openxmlformats.org/drawingml/2006/main">
            <a:off x="533400" y="5257800"/>
            <a:ext cx="11125200" cy="4000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1">
                <a:solidFill>
                  <a:srgbClr val="202124"/>
                </a:solidFill>
                <a:latin typeface="Arial"/>
                <a:ea typeface="Arial"/>
                <a:cs typeface="Arial"/>
              </a:defRPr>
            </a:pPr>
            <a:r>
              <a:t>Launch selects the assessment tab and displays progress.</a:t>
            </a:r>
          </a:p>
        </p:txBody>
      </p:sp>
      <p:sp>
        <p:nvSpPr>
          <p:cNvPr id="7" name="mock-provider">
            <a:extLst xmlns:a="http://schemas.openxmlformats.org/drawingml/2006/main">
              <a:ext uri="{FF2B5EF4-FFF2-40B4-BE49-F238E27FC236}">
                <a16:creationId xmlns:a16="http://schemas.microsoft.com/office/drawing/2014/main" id="{6BECCE46-D68A-4B87-9CC6-A817542FB4CC}"/>
              </a:ext>
            </a:extLst>
          </p:cNvPr>
          <p:cNvSpPr>
            <a:spLocks xmlns:a="http://schemas.openxmlformats.org/drawingml/2006/main" noGrp="1"/>
          </p:cNvSpPr>
          <p:nvPr/>
        </p:nvSpPr>
        <p:spPr>
          <a:xfrm xmlns:a="http://schemas.openxmlformats.org/drawingml/2006/main">
            <a:off x="533400" y="5753100"/>
            <a:ext cx="111252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60646C"/>
                </a:solidFill>
                <a:latin typeface="Arial"/>
                <a:ea typeface="Arial"/>
                <a:cs typeface="Arial"/>
              </a:defRPr>
            </a:pPr>
            <a:r>
              <a:t>Current demo: 1.8-second simulated provider response; no live source queries.</a:t>
            </a:r>
          </a:p>
        </p:txBody>
      </p:sp>
    </p:spTree>
    <p:extLst>
      <p:ext uri="{BB962C8B-B14F-4D97-AF65-F5344CB8AC3E}">
        <p14:creationId xmlns:p14="http://schemas.microsoft.com/office/powerpoint/2010/main" val="16673814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1B14D263-A5EA-43F8-889A-2CDA20316706}"/>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05  /  SCREENING &amp; ASSESSMENT  /  07</a:t>
            </a:r>
          </a:p>
        </p:txBody>
      </p:sp>
      <p:sp>
        <p:nvSpPr>
          <p:cNvPr id="2" name="title">
            <a:extLst xmlns:a="http://schemas.openxmlformats.org/drawingml/2006/main">
              <a:ext uri="{FF2B5EF4-FFF2-40B4-BE49-F238E27FC236}">
                <a16:creationId xmlns:a16="http://schemas.microsoft.com/office/drawing/2014/main" id="{55264E79-C494-4EC5-8407-E91712751E61}"/>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Review each negative-news finding</a:t>
            </a:r>
          </a:p>
        </p:txBody>
      </p:sp>
      <p:sp>
        <p:nvSpPr>
          <p:cNvPr id="3" name="footer">
            <a:extLst xmlns:a="http://schemas.openxmlformats.org/drawingml/2006/main">
              <a:ext uri="{FF2B5EF4-FFF2-40B4-BE49-F238E27FC236}">
                <a16:creationId xmlns:a16="http://schemas.microsoft.com/office/drawing/2014/main" id="{1C25165D-A7E7-482D-A57E-52523F5B01D9}"/>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Review each negative-news finding</a:t>
            </a:r>
          </a:p>
        </p:txBody>
      </p:sp>
      <p:sp>
        <p:nvSpPr>
          <p:cNvPr id="4" name="page">
            <a:extLst xmlns:a="http://schemas.openxmlformats.org/drawingml/2006/main">
              <a:ext uri="{FF2B5EF4-FFF2-40B4-BE49-F238E27FC236}">
                <a16:creationId xmlns:a16="http://schemas.microsoft.com/office/drawing/2014/main" id="{2DBA89F2-3E17-4F03-8E59-C334BA5B7ED9}"/>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07</a:t>
            </a:r>
          </a:p>
        </p:txBody>
      </p:sp>
      <p:sp>
        <p:nvSpPr>
          <p:cNvPr id="5" name="Reviewer decisions-heading">
            <a:extLst xmlns:a="http://schemas.openxmlformats.org/drawingml/2006/main">
              <a:ext uri="{FF2B5EF4-FFF2-40B4-BE49-F238E27FC236}">
                <a16:creationId xmlns:a16="http://schemas.microsoft.com/office/drawing/2014/main" id="{428E77C3-39BA-4A2D-A8A2-D7F4C9370CAC}"/>
              </a:ext>
            </a:extLst>
          </p:cNvPr>
          <p:cNvSpPr>
            <a:spLocks xmlns:a="http://schemas.openxmlformats.org/drawingml/2006/main" noGrp="1"/>
          </p:cNvSpPr>
          <p:nvPr/>
        </p:nvSpPr>
        <p:spPr>
          <a:xfrm xmlns:a="http://schemas.openxmlformats.org/drawingml/2006/main">
            <a:off x="533400" y="1762125"/>
            <a:ext cx="30480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Reviewer decisions</a:t>
            </a:r>
          </a:p>
        </p:txBody>
      </p:sp>
      <p:sp>
        <p:nvSpPr>
          <p:cNvPr id="6" name="Reviewer decisions-252">
            <a:extLst xmlns:a="http://schemas.openxmlformats.org/drawingml/2006/main">
              <a:ext uri="{FF2B5EF4-FFF2-40B4-BE49-F238E27FC236}">
                <a16:creationId xmlns:a16="http://schemas.microsoft.com/office/drawing/2014/main" id="{234B91C2-3AB1-4E42-90BA-90FB87792A5E}"/>
              </a:ext>
            </a:extLst>
          </p:cNvPr>
          <p:cNvSpPr>
            <a:spLocks xmlns:a="http://schemas.openxmlformats.org/drawingml/2006/main" noGrp="1"/>
          </p:cNvSpPr>
          <p:nvPr/>
        </p:nvSpPr>
        <p:spPr>
          <a:xfrm xmlns:a="http://schemas.openxmlformats.org/drawingml/2006/main">
            <a:off x="533400" y="240030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Read the group risk and each finding.</a:t>
            </a:r>
          </a:p>
        </p:txBody>
      </p:sp>
      <p:sp>
        <p:nvSpPr>
          <p:cNvPr id="7" name="Reviewer decisions-330">
            <a:extLst xmlns:a="http://schemas.openxmlformats.org/drawingml/2006/main">
              <a:ext uri="{FF2B5EF4-FFF2-40B4-BE49-F238E27FC236}">
                <a16:creationId xmlns:a16="http://schemas.microsoft.com/office/drawing/2014/main" id="{A3053E88-5ABF-4F12-934A-D9FF53A8221C}"/>
              </a:ext>
            </a:extLst>
          </p:cNvPr>
          <p:cNvSpPr>
            <a:spLocks xmlns:a="http://schemas.openxmlformats.org/drawingml/2006/main" noGrp="1"/>
          </p:cNvSpPr>
          <p:nvPr/>
        </p:nvSpPr>
        <p:spPr>
          <a:xfrm xmlns:a="http://schemas.openxmlformats.org/drawingml/2006/main">
            <a:off x="533400" y="314325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Adjust severity and add review notes.</a:t>
            </a:r>
          </a:p>
        </p:txBody>
      </p:sp>
      <p:sp>
        <p:nvSpPr>
          <p:cNvPr id="8" name="Reviewer decisions-408">
            <a:extLst xmlns:a="http://schemas.openxmlformats.org/drawingml/2006/main">
              <a:ext uri="{FF2B5EF4-FFF2-40B4-BE49-F238E27FC236}">
                <a16:creationId xmlns:a16="http://schemas.microsoft.com/office/drawing/2014/main" id="{344CBD8F-B69B-473C-B301-7B10B0BEFCC2}"/>
              </a:ext>
            </a:extLst>
          </p:cNvPr>
          <p:cNvSpPr>
            <a:spLocks xmlns:a="http://schemas.openxmlformats.org/drawingml/2006/main" noGrp="1"/>
          </p:cNvSpPr>
          <p:nvPr/>
        </p:nvSpPr>
        <p:spPr>
          <a:xfrm xmlns:a="http://schemas.openxmlformats.org/drawingml/2006/main">
            <a:off x="533400" y="388620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Choose Include or Exclude for the memo.</a:t>
            </a:r>
          </a:p>
        </p:txBody>
      </p:sp>
      <p:pic>
        <p:nvPicPr>
          <p:cNvPr id="18" name="screenshot-05-assessment"/>
          <p:cNvPicPr>
            <a:picLocks xmlns:a="http://schemas.openxmlformats.org/drawingml/2006/main" noChangeAspect="1"/>
          </p:cNvPicPr>
          <p:nvPr/>
        </p:nvPicPr>
        <p:blipFill>
          <a:blip xmlns:r="http://schemas.openxmlformats.org/officeDocument/2006/relationships" xmlns:a="http://schemas.openxmlformats.org/drawingml/2006/main" r:embed="R10bb213a170d4261"/>
          <a:stretch xmlns:a="http://schemas.openxmlformats.org/drawingml/2006/main"/>
        </p:blipFill>
        <p:spPr>
          <a:xfrm xmlns:a="http://schemas.openxmlformats.org/drawingml/2006/main">
            <a:off x="4276725" y="1524000"/>
            <a:ext cx="6915150" cy="4610100"/>
          </a:xfrm>
          <a:prstGeom xmlns:a="http://schemas.openxmlformats.org/drawingml/2006/main" prst="rect">
            <a:avLst/>
          </a:prstGeom>
        </p:spPr>
      </p:pic>
    </p:spTree>
    <p:extLst>
      <p:ext uri="{BB962C8B-B14F-4D97-AF65-F5344CB8AC3E}">
        <p14:creationId xmlns:p14="http://schemas.microsoft.com/office/powerpoint/2010/main" val="13564903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DA3EFCEC-5EF0-43E3-94C0-AAB575F2E537}"/>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06  /  MEMO PREVIEW  /  08</a:t>
            </a:r>
          </a:p>
        </p:txBody>
      </p:sp>
      <p:sp>
        <p:nvSpPr>
          <p:cNvPr id="2" name="title">
            <a:extLst xmlns:a="http://schemas.openxmlformats.org/drawingml/2006/main">
              <a:ext uri="{FF2B5EF4-FFF2-40B4-BE49-F238E27FC236}">
                <a16:creationId xmlns:a16="http://schemas.microsoft.com/office/drawing/2014/main" id="{C4E1CF0E-09A5-4C3D-89D9-E750453D0785}"/>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Build a memo from reviewed findings</a:t>
            </a:r>
          </a:p>
        </p:txBody>
      </p:sp>
      <p:sp>
        <p:nvSpPr>
          <p:cNvPr id="3" name="footer">
            <a:extLst xmlns:a="http://schemas.openxmlformats.org/drawingml/2006/main">
              <a:ext uri="{FF2B5EF4-FFF2-40B4-BE49-F238E27FC236}">
                <a16:creationId xmlns:a16="http://schemas.microsoft.com/office/drawing/2014/main" id="{47DE8108-1019-49A1-9439-E770CBF34724}"/>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Build a memo from reviewed findings</a:t>
            </a:r>
          </a:p>
        </p:txBody>
      </p:sp>
      <p:sp>
        <p:nvSpPr>
          <p:cNvPr id="4" name="page">
            <a:extLst xmlns:a="http://schemas.openxmlformats.org/drawingml/2006/main">
              <a:ext uri="{FF2B5EF4-FFF2-40B4-BE49-F238E27FC236}">
                <a16:creationId xmlns:a16="http://schemas.microsoft.com/office/drawing/2014/main" id="{832C3A02-FB5C-4C79-83BD-F7123FB6D25D}"/>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08</a:t>
            </a:r>
          </a:p>
        </p:txBody>
      </p:sp>
      <p:pic>
        <p:nvPicPr>
          <p:cNvPr id="14" name="screenshot-06-memo"/>
          <p:cNvPicPr>
            <a:picLocks xmlns:a="http://schemas.openxmlformats.org/drawingml/2006/main" noChangeAspect="1"/>
          </p:cNvPicPr>
          <p:nvPr/>
        </p:nvPicPr>
        <p:blipFill>
          <a:blip xmlns:r="http://schemas.openxmlformats.org/officeDocument/2006/relationships" xmlns:a="http://schemas.openxmlformats.org/drawingml/2006/main" r:embed="R0a56f3f5e36a4db4"/>
          <a:stretch xmlns:a="http://schemas.openxmlformats.org/drawingml/2006/main"/>
        </p:blipFill>
        <p:spPr>
          <a:xfrm xmlns:a="http://schemas.openxmlformats.org/drawingml/2006/main">
            <a:off x="985838" y="1562100"/>
            <a:ext cx="6772275" cy="4514850"/>
          </a:xfrm>
          <a:prstGeom xmlns:a="http://schemas.openxmlformats.org/drawingml/2006/main" prst="rect">
            <a:avLst/>
          </a:prstGeom>
        </p:spPr>
      </p:pic>
      <p:sp>
        <p:nvSpPr>
          <p:cNvPr id="6" name="Draft output-heading">
            <a:extLst xmlns:a="http://schemas.openxmlformats.org/drawingml/2006/main">
              <a:ext uri="{FF2B5EF4-FFF2-40B4-BE49-F238E27FC236}">
                <a16:creationId xmlns:a16="http://schemas.microsoft.com/office/drawing/2014/main" id="{B6B414C5-A02C-475F-8640-7992B9595976}"/>
              </a:ext>
            </a:extLst>
          </p:cNvPr>
          <p:cNvSpPr>
            <a:spLocks xmlns:a="http://schemas.openxmlformats.org/drawingml/2006/main" noGrp="1"/>
          </p:cNvSpPr>
          <p:nvPr/>
        </p:nvSpPr>
        <p:spPr>
          <a:xfrm xmlns:a="http://schemas.openxmlformats.org/drawingml/2006/main">
            <a:off x="8610600" y="1762125"/>
            <a:ext cx="30480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Draft output</a:t>
            </a:r>
          </a:p>
        </p:txBody>
      </p:sp>
      <p:sp>
        <p:nvSpPr>
          <p:cNvPr id="7" name="Draft output-252">
            <a:extLst xmlns:a="http://schemas.openxmlformats.org/drawingml/2006/main">
              <a:ext uri="{FF2B5EF4-FFF2-40B4-BE49-F238E27FC236}">
                <a16:creationId xmlns:a16="http://schemas.microsoft.com/office/drawing/2014/main" id="{4DEF430D-44BE-467E-ACC0-87F84F6D2E49}"/>
              </a:ext>
            </a:extLst>
          </p:cNvPr>
          <p:cNvSpPr>
            <a:spLocks xmlns:a="http://schemas.openxmlformats.org/drawingml/2006/main" noGrp="1"/>
          </p:cNvSpPr>
          <p:nvPr/>
        </p:nvSpPr>
        <p:spPr>
          <a:xfrm xmlns:a="http://schemas.openxmlformats.org/drawingml/2006/main">
            <a:off x="8610600" y="240030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Confirm client details and included findings.</a:t>
            </a:r>
          </a:p>
        </p:txBody>
      </p:sp>
      <p:sp>
        <p:nvSpPr>
          <p:cNvPr id="8" name="Draft output-330">
            <a:extLst xmlns:a="http://schemas.openxmlformats.org/drawingml/2006/main">
              <a:ext uri="{FF2B5EF4-FFF2-40B4-BE49-F238E27FC236}">
                <a16:creationId xmlns:a16="http://schemas.microsoft.com/office/drawing/2014/main" id="{928A2C00-9566-41A4-9D47-DAB65C8B582B}"/>
              </a:ext>
            </a:extLst>
          </p:cNvPr>
          <p:cNvSpPr>
            <a:spLocks xmlns:a="http://schemas.openxmlformats.org/drawingml/2006/main" noGrp="1"/>
          </p:cNvSpPr>
          <p:nvPr/>
        </p:nvSpPr>
        <p:spPr>
          <a:xfrm xmlns:a="http://schemas.openxmlformats.org/drawingml/2006/main">
            <a:off x="8610600" y="314325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Complete policy checks and risk rationale.</a:t>
            </a:r>
          </a:p>
        </p:txBody>
      </p:sp>
      <p:sp>
        <p:nvSpPr>
          <p:cNvPr id="9" name="Draft output-408">
            <a:extLst xmlns:a="http://schemas.openxmlformats.org/drawingml/2006/main">
              <a:ext uri="{FF2B5EF4-FFF2-40B4-BE49-F238E27FC236}">
                <a16:creationId xmlns:a16="http://schemas.microsoft.com/office/drawing/2014/main" id="{F1185A8C-AC02-4352-8E3B-EE2168D7A767}"/>
              </a:ext>
            </a:extLst>
          </p:cNvPr>
          <p:cNvSpPr>
            <a:spLocks xmlns:a="http://schemas.openxmlformats.org/drawingml/2006/main" noGrp="1"/>
          </p:cNvSpPr>
          <p:nvPr/>
        </p:nvSpPr>
        <p:spPr>
          <a:xfrm xmlns:a="http://schemas.openxmlformats.org/drawingml/2006/main">
            <a:off x="8610600" y="3886200"/>
            <a:ext cx="30480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Print the memo or save PDF using the browser.</a:t>
            </a:r>
          </a:p>
        </p:txBody>
      </p:sp>
    </p:spTree>
    <p:extLst>
      <p:ext uri="{BB962C8B-B14F-4D97-AF65-F5344CB8AC3E}">
        <p14:creationId xmlns:p14="http://schemas.microsoft.com/office/powerpoint/2010/main" val="1115997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B0555A94-8D17-4EB3-AFF5-A3933746FF8D}"/>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WORKFLOW  /  09</a:t>
            </a:r>
          </a:p>
        </p:txBody>
      </p:sp>
      <p:sp>
        <p:nvSpPr>
          <p:cNvPr id="2" name="title">
            <a:extLst xmlns:a="http://schemas.openxmlformats.org/drawingml/2006/main">
              <a:ext uri="{FF2B5EF4-FFF2-40B4-BE49-F238E27FC236}">
                <a16:creationId xmlns:a16="http://schemas.microsoft.com/office/drawing/2014/main" id="{0122235B-03F8-4680-9056-9BC011A0E20C}"/>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Review decisions control memo content</a:t>
            </a:r>
          </a:p>
        </p:txBody>
      </p:sp>
      <p:sp>
        <p:nvSpPr>
          <p:cNvPr id="3" name="footer">
            <a:extLst xmlns:a="http://schemas.openxmlformats.org/drawingml/2006/main">
              <a:ext uri="{FF2B5EF4-FFF2-40B4-BE49-F238E27FC236}">
                <a16:creationId xmlns:a16="http://schemas.microsoft.com/office/drawing/2014/main" id="{241E1955-4DE1-4C88-87A1-0FFB3408C2F0}"/>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Review decisions control memo content</a:t>
            </a:r>
          </a:p>
        </p:txBody>
      </p:sp>
      <p:sp>
        <p:nvSpPr>
          <p:cNvPr id="4" name="page">
            <a:extLst xmlns:a="http://schemas.openxmlformats.org/drawingml/2006/main">
              <a:ext uri="{FF2B5EF4-FFF2-40B4-BE49-F238E27FC236}">
                <a16:creationId xmlns:a16="http://schemas.microsoft.com/office/drawing/2014/main" id="{1C8A55D4-4FB8-489F-9E77-B764019BCF0C}"/>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09</a:t>
            </a:r>
          </a:p>
        </p:txBody>
      </p:sp>
      <p:sp>
        <p:nvSpPr>
          <p:cNvPr id="5" name="Pending-heading">
            <a:extLst xmlns:a="http://schemas.openxmlformats.org/drawingml/2006/main">
              <a:ext uri="{FF2B5EF4-FFF2-40B4-BE49-F238E27FC236}">
                <a16:creationId xmlns:a16="http://schemas.microsoft.com/office/drawing/2014/main" id="{39CBD317-7E91-436F-854C-641D53BA4C3A}"/>
              </a:ext>
            </a:extLst>
          </p:cNvPr>
          <p:cNvSpPr>
            <a:spLocks xmlns:a="http://schemas.openxmlformats.org/drawingml/2006/main" noGrp="1"/>
          </p:cNvSpPr>
          <p:nvPr/>
        </p:nvSpPr>
        <p:spPr>
          <a:xfrm xmlns:a="http://schemas.openxmlformats.org/drawingml/2006/main">
            <a:off x="53340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Pending</a:t>
            </a:r>
          </a:p>
        </p:txBody>
      </p:sp>
      <p:sp>
        <p:nvSpPr>
          <p:cNvPr id="6" name="Pending-271">
            <a:extLst xmlns:a="http://schemas.openxmlformats.org/drawingml/2006/main">
              <a:ext uri="{FF2B5EF4-FFF2-40B4-BE49-F238E27FC236}">
                <a16:creationId xmlns:a16="http://schemas.microsoft.com/office/drawing/2014/main" id="{25D2BF97-4FF0-49CD-9B54-FA50C740A841}"/>
              </a:ext>
            </a:extLst>
          </p:cNvPr>
          <p:cNvSpPr>
            <a:spLocks xmlns:a="http://schemas.openxmlformats.org/drawingml/2006/main" noGrp="1"/>
          </p:cNvSpPr>
          <p:nvPr/>
        </p:nvSpPr>
        <p:spPr>
          <a:xfrm xmlns:a="http://schemas.openxmlformats.org/drawingml/2006/main">
            <a:off x="533400" y="258127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The finding has no final inclusion decision.</a:t>
            </a:r>
          </a:p>
        </p:txBody>
      </p:sp>
      <p:sp>
        <p:nvSpPr>
          <p:cNvPr id="7" name="Pending-349">
            <a:extLst xmlns:a="http://schemas.openxmlformats.org/drawingml/2006/main">
              <a:ext uri="{FF2B5EF4-FFF2-40B4-BE49-F238E27FC236}">
                <a16:creationId xmlns:a16="http://schemas.microsoft.com/office/drawing/2014/main" id="{8CE9F7DF-7BE3-464F-888D-B6BAE763EC02}"/>
              </a:ext>
            </a:extLst>
          </p:cNvPr>
          <p:cNvSpPr>
            <a:spLocks xmlns:a="http://schemas.openxmlformats.org/drawingml/2006/main" noGrp="1"/>
          </p:cNvSpPr>
          <p:nvPr/>
        </p:nvSpPr>
        <p:spPr>
          <a:xfrm xmlns:a="http://schemas.openxmlformats.org/drawingml/2006/main">
            <a:off x="533400" y="332422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Pending items keep a draft reminder visible.</a:t>
            </a:r>
          </a:p>
        </p:txBody>
      </p:sp>
      <p:sp>
        <p:nvSpPr>
          <p:cNvPr id="8" name="Include-heading">
            <a:extLst xmlns:a="http://schemas.openxmlformats.org/drawingml/2006/main">
              <a:ext uri="{FF2B5EF4-FFF2-40B4-BE49-F238E27FC236}">
                <a16:creationId xmlns:a16="http://schemas.microsoft.com/office/drawing/2014/main" id="{ACDCD7A8-E09C-430C-AE36-124248F2C823}"/>
              </a:ext>
            </a:extLst>
          </p:cNvPr>
          <p:cNvSpPr>
            <a:spLocks xmlns:a="http://schemas.openxmlformats.org/drawingml/2006/main" noGrp="1"/>
          </p:cNvSpPr>
          <p:nvPr/>
        </p:nvSpPr>
        <p:spPr>
          <a:xfrm xmlns:a="http://schemas.openxmlformats.org/drawingml/2006/main">
            <a:off x="4391025"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Include</a:t>
            </a:r>
          </a:p>
        </p:txBody>
      </p:sp>
      <p:sp>
        <p:nvSpPr>
          <p:cNvPr id="9" name="Include-271">
            <a:extLst xmlns:a="http://schemas.openxmlformats.org/drawingml/2006/main">
              <a:ext uri="{FF2B5EF4-FFF2-40B4-BE49-F238E27FC236}">
                <a16:creationId xmlns:a16="http://schemas.microsoft.com/office/drawing/2014/main" id="{BE1A3158-FC59-4A30-871B-D629C9807914}"/>
              </a:ext>
            </a:extLst>
          </p:cNvPr>
          <p:cNvSpPr>
            <a:spLocks xmlns:a="http://schemas.openxmlformats.org/drawingml/2006/main" noGrp="1"/>
          </p:cNvSpPr>
          <p:nvPr/>
        </p:nvSpPr>
        <p:spPr>
          <a:xfrm xmlns:a="http://schemas.openxmlformats.org/drawingml/2006/main">
            <a:off x="4391025"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The finding, severity, and review notes appear in the memo.</a:t>
            </a:r>
          </a:p>
        </p:txBody>
      </p:sp>
      <p:sp>
        <p:nvSpPr>
          <p:cNvPr id="10" name="Include-377">
            <a:extLst xmlns:a="http://schemas.openxmlformats.org/drawingml/2006/main">
              <a:ext uri="{FF2B5EF4-FFF2-40B4-BE49-F238E27FC236}">
                <a16:creationId xmlns:a16="http://schemas.microsoft.com/office/drawing/2014/main" id="{391157CE-2F0F-48F7-93AF-1238D3D2FB95}"/>
              </a:ext>
            </a:extLst>
          </p:cNvPr>
          <p:cNvSpPr>
            <a:spLocks xmlns:a="http://schemas.openxmlformats.org/drawingml/2006/main" noGrp="1"/>
          </p:cNvSpPr>
          <p:nvPr/>
        </p:nvSpPr>
        <p:spPr>
          <a:xfrm xmlns:a="http://schemas.openxmlformats.org/drawingml/2006/main">
            <a:off x="4391025" y="359092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Selecting Include again returns it to Pending.</a:t>
            </a:r>
          </a:p>
        </p:txBody>
      </p:sp>
      <p:sp>
        <p:nvSpPr>
          <p:cNvPr id="11" name="Exclude-heading">
            <a:extLst xmlns:a="http://schemas.openxmlformats.org/drawingml/2006/main">
              <a:ext uri="{FF2B5EF4-FFF2-40B4-BE49-F238E27FC236}">
                <a16:creationId xmlns:a16="http://schemas.microsoft.com/office/drawing/2014/main" id="{9DF5796A-D26A-4B0C-88C3-ED72D513E63E}"/>
              </a:ext>
            </a:extLst>
          </p:cNvPr>
          <p:cNvSpPr>
            <a:spLocks xmlns:a="http://schemas.openxmlformats.org/drawingml/2006/main" noGrp="1"/>
          </p:cNvSpPr>
          <p:nvPr/>
        </p:nvSpPr>
        <p:spPr>
          <a:xfrm xmlns:a="http://schemas.openxmlformats.org/drawingml/2006/main">
            <a:off x="824865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Exclude</a:t>
            </a:r>
          </a:p>
        </p:txBody>
      </p:sp>
      <p:sp>
        <p:nvSpPr>
          <p:cNvPr id="12" name="Exclude-271">
            <a:extLst xmlns:a="http://schemas.openxmlformats.org/drawingml/2006/main">
              <a:ext uri="{FF2B5EF4-FFF2-40B4-BE49-F238E27FC236}">
                <a16:creationId xmlns:a16="http://schemas.microsoft.com/office/drawing/2014/main" id="{68FE237C-7FE4-4738-B11F-BD8906C396DD}"/>
              </a:ext>
            </a:extLst>
          </p:cNvPr>
          <p:cNvSpPr>
            <a:spLocks xmlns:a="http://schemas.openxmlformats.org/drawingml/2006/main" noGrp="1"/>
          </p:cNvSpPr>
          <p:nvPr/>
        </p:nvSpPr>
        <p:spPr>
          <a:xfrm xmlns:a="http://schemas.openxmlformats.org/drawingml/2006/main">
            <a:off x="8248650"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The finding stays visible in assessment but is absent from the memo.</a:t>
            </a:r>
          </a:p>
        </p:txBody>
      </p:sp>
      <p:sp>
        <p:nvSpPr>
          <p:cNvPr id="13" name="Exclude-377">
            <a:extLst xmlns:a="http://schemas.openxmlformats.org/drawingml/2006/main">
              <a:ext uri="{FF2B5EF4-FFF2-40B4-BE49-F238E27FC236}">
                <a16:creationId xmlns:a16="http://schemas.microsoft.com/office/drawing/2014/main" id="{425783E9-D597-462F-977E-05785E2E170A}"/>
              </a:ext>
            </a:extLst>
          </p:cNvPr>
          <p:cNvSpPr>
            <a:spLocks xmlns:a="http://schemas.openxmlformats.org/drawingml/2006/main" noGrp="1"/>
          </p:cNvSpPr>
          <p:nvPr/>
        </p:nvSpPr>
        <p:spPr>
          <a:xfrm xmlns:a="http://schemas.openxmlformats.org/drawingml/2006/main">
            <a:off x="8248650" y="359092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Selecting Exclude again returns it to Pending.</a:t>
            </a:r>
          </a:p>
        </p:txBody>
      </p:sp>
      <p:sp>
        <p:nvSpPr>
          <p:cNvPr id="14" name="risk-distinction">
            <a:extLst xmlns:a="http://schemas.openxmlformats.org/drawingml/2006/main">
              <a:ext uri="{FF2B5EF4-FFF2-40B4-BE49-F238E27FC236}">
                <a16:creationId xmlns:a16="http://schemas.microsoft.com/office/drawing/2014/main" id="{6AD3CB68-8739-4EF6-B1BC-8B78CCB36175}"/>
              </a:ext>
            </a:extLst>
          </p:cNvPr>
          <p:cNvSpPr>
            <a:spLocks xmlns:a="http://schemas.openxmlformats.org/drawingml/2006/main" noGrp="1"/>
          </p:cNvSpPr>
          <p:nvPr/>
        </p:nvSpPr>
        <p:spPr>
          <a:xfrm xmlns:a="http://schemas.openxmlformats.org/drawingml/2006/main">
            <a:off x="533400" y="5619750"/>
            <a:ext cx="11125200" cy="5334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1">
                <a:solidFill>
                  <a:srgbClr val="C90024"/>
                </a:solidFill>
                <a:latin typeface="Arial"/>
                <a:ea typeface="Arial"/>
                <a:cs typeface="Arial"/>
              </a:defRPr>
            </a:pPr>
            <a:r>
              <a:t>Provider inherent risk stays unchanged. Memo assessed risk is separately editable.</a:t>
            </a:r>
          </a:p>
        </p:txBody>
      </p:sp>
    </p:spTree>
    <p:extLst>
      <p:ext uri="{BB962C8B-B14F-4D97-AF65-F5344CB8AC3E}">
        <p14:creationId xmlns:p14="http://schemas.microsoft.com/office/powerpoint/2010/main" val="8930522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680DC008-25E1-4F34-AF66-B848F278CFD6}"/>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WORKFLOW  /  10</a:t>
            </a:r>
          </a:p>
        </p:txBody>
      </p:sp>
      <p:sp>
        <p:nvSpPr>
          <p:cNvPr id="2" name="title">
            <a:extLst xmlns:a="http://schemas.openxmlformats.org/drawingml/2006/main">
              <a:ext uri="{FF2B5EF4-FFF2-40B4-BE49-F238E27FC236}">
                <a16:creationId xmlns:a16="http://schemas.microsoft.com/office/drawing/2014/main" id="{7BCBF004-7352-4529-87D1-8D1047ED3B6F}"/>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Errors keep the next action clear</a:t>
            </a:r>
          </a:p>
        </p:txBody>
      </p:sp>
      <p:sp>
        <p:nvSpPr>
          <p:cNvPr id="3" name="footer">
            <a:extLst xmlns:a="http://schemas.openxmlformats.org/drawingml/2006/main">
              <a:ext uri="{FF2B5EF4-FFF2-40B4-BE49-F238E27FC236}">
                <a16:creationId xmlns:a16="http://schemas.microsoft.com/office/drawing/2014/main" id="{F23E7D54-9610-45EE-8797-A17D58422BFF}"/>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Errors keep the next action clear</a:t>
            </a:r>
          </a:p>
        </p:txBody>
      </p:sp>
      <p:sp>
        <p:nvSpPr>
          <p:cNvPr id="4" name="page">
            <a:extLst xmlns:a="http://schemas.openxmlformats.org/drawingml/2006/main">
              <a:ext uri="{FF2B5EF4-FFF2-40B4-BE49-F238E27FC236}">
                <a16:creationId xmlns:a16="http://schemas.microsoft.com/office/drawing/2014/main" id="{4DF6895C-E12A-4EDA-829B-317822629134}"/>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10</a:t>
            </a:r>
          </a:p>
        </p:txBody>
      </p:sp>
      <p:graphicFrame>
        <p:nvGraphicFramePr>
          <p:cNvPr id="10" name=""/>
          <p:cNvGraphicFramePr/>
          <p:nvPr/>
        </p:nvGraphicFramePr>
        <p:xfrm>
          <a:off xmlns:a="http://schemas.openxmlformats.org/drawingml/2006/main" x="533400" y="1714500"/>
          <a:ext xmlns:a="http://schemas.openxmlformats.org/drawingml/2006/main" cx="11125200" cy="3924300"/>
        </p:xfrm>
        <a:graphic xmlns:a="http://schemas.openxmlformats.org/drawingml/2006/main">
          <a:graphicData uri="http://schemas.openxmlformats.org/drawingml/2006/table">
            <a:tbl>
              <a:tblPr/>
              <a:tblGrid>
                <a:gridCol w="2381250"/>
                <a:gridCol w="5048250"/>
                <a:gridCol w="3695700"/>
              </a:tblGrid>
              <a:tr h="654050">
                <a:tc>
                  <a:txBody>
                    <a:bodyPr anchor="ctr"/>
                    <a:lstStyle/>
                    <a:p>
                      <a:r>
                        <a:rPr sz="1800" b="1">
                          <a:solidFill>
                            <a:srgbClr val="202124"/>
                          </a:solidFill>
                          <a:latin typeface="Arial"/>
                          <a:ea typeface="Arial"/>
                          <a:cs typeface="Arial"/>
                        </a:rPr>
                        <a:t>Condition</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Visible behavior</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Next action</a:t>
                      </a:r>
                    </a:p>
                  </a:txBody>
                  <a:tcPr marL="91440" marR="91440" marT="45720" marB="45720">
                    <a:solidFill>
                      <a:srgbClr val="F4F5F6"/>
                    </a:solidFill>
                  </a:tcPr>
                </a:tc>
              </a:tr>
              <a:tr h="654050">
                <a:tc>
                  <a:txBody>
                    <a:bodyPr anchor="ctr"/>
                    <a:lstStyle/>
                    <a:p>
                      <a:r>
                        <a:rPr sz="1800" b="0">
                          <a:solidFill>
                            <a:srgbClr val="202124"/>
                          </a:solidFill>
                          <a:latin typeface="Arial"/>
                          <a:ea typeface="Arial"/>
                          <a:cs typeface="Arial"/>
                        </a:rPr>
                        <a:t>Invalid search</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Field-level validation message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Correct the query</a:t>
                      </a:r>
                    </a:p>
                  </a:txBody>
                  <a:tcPr marL="91440" marR="91440" marT="45720" marB="45720">
                    <a:solidFill>
                      <a:srgbClr val="FFFFFF"/>
                    </a:solidFill>
                  </a:tcPr>
                </a:tc>
              </a:tr>
              <a:tr h="654050">
                <a:tc>
                  <a:txBody>
                    <a:bodyPr anchor="ctr"/>
                    <a:lstStyle/>
                    <a:p>
                      <a:r>
                        <a:rPr sz="1800" b="0">
                          <a:solidFill>
                            <a:srgbClr val="202124"/>
                          </a:solidFill>
                          <a:latin typeface="Arial"/>
                          <a:ea typeface="Arial"/>
                          <a:cs typeface="Arial"/>
                        </a:rPr>
                        <a:t>No match</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Matches (0) + empty-state text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Try another name or GCIF</a:t>
                      </a:r>
                    </a:p>
                  </a:txBody>
                  <a:tcPr marL="91440" marR="91440" marT="45720" marB="45720">
                    <a:solidFill>
                      <a:srgbClr val="FFFFFF"/>
                    </a:solidFill>
                  </a:tcPr>
                </a:tc>
              </a:tr>
              <a:tr h="654050">
                <a:tc>
                  <a:txBody>
                    <a:bodyPr anchor="ctr"/>
                    <a:lstStyle/>
                    <a:p>
                      <a:r>
                        <a:rPr sz="1800" b="0">
                          <a:solidFill>
                            <a:srgbClr val="202124"/>
                          </a:solidFill>
                          <a:latin typeface="Arial"/>
                          <a:ea typeface="Arial"/>
                          <a:cs typeface="Arial"/>
                        </a:rPr>
                        <a:t>Search API failure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Recoverable error message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Search again</a:t>
                      </a:r>
                    </a:p>
                  </a:txBody>
                  <a:tcPr marL="91440" marR="91440" marT="45720" marB="45720">
                    <a:solidFill>
                      <a:srgbClr val="FFFFFF"/>
                    </a:solidFill>
                  </a:tcPr>
                </a:tc>
              </a:tr>
              <a:tr h="654050">
                <a:tc>
                  <a:txBody>
                    <a:bodyPr anchor="ctr"/>
                    <a:lstStyle/>
                    <a:p>
                      <a:r>
                        <a:rPr sz="1800" b="0">
                          <a:solidFill>
                            <a:srgbClr val="202124"/>
                          </a:solidFill>
                          <a:latin typeface="Arial"/>
                          <a:ea typeface="Arial"/>
                          <a:cs typeface="Arial"/>
                        </a:rPr>
                        <a:t>Screening failure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Error state + Retry screening</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Retry the provider request</a:t>
                      </a:r>
                    </a:p>
                  </a:txBody>
                  <a:tcPr marL="91440" marR="91440" marT="45720" marB="45720">
                    <a:solidFill>
                      <a:srgbClr val="FFFFFF"/>
                    </a:solidFill>
                  </a:tcPr>
                </a:tc>
              </a:tr>
              <a:tr h="654050">
                <a:tc>
                  <a:txBody>
                    <a:bodyPr anchor="ctr"/>
                    <a:lstStyle/>
                    <a:p>
                      <a:r>
                        <a:rPr sz="1800" b="0">
                          <a:solidFill>
                            <a:srgbClr val="202124"/>
                          </a:solidFill>
                          <a:latin typeface="Arial"/>
                          <a:ea typeface="Arial"/>
                          <a:cs typeface="Arial"/>
                        </a:rPr>
                        <a:t>Unknown entity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Not-found page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Return to Entity Search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169580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231AE401-1300-4CC1-9217-86BAB5F02BD5}"/>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WORKFLOW  /  11</a:t>
            </a:r>
          </a:p>
        </p:txBody>
      </p:sp>
      <p:sp>
        <p:nvSpPr>
          <p:cNvPr id="2" name="title">
            <a:extLst xmlns:a="http://schemas.openxmlformats.org/drawingml/2006/main">
              <a:ext uri="{FF2B5EF4-FFF2-40B4-BE49-F238E27FC236}">
                <a16:creationId xmlns:a16="http://schemas.microsoft.com/office/drawing/2014/main" id="{041C6A3B-2EAA-49E5-8FFE-E20E482B3F2C}"/>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Use the same workflow on mobile</a:t>
            </a:r>
          </a:p>
        </p:txBody>
      </p:sp>
      <p:sp>
        <p:nvSpPr>
          <p:cNvPr id="3" name="footer">
            <a:extLst xmlns:a="http://schemas.openxmlformats.org/drawingml/2006/main">
              <a:ext uri="{FF2B5EF4-FFF2-40B4-BE49-F238E27FC236}">
                <a16:creationId xmlns:a16="http://schemas.microsoft.com/office/drawing/2014/main" id="{EEEE3DF9-508B-41CD-98E0-3A7799AE5E9F}"/>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Use the same workflow on mobile</a:t>
            </a:r>
          </a:p>
        </p:txBody>
      </p:sp>
      <p:sp>
        <p:nvSpPr>
          <p:cNvPr id="4" name="page">
            <a:extLst xmlns:a="http://schemas.openxmlformats.org/drawingml/2006/main">
              <a:ext uri="{FF2B5EF4-FFF2-40B4-BE49-F238E27FC236}">
                <a16:creationId xmlns:a16="http://schemas.microsoft.com/office/drawing/2014/main" id="{B7BF700D-6210-4772-BFFB-78E81F33F722}"/>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11</a:t>
            </a:r>
          </a:p>
        </p:txBody>
      </p:sp>
      <p:pic>
        <p:nvPicPr>
          <p:cNvPr id="14" name="screenshot-07-mobile"/>
          <p:cNvPicPr>
            <a:picLocks xmlns:a="http://schemas.openxmlformats.org/drawingml/2006/main" noChangeAspect="1"/>
          </p:cNvPicPr>
          <p:nvPr/>
        </p:nvPicPr>
        <p:blipFill>
          <a:blip xmlns:r="http://schemas.openxmlformats.org/officeDocument/2006/relationships" xmlns:a="http://schemas.openxmlformats.org/drawingml/2006/main" r:embed="Re7ea5b33e0fb478e"/>
          <a:stretch xmlns:a="http://schemas.openxmlformats.org/drawingml/2006/main"/>
        </p:blipFill>
        <p:spPr>
          <a:xfrm xmlns:a="http://schemas.openxmlformats.org/drawingml/2006/main">
            <a:off x="907335" y="1657350"/>
            <a:ext cx="2033430" cy="4400550"/>
          </a:xfrm>
          <a:prstGeom xmlns:a="http://schemas.openxmlformats.org/drawingml/2006/main" prst="rect">
            <a:avLst/>
          </a:prstGeom>
        </p:spPr>
      </p:pic>
      <p:sp>
        <p:nvSpPr>
          <p:cNvPr id="6" name="Responsive behavior-heading">
            <a:extLst xmlns:a="http://schemas.openxmlformats.org/drawingml/2006/main">
              <a:ext uri="{FF2B5EF4-FFF2-40B4-BE49-F238E27FC236}">
                <a16:creationId xmlns:a16="http://schemas.microsoft.com/office/drawing/2014/main" id="{9F7106DA-A080-401E-A525-36C8113BA95A}"/>
              </a:ext>
            </a:extLst>
          </p:cNvPr>
          <p:cNvSpPr>
            <a:spLocks xmlns:a="http://schemas.openxmlformats.org/drawingml/2006/main" noGrp="1"/>
          </p:cNvSpPr>
          <p:nvPr/>
        </p:nvSpPr>
        <p:spPr>
          <a:xfrm xmlns:a="http://schemas.openxmlformats.org/drawingml/2006/main">
            <a:off x="4000500" y="1800225"/>
            <a:ext cx="76581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Responsive behavior</a:t>
            </a:r>
          </a:p>
        </p:txBody>
      </p:sp>
      <p:sp>
        <p:nvSpPr>
          <p:cNvPr id="7" name="Responsive behavior-256">
            <a:extLst xmlns:a="http://schemas.openxmlformats.org/drawingml/2006/main">
              <a:ext uri="{FF2B5EF4-FFF2-40B4-BE49-F238E27FC236}">
                <a16:creationId xmlns:a16="http://schemas.microsoft.com/office/drawing/2014/main" id="{8F09EAE0-0BD6-4310-B926-C36C509DCA6B}"/>
              </a:ext>
            </a:extLst>
          </p:cNvPr>
          <p:cNvSpPr>
            <a:spLocks xmlns:a="http://schemas.openxmlformats.org/drawingml/2006/main" noGrp="1"/>
          </p:cNvSpPr>
          <p:nvPr/>
        </p:nvSpPr>
        <p:spPr>
          <a:xfrm xmlns:a="http://schemas.openxmlformats.org/drawingml/2006/main">
            <a:off x="4000500" y="2438400"/>
            <a:ext cx="76581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Desktop navigation can collapse; mobile navigation expands in place.</a:t>
            </a:r>
          </a:p>
        </p:txBody>
      </p:sp>
      <p:sp>
        <p:nvSpPr>
          <p:cNvPr id="8" name="Responsive behavior-334">
            <a:extLst xmlns:a="http://schemas.openxmlformats.org/drawingml/2006/main">
              <a:ext uri="{FF2B5EF4-FFF2-40B4-BE49-F238E27FC236}">
                <a16:creationId xmlns:a16="http://schemas.microsoft.com/office/drawing/2014/main" id="{B4F899F4-0F0E-4CF0-AE2A-919A5801A459}"/>
              </a:ext>
            </a:extLst>
          </p:cNvPr>
          <p:cNvSpPr>
            <a:spLocks xmlns:a="http://schemas.openxmlformats.org/drawingml/2006/main" noGrp="1"/>
          </p:cNvSpPr>
          <p:nvPr/>
        </p:nvSpPr>
        <p:spPr>
          <a:xfrm xmlns:a="http://schemas.openxmlformats.org/drawingml/2006/main">
            <a:off x="4000500" y="3181350"/>
            <a:ext cx="76581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Search controls stack, panels reflow, and case tabs scroll horizontally.</a:t>
            </a:r>
          </a:p>
        </p:txBody>
      </p:sp>
      <p:sp>
        <p:nvSpPr>
          <p:cNvPr id="9" name="Responsive behavior-412">
            <a:extLst xmlns:a="http://schemas.openxmlformats.org/drawingml/2006/main">
              <a:ext uri="{FF2B5EF4-FFF2-40B4-BE49-F238E27FC236}">
                <a16:creationId xmlns:a16="http://schemas.microsoft.com/office/drawing/2014/main" id="{0EF683FE-34C4-4F97-8986-E1DCBCA2800B}"/>
              </a:ext>
            </a:extLst>
          </p:cNvPr>
          <p:cNvSpPr>
            <a:spLocks xmlns:a="http://schemas.openxmlformats.org/drawingml/2006/main" noGrp="1"/>
          </p:cNvSpPr>
          <p:nvPr/>
        </p:nvSpPr>
        <p:spPr>
          <a:xfrm xmlns:a="http://schemas.openxmlformats.org/drawingml/2006/main">
            <a:off x="4000500" y="3924300"/>
            <a:ext cx="765810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Keyboard tabs support Left, Right, Home, and End.</a:t>
            </a:r>
          </a:p>
        </p:txBody>
      </p:sp>
    </p:spTree>
    <p:extLst>
      <p:ext uri="{BB962C8B-B14F-4D97-AF65-F5344CB8AC3E}">
        <p14:creationId xmlns:p14="http://schemas.microsoft.com/office/powerpoint/2010/main" val="6441436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617C88A4-0166-4DD5-A4D2-0F16C02CF4CB}"/>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12</a:t>
            </a:r>
          </a:p>
        </p:txBody>
      </p:sp>
      <p:sp>
        <p:nvSpPr>
          <p:cNvPr id="2" name="title">
            <a:extLst xmlns:a="http://schemas.openxmlformats.org/drawingml/2006/main">
              <a:ext uri="{FF2B5EF4-FFF2-40B4-BE49-F238E27FC236}">
                <a16:creationId xmlns:a16="http://schemas.microsoft.com/office/drawing/2014/main" id="{4B060D92-B5CF-444F-8E18-0CF1975603D8}"/>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Separate the UI from data providers</a:t>
            </a:r>
          </a:p>
        </p:txBody>
      </p:sp>
      <p:sp>
        <p:nvSpPr>
          <p:cNvPr id="3" name="footer">
            <a:extLst xmlns:a="http://schemas.openxmlformats.org/drawingml/2006/main">
              <a:ext uri="{FF2B5EF4-FFF2-40B4-BE49-F238E27FC236}">
                <a16:creationId xmlns:a16="http://schemas.microsoft.com/office/drawing/2014/main" id="{69906929-DCF4-4EA5-8EC2-AB2B9E31DD29}"/>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Separate the UI from data providers</a:t>
            </a:r>
          </a:p>
        </p:txBody>
      </p:sp>
      <p:sp>
        <p:nvSpPr>
          <p:cNvPr id="4" name="page">
            <a:extLst xmlns:a="http://schemas.openxmlformats.org/drawingml/2006/main">
              <a:ext uri="{FF2B5EF4-FFF2-40B4-BE49-F238E27FC236}">
                <a16:creationId xmlns:a16="http://schemas.microsoft.com/office/drawing/2014/main" id="{ACCF146C-EE62-4506-B0EE-647FB932C56B}"/>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12</a:t>
            </a:r>
          </a:p>
        </p:txBody>
      </p:sp>
      <p:sp>
        <p:nvSpPr>
          <p:cNvPr id="5" name="edge-0">
            <a:extLst xmlns:a="http://schemas.openxmlformats.org/drawingml/2006/main">
              <a:ext uri="{FF2B5EF4-FFF2-40B4-BE49-F238E27FC236}">
                <a16:creationId xmlns:a16="http://schemas.microsoft.com/office/drawing/2014/main" id="{E1D04AA2-3A38-401B-A836-EE87D013B6D2}"/>
              </a:ext>
            </a:extLst>
          </p:cNvPr>
          <p:cNvSpPr>
            <a:spLocks xmlns:a="http://schemas.openxmlformats.org/drawingml/2006/main" noGrp="1"/>
          </p:cNvSpPr>
          <p:nvPr/>
        </p:nvSpPr>
        <p:spPr>
          <a:xfrm xmlns:a="http://schemas.openxmlformats.org/drawingml/2006/main">
            <a:off x="3000375" y="2676525"/>
            <a:ext cx="3048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6" name="edge-1">
            <a:extLst xmlns:a="http://schemas.openxmlformats.org/drawingml/2006/main">
              <a:ext uri="{FF2B5EF4-FFF2-40B4-BE49-F238E27FC236}">
                <a16:creationId xmlns:a16="http://schemas.microsoft.com/office/drawing/2014/main" id="{06121B50-348A-46A3-9D68-F2113A861346}"/>
              </a:ext>
            </a:extLst>
          </p:cNvPr>
          <p:cNvSpPr>
            <a:spLocks xmlns:a="http://schemas.openxmlformats.org/drawingml/2006/main" noGrp="1"/>
          </p:cNvSpPr>
          <p:nvPr/>
        </p:nvSpPr>
        <p:spPr>
          <a:xfrm xmlns:a="http://schemas.openxmlformats.org/drawingml/2006/main">
            <a:off x="5895975" y="2676525"/>
            <a:ext cx="3048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7" name="edge-2">
            <a:extLst xmlns:a="http://schemas.openxmlformats.org/drawingml/2006/main">
              <a:ext uri="{FF2B5EF4-FFF2-40B4-BE49-F238E27FC236}">
                <a16:creationId xmlns:a16="http://schemas.microsoft.com/office/drawing/2014/main" id="{84062F33-FC59-4F9D-8FEE-E55E751C4223}"/>
              </a:ext>
            </a:extLst>
          </p:cNvPr>
          <p:cNvSpPr>
            <a:spLocks xmlns:a="http://schemas.openxmlformats.org/drawingml/2006/main" noGrp="1"/>
          </p:cNvSpPr>
          <p:nvPr/>
        </p:nvSpPr>
        <p:spPr>
          <a:xfrm xmlns:a="http://schemas.openxmlformats.org/drawingml/2006/main">
            <a:off x="8791575" y="2676525"/>
            <a:ext cx="3048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60646C"/>
                </a:solidFill>
                <a:latin typeface="Arial"/>
                <a:ea typeface="Arial"/>
                <a:cs typeface="Arial"/>
              </a:defRPr>
            </a:pPr>
            <a:r>
              <a:t>→</a:t>
            </a:r>
          </a:p>
        </p:txBody>
      </p:sp>
      <p:sp>
        <p:nvSpPr>
          <p:cNvPr id="8" name="layer-0">
            <a:extLst xmlns:a="http://schemas.openxmlformats.org/drawingml/2006/main">
              <a:ext uri="{FF2B5EF4-FFF2-40B4-BE49-F238E27FC236}">
                <a16:creationId xmlns:a16="http://schemas.microsoft.com/office/drawing/2014/main" id="{2107E59E-F958-4719-99FC-94FA1C12DB4F}"/>
              </a:ext>
            </a:extLst>
          </p:cNvPr>
          <p:cNvSpPr>
            <a:spLocks xmlns:a="http://schemas.openxmlformats.org/drawingml/2006/main" noGrp="1"/>
          </p:cNvSpPr>
          <p:nvPr/>
        </p:nvSpPr>
        <p:spPr>
          <a:xfrm xmlns:a="http://schemas.openxmlformats.org/drawingml/2006/main">
            <a:off x="533400" y="2076450"/>
            <a:ext cx="2438400" cy="163830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9" name="layer-title-0">
            <a:extLst xmlns:a="http://schemas.openxmlformats.org/drawingml/2006/main">
              <a:ext uri="{FF2B5EF4-FFF2-40B4-BE49-F238E27FC236}">
                <a16:creationId xmlns:a16="http://schemas.microsoft.com/office/drawing/2014/main" id="{C05DD00C-B9B6-4B40-A868-75AFDB54A94A}"/>
              </a:ext>
            </a:extLst>
          </p:cNvPr>
          <p:cNvSpPr>
            <a:spLocks xmlns:a="http://schemas.openxmlformats.org/drawingml/2006/main" noGrp="1"/>
          </p:cNvSpPr>
          <p:nvPr/>
        </p:nvSpPr>
        <p:spPr>
          <a:xfrm xmlns:a="http://schemas.openxmlformats.org/drawingml/2006/main">
            <a:off x="704850" y="2266950"/>
            <a:ext cx="209550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1">
                <a:solidFill>
                  <a:srgbClr val="202124"/>
                </a:solidFill>
                <a:latin typeface="Arial"/>
                <a:ea typeface="Arial"/>
                <a:cs typeface="Arial"/>
              </a:defRPr>
            </a:pPr>
            <a:r>
              <a:t>Pages + features</a:t>
            </a:r>
          </a:p>
        </p:txBody>
      </p:sp>
      <p:sp>
        <p:nvSpPr>
          <p:cNvPr id="10" name="layer-subtitle-0">
            <a:extLst xmlns:a="http://schemas.openxmlformats.org/drawingml/2006/main">
              <a:ext uri="{FF2B5EF4-FFF2-40B4-BE49-F238E27FC236}">
                <a16:creationId xmlns:a16="http://schemas.microsoft.com/office/drawing/2014/main" id="{F6CA70B5-0B08-489E-8576-9577251D1ED4}"/>
              </a:ext>
            </a:extLst>
          </p:cNvPr>
          <p:cNvSpPr>
            <a:spLocks xmlns:a="http://schemas.openxmlformats.org/drawingml/2006/main" noGrp="1"/>
          </p:cNvSpPr>
          <p:nvPr/>
        </p:nvSpPr>
        <p:spPr>
          <a:xfrm xmlns:a="http://schemas.openxmlformats.org/drawingml/2006/main">
            <a:off x="704850" y="3095625"/>
            <a:ext cx="2095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React components</a:t>
            </a:r>
          </a:p>
        </p:txBody>
      </p:sp>
      <p:sp>
        <p:nvSpPr>
          <p:cNvPr id="11" name="layer-1">
            <a:extLst xmlns:a="http://schemas.openxmlformats.org/drawingml/2006/main">
              <a:ext uri="{FF2B5EF4-FFF2-40B4-BE49-F238E27FC236}">
                <a16:creationId xmlns:a16="http://schemas.microsoft.com/office/drawing/2014/main" id="{0160DF67-8628-43FF-9EF0-CA1E6861FA74}"/>
              </a:ext>
            </a:extLst>
          </p:cNvPr>
          <p:cNvSpPr>
            <a:spLocks xmlns:a="http://schemas.openxmlformats.org/drawingml/2006/main" noGrp="1"/>
          </p:cNvSpPr>
          <p:nvPr/>
        </p:nvSpPr>
        <p:spPr>
          <a:xfrm xmlns:a="http://schemas.openxmlformats.org/drawingml/2006/main">
            <a:off x="3429000" y="2076450"/>
            <a:ext cx="2438400" cy="163830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2" name="layer-title-1">
            <a:extLst xmlns:a="http://schemas.openxmlformats.org/drawingml/2006/main">
              <a:ext uri="{FF2B5EF4-FFF2-40B4-BE49-F238E27FC236}">
                <a16:creationId xmlns:a16="http://schemas.microsoft.com/office/drawing/2014/main" id="{F9A492CE-872B-47AF-BBC0-43A74EEB9077}"/>
              </a:ext>
            </a:extLst>
          </p:cNvPr>
          <p:cNvSpPr>
            <a:spLocks xmlns:a="http://schemas.openxmlformats.org/drawingml/2006/main" noGrp="1"/>
          </p:cNvSpPr>
          <p:nvPr/>
        </p:nvSpPr>
        <p:spPr>
          <a:xfrm xmlns:a="http://schemas.openxmlformats.org/drawingml/2006/main">
            <a:off x="3600450" y="2266950"/>
            <a:ext cx="209550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1">
                <a:solidFill>
                  <a:srgbClr val="202124"/>
                </a:solidFill>
                <a:latin typeface="Arial"/>
                <a:ea typeface="Arial"/>
                <a:cs typeface="Arial"/>
              </a:defRPr>
            </a:pPr>
            <a:r>
              <a:t>API clients</a:t>
            </a:r>
          </a:p>
        </p:txBody>
      </p:sp>
      <p:sp>
        <p:nvSpPr>
          <p:cNvPr id="13" name="layer-subtitle-1">
            <a:extLst xmlns:a="http://schemas.openxmlformats.org/drawingml/2006/main">
              <a:ext uri="{FF2B5EF4-FFF2-40B4-BE49-F238E27FC236}">
                <a16:creationId xmlns:a16="http://schemas.microsoft.com/office/drawing/2014/main" id="{B3FE1E00-0821-4EF8-AC8B-2AE680D6C8FD}"/>
              </a:ext>
            </a:extLst>
          </p:cNvPr>
          <p:cNvSpPr>
            <a:spLocks xmlns:a="http://schemas.openxmlformats.org/drawingml/2006/main" noGrp="1"/>
          </p:cNvSpPr>
          <p:nvPr/>
        </p:nvSpPr>
        <p:spPr>
          <a:xfrm xmlns:a="http://schemas.openxmlformats.org/drawingml/2006/main">
            <a:off x="3600450" y="3095625"/>
            <a:ext cx="2095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Typed fetch boundary</a:t>
            </a:r>
          </a:p>
        </p:txBody>
      </p:sp>
      <p:sp>
        <p:nvSpPr>
          <p:cNvPr id="14" name="layer-2">
            <a:extLst xmlns:a="http://schemas.openxmlformats.org/drawingml/2006/main">
              <a:ext uri="{FF2B5EF4-FFF2-40B4-BE49-F238E27FC236}">
                <a16:creationId xmlns:a16="http://schemas.microsoft.com/office/drawing/2014/main" id="{01ECC92C-F522-4303-957C-234B321A7E56}"/>
              </a:ext>
            </a:extLst>
          </p:cNvPr>
          <p:cNvSpPr>
            <a:spLocks xmlns:a="http://schemas.openxmlformats.org/drawingml/2006/main" noGrp="1"/>
          </p:cNvSpPr>
          <p:nvPr/>
        </p:nvSpPr>
        <p:spPr>
          <a:xfrm xmlns:a="http://schemas.openxmlformats.org/drawingml/2006/main">
            <a:off x="6324600" y="2076450"/>
            <a:ext cx="2438400" cy="163830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5" name="layer-title-2">
            <a:extLst xmlns:a="http://schemas.openxmlformats.org/drawingml/2006/main">
              <a:ext uri="{FF2B5EF4-FFF2-40B4-BE49-F238E27FC236}">
                <a16:creationId xmlns:a16="http://schemas.microsoft.com/office/drawing/2014/main" id="{086CD189-19E8-4968-8B5B-005E8BFB6073}"/>
              </a:ext>
            </a:extLst>
          </p:cNvPr>
          <p:cNvSpPr>
            <a:spLocks xmlns:a="http://schemas.openxmlformats.org/drawingml/2006/main" noGrp="1"/>
          </p:cNvSpPr>
          <p:nvPr/>
        </p:nvSpPr>
        <p:spPr>
          <a:xfrm xmlns:a="http://schemas.openxmlformats.org/drawingml/2006/main">
            <a:off x="6496050" y="2266950"/>
            <a:ext cx="209550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1">
                <a:solidFill>
                  <a:srgbClr val="202124"/>
                </a:solidFill>
                <a:latin typeface="Arial"/>
                <a:ea typeface="Arial"/>
                <a:cs typeface="Arial"/>
              </a:defRPr>
            </a:pPr>
            <a:r>
              <a:t>Route handlers</a:t>
            </a:r>
          </a:p>
        </p:txBody>
      </p:sp>
      <p:sp>
        <p:nvSpPr>
          <p:cNvPr id="16" name="layer-subtitle-2">
            <a:extLst xmlns:a="http://schemas.openxmlformats.org/drawingml/2006/main">
              <a:ext uri="{FF2B5EF4-FFF2-40B4-BE49-F238E27FC236}">
                <a16:creationId xmlns:a16="http://schemas.microsoft.com/office/drawing/2014/main" id="{9FAAF0FA-A2E2-4F98-A27C-36DC410440ED}"/>
              </a:ext>
            </a:extLst>
          </p:cNvPr>
          <p:cNvSpPr>
            <a:spLocks xmlns:a="http://schemas.openxmlformats.org/drawingml/2006/main" noGrp="1"/>
          </p:cNvSpPr>
          <p:nvPr/>
        </p:nvSpPr>
        <p:spPr>
          <a:xfrm xmlns:a="http://schemas.openxmlformats.org/drawingml/2006/main">
            <a:off x="6496050" y="3095625"/>
            <a:ext cx="2095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Validation + responses</a:t>
            </a:r>
          </a:p>
        </p:txBody>
      </p:sp>
      <p:sp>
        <p:nvSpPr>
          <p:cNvPr id="17" name="layer-3">
            <a:extLst xmlns:a="http://schemas.openxmlformats.org/drawingml/2006/main">
              <a:ext uri="{FF2B5EF4-FFF2-40B4-BE49-F238E27FC236}">
                <a16:creationId xmlns:a16="http://schemas.microsoft.com/office/drawing/2014/main" id="{911027BF-C953-47C7-877C-3BA29328DF7F}"/>
              </a:ext>
            </a:extLst>
          </p:cNvPr>
          <p:cNvSpPr>
            <a:spLocks xmlns:a="http://schemas.openxmlformats.org/drawingml/2006/main" noGrp="1"/>
          </p:cNvSpPr>
          <p:nvPr/>
        </p:nvSpPr>
        <p:spPr>
          <a:xfrm xmlns:a="http://schemas.openxmlformats.org/drawingml/2006/main">
            <a:off x="9220200" y="2076450"/>
            <a:ext cx="2438400" cy="1638300"/>
          </a:xfrm>
          <a:prstGeom xmlns:a="http://schemas.openxmlformats.org/drawingml/2006/main" prst="rect">
            <a:avLst/>
          </a:prstGeom>
          <a:solidFill xmlns:a="http://schemas.openxmlformats.org/drawingml/2006/main">
            <a:srgbClr val="F4F5F6"/>
          </a:solidFill>
          <a:ln xmlns:a="http://schemas.openxmlformats.org/drawingml/2006/main" w="0">
            <a:noFill/>
            <a:prstDash val="solid"/>
          </a:ln>
        </p:spPr>
      </p:sp>
      <p:sp>
        <p:nvSpPr>
          <p:cNvPr id="18" name="layer-title-3">
            <a:extLst xmlns:a="http://schemas.openxmlformats.org/drawingml/2006/main">
              <a:ext uri="{FF2B5EF4-FFF2-40B4-BE49-F238E27FC236}">
                <a16:creationId xmlns:a16="http://schemas.microsoft.com/office/drawing/2014/main" id="{A7536771-070C-4012-A2C0-4A3BB62018E9}"/>
              </a:ext>
            </a:extLst>
          </p:cNvPr>
          <p:cNvSpPr>
            <a:spLocks xmlns:a="http://schemas.openxmlformats.org/drawingml/2006/main" noGrp="1"/>
          </p:cNvSpPr>
          <p:nvPr/>
        </p:nvSpPr>
        <p:spPr>
          <a:xfrm xmlns:a="http://schemas.openxmlformats.org/drawingml/2006/main">
            <a:off x="9391650" y="2266950"/>
            <a:ext cx="209550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1">
                <a:solidFill>
                  <a:srgbClr val="202124"/>
                </a:solidFill>
                <a:latin typeface="Arial"/>
                <a:ea typeface="Arial"/>
                <a:cs typeface="Arial"/>
              </a:defRPr>
            </a:pPr>
            <a:r>
              <a:t>Server adapters</a:t>
            </a:r>
          </a:p>
        </p:txBody>
      </p:sp>
      <p:sp>
        <p:nvSpPr>
          <p:cNvPr id="19" name="layer-subtitle-3">
            <a:extLst xmlns:a="http://schemas.openxmlformats.org/drawingml/2006/main">
              <a:ext uri="{FF2B5EF4-FFF2-40B4-BE49-F238E27FC236}">
                <a16:creationId xmlns:a16="http://schemas.microsoft.com/office/drawing/2014/main" id="{23C0C1C0-4171-49B1-900C-2E619BE5C68F}"/>
              </a:ext>
            </a:extLst>
          </p:cNvPr>
          <p:cNvSpPr>
            <a:spLocks xmlns:a="http://schemas.openxmlformats.org/drawingml/2006/main" noGrp="1"/>
          </p:cNvSpPr>
          <p:nvPr/>
        </p:nvSpPr>
        <p:spPr>
          <a:xfrm xmlns:a="http://schemas.openxmlformats.org/drawingml/2006/main">
            <a:off x="9391650" y="3095625"/>
            <a:ext cx="2095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Mock data today</a:t>
            </a:r>
          </a:p>
        </p:txBody>
      </p:sp>
      <p:sp>
        <p:nvSpPr>
          <p:cNvPr id="20" name="arch-takeaway">
            <a:extLst xmlns:a="http://schemas.openxmlformats.org/drawingml/2006/main">
              <a:ext uri="{FF2B5EF4-FFF2-40B4-BE49-F238E27FC236}">
                <a16:creationId xmlns:a16="http://schemas.microsoft.com/office/drawing/2014/main" id="{72E9EE80-955C-45E8-8D8A-5C190924891B}"/>
              </a:ext>
            </a:extLst>
          </p:cNvPr>
          <p:cNvSpPr>
            <a:spLocks xmlns:a="http://schemas.openxmlformats.org/drawingml/2006/main" noGrp="1"/>
          </p:cNvSpPr>
          <p:nvPr/>
        </p:nvSpPr>
        <p:spPr>
          <a:xfrm xmlns:a="http://schemas.openxmlformats.org/drawingml/2006/main">
            <a:off x="533400" y="4381500"/>
            <a:ext cx="111252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700" b="1">
                <a:solidFill>
                  <a:srgbClr val="202124"/>
                </a:solidFill>
                <a:latin typeface="Arial"/>
                <a:ea typeface="Arial"/>
                <a:cs typeface="Arial"/>
              </a:defRPr>
            </a:pPr>
            <a:r>
              <a:t>Replace the server adapters when connecting real data.</a:t>
            </a:r>
          </a:p>
        </p:txBody>
      </p:sp>
      <p:sp>
        <p:nvSpPr>
          <p:cNvPr id="21" name="arch-detail">
            <a:extLst xmlns:a="http://schemas.openxmlformats.org/drawingml/2006/main">
              <a:ext uri="{FF2B5EF4-FFF2-40B4-BE49-F238E27FC236}">
                <a16:creationId xmlns:a16="http://schemas.microsoft.com/office/drawing/2014/main" id="{29EAC2CE-1F2E-4F3B-BD37-6D25F9B9749B}"/>
              </a:ext>
            </a:extLst>
          </p:cNvPr>
          <p:cNvSpPr>
            <a:spLocks xmlns:a="http://schemas.openxmlformats.org/drawingml/2006/main" noGrp="1"/>
          </p:cNvSpPr>
          <p:nvPr/>
        </p:nvSpPr>
        <p:spPr>
          <a:xfrm xmlns:a="http://schemas.openxmlformats.org/drawingml/2006/main">
            <a:off x="533400" y="5210175"/>
            <a:ext cx="111252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60646C"/>
                </a:solidFill>
                <a:latin typeface="Arial"/>
                <a:ea typeface="Arial"/>
                <a:cs typeface="Arial"/>
              </a:defRPr>
            </a:pPr>
            <a:r>
              <a:t>Preserve the request/response contracts so the UI does not need to be redesigned.</a:t>
            </a:r>
          </a:p>
        </p:txBody>
      </p:sp>
    </p:spTree>
    <p:extLst>
      <p:ext uri="{BB962C8B-B14F-4D97-AF65-F5344CB8AC3E}">
        <p14:creationId xmlns:p14="http://schemas.microsoft.com/office/powerpoint/2010/main" val="883867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059CB0C6-0541-4467-A742-08C5C3B2B692}"/>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13</a:t>
            </a:r>
          </a:p>
        </p:txBody>
      </p:sp>
      <p:sp>
        <p:nvSpPr>
          <p:cNvPr id="2" name="title">
            <a:extLst xmlns:a="http://schemas.openxmlformats.org/drawingml/2006/main">
              <a:ext uri="{FF2B5EF4-FFF2-40B4-BE49-F238E27FC236}">
                <a16:creationId xmlns:a16="http://schemas.microsoft.com/office/drawing/2014/main" id="{EF7CCB20-6025-4102-BC96-93F955433009}"/>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Each module has a focused responsibility</a:t>
            </a:r>
          </a:p>
        </p:txBody>
      </p:sp>
      <p:sp>
        <p:nvSpPr>
          <p:cNvPr id="3" name="footer">
            <a:extLst xmlns:a="http://schemas.openxmlformats.org/drawingml/2006/main">
              <a:ext uri="{FF2B5EF4-FFF2-40B4-BE49-F238E27FC236}">
                <a16:creationId xmlns:a16="http://schemas.microsoft.com/office/drawing/2014/main" id="{FB3CBD8D-8552-496F-AFF3-0C2A4ACDC668}"/>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Each module has a focused responsibility</a:t>
            </a:r>
          </a:p>
        </p:txBody>
      </p:sp>
      <p:sp>
        <p:nvSpPr>
          <p:cNvPr id="4" name="page">
            <a:extLst xmlns:a="http://schemas.openxmlformats.org/drawingml/2006/main">
              <a:ext uri="{FF2B5EF4-FFF2-40B4-BE49-F238E27FC236}">
                <a16:creationId xmlns:a16="http://schemas.microsoft.com/office/drawing/2014/main" id="{6E9A0956-B19E-4772-96DB-6EA95AFDBD06}"/>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13</a:t>
            </a:r>
          </a:p>
        </p:txBody>
      </p:sp>
      <p:sp>
        <p:nvSpPr>
          <p:cNvPr id="5" name="Application structure-heading">
            <a:extLst xmlns:a="http://schemas.openxmlformats.org/drawingml/2006/main">
              <a:ext uri="{FF2B5EF4-FFF2-40B4-BE49-F238E27FC236}">
                <a16:creationId xmlns:a16="http://schemas.microsoft.com/office/drawing/2014/main" id="{30456C56-4C37-4E57-9088-2B52BE552052}"/>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Application structure</a:t>
            </a:r>
          </a:p>
        </p:txBody>
      </p:sp>
      <p:sp>
        <p:nvSpPr>
          <p:cNvPr id="6" name="Application structure-255">
            <a:extLst xmlns:a="http://schemas.openxmlformats.org/drawingml/2006/main">
              <a:ext uri="{FF2B5EF4-FFF2-40B4-BE49-F238E27FC236}">
                <a16:creationId xmlns:a16="http://schemas.microsoft.com/office/drawing/2014/main" id="{A6D36165-53FE-4A25-BDD9-D716BF57EFE2}"/>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app/ owns routes, metadata, loading, error, and not-found boundaries.</a:t>
            </a:r>
          </a:p>
        </p:txBody>
      </p:sp>
      <p:sp>
        <p:nvSpPr>
          <p:cNvPr id="7" name="Application structure-333">
            <a:extLst xmlns:a="http://schemas.openxmlformats.org/drawingml/2006/main">
              <a:ext uri="{FF2B5EF4-FFF2-40B4-BE49-F238E27FC236}">
                <a16:creationId xmlns:a16="http://schemas.microsoft.com/office/drawing/2014/main" id="{98AE0471-8842-4247-9983-C5511D1AE661}"/>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components/ owns the responsive shell, branding, Button, and Input.</a:t>
            </a:r>
          </a:p>
        </p:txBody>
      </p:sp>
      <p:sp>
        <p:nvSpPr>
          <p:cNvPr id="8" name="Application structure-411">
            <a:extLst xmlns:a="http://schemas.openxmlformats.org/drawingml/2006/main">
              <a:ext uri="{FF2B5EF4-FFF2-40B4-BE49-F238E27FC236}">
                <a16:creationId xmlns:a16="http://schemas.microsoft.com/office/drawing/2014/main" id="{78CC5748-9781-4D01-AC6C-FD17B40DAEB8}"/>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features/ owns search and the composed case workspace.</a:t>
            </a:r>
          </a:p>
        </p:txBody>
      </p:sp>
      <p:sp>
        <p:nvSpPr>
          <p:cNvPr id="9" name="Behavior and integration-heading">
            <a:extLst xmlns:a="http://schemas.openxmlformats.org/drawingml/2006/main">
              <a:ext uri="{FF2B5EF4-FFF2-40B4-BE49-F238E27FC236}">
                <a16:creationId xmlns:a16="http://schemas.microsoft.com/office/drawing/2014/main" id="{E4B6FF5D-781B-4B00-985C-892C72D86B2C}"/>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Behavior and integration</a:t>
            </a:r>
          </a:p>
        </p:txBody>
      </p:sp>
      <p:sp>
        <p:nvSpPr>
          <p:cNvPr id="10" name="Behavior and integration-255">
            <a:extLst xmlns:a="http://schemas.openxmlformats.org/drawingml/2006/main">
              <a:ext uri="{FF2B5EF4-FFF2-40B4-BE49-F238E27FC236}">
                <a16:creationId xmlns:a16="http://schemas.microsoft.com/office/drawing/2014/main" id="{259B44CE-533E-4D96-A481-3008291CC062}"/>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services/ separates browser API clients from server-only provider adapters.</a:t>
            </a:r>
          </a:p>
        </p:txBody>
      </p:sp>
      <p:sp>
        <p:nvSpPr>
          <p:cNvPr id="11" name="Behavior and integration-333">
            <a:extLst xmlns:a="http://schemas.openxmlformats.org/drawingml/2006/main">
              <a:ext uri="{FF2B5EF4-FFF2-40B4-BE49-F238E27FC236}">
                <a16:creationId xmlns:a16="http://schemas.microsoft.com/office/drawing/2014/main" id="{CF1FFA5D-EA8A-4B22-B83C-A04B0030FB95}"/>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Zod schemas validate API data at runtime.</a:t>
            </a:r>
          </a:p>
        </p:txBody>
      </p:sp>
      <p:sp>
        <p:nvSpPr>
          <p:cNvPr id="12" name="Behavior and integration-411">
            <a:extLst xmlns:a="http://schemas.openxmlformats.org/drawingml/2006/main">
              <a:ext uri="{FF2B5EF4-FFF2-40B4-BE49-F238E27FC236}">
                <a16:creationId xmlns:a16="http://schemas.microsoft.com/office/drawing/2014/main" id="{2FAA3785-3C22-4D1F-BE5E-F578EBE7FFD8}"/>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 typed case reducer handles lifecycle and review edits.</a:t>
            </a:r>
          </a:p>
        </p:txBody>
      </p:sp>
    </p:spTree>
    <p:extLst>
      <p:ext uri="{BB962C8B-B14F-4D97-AF65-F5344CB8AC3E}">
        <p14:creationId xmlns:p14="http://schemas.microsoft.com/office/powerpoint/2010/main" val="3895903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8F757B92-6E6D-41E2-88EA-A78FFDA49A85}"/>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14</a:t>
            </a:r>
          </a:p>
        </p:txBody>
      </p:sp>
      <p:sp>
        <p:nvSpPr>
          <p:cNvPr id="2" name="title">
            <a:extLst xmlns:a="http://schemas.openxmlformats.org/drawingml/2006/main">
              <a:ext uri="{FF2B5EF4-FFF2-40B4-BE49-F238E27FC236}">
                <a16:creationId xmlns:a16="http://schemas.microsoft.com/office/drawing/2014/main" id="{3D48AAC7-FB70-4C1D-BF69-D8765248D09A}"/>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Routes keep the workspace predictable</a:t>
            </a:r>
          </a:p>
        </p:txBody>
      </p:sp>
      <p:sp>
        <p:nvSpPr>
          <p:cNvPr id="3" name="footer">
            <a:extLst xmlns:a="http://schemas.openxmlformats.org/drawingml/2006/main">
              <a:ext uri="{FF2B5EF4-FFF2-40B4-BE49-F238E27FC236}">
                <a16:creationId xmlns:a16="http://schemas.microsoft.com/office/drawing/2014/main" id="{6719DBC1-A872-49B6-B4AB-F6B7ED6DE21C}"/>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Routes keep the workspace predictable</a:t>
            </a:r>
          </a:p>
        </p:txBody>
      </p:sp>
      <p:sp>
        <p:nvSpPr>
          <p:cNvPr id="4" name="page">
            <a:extLst xmlns:a="http://schemas.openxmlformats.org/drawingml/2006/main">
              <a:ext uri="{FF2B5EF4-FFF2-40B4-BE49-F238E27FC236}">
                <a16:creationId xmlns:a16="http://schemas.microsoft.com/office/drawing/2014/main" id="{CCE4063E-C6B1-46E8-8C3D-A6DF7676219B}"/>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14</a:t>
            </a:r>
          </a:p>
        </p:txBody>
      </p:sp>
      <p:graphicFrame>
        <p:nvGraphicFramePr>
          <p:cNvPr id="10" name=""/>
          <p:cNvGraphicFramePr/>
          <p:nvPr/>
        </p:nvGraphicFramePr>
        <p:xfrm>
          <a:off xmlns:a="http://schemas.openxmlformats.org/drawingml/2006/main" x="533400" y="1647825"/>
          <a:ext xmlns:a="http://schemas.openxmlformats.org/drawingml/2006/main" cx="11125200" cy="4171950"/>
        </p:xfrm>
        <a:graphic xmlns:a="http://schemas.openxmlformats.org/drawingml/2006/main">
          <a:graphicData uri="http://schemas.openxmlformats.org/drawingml/2006/table">
            <a:tbl>
              <a:tblPr/>
              <a:tblGrid>
                <a:gridCol w="3429000"/>
                <a:gridCol w="7696200"/>
              </a:tblGrid>
              <a:tr h="595993">
                <a:tc>
                  <a:txBody>
                    <a:bodyPr anchor="ctr"/>
                    <a:lstStyle/>
                    <a:p>
                      <a:r>
                        <a:rPr sz="1800" b="1">
                          <a:solidFill>
                            <a:srgbClr val="202124"/>
                          </a:solidFill>
                          <a:latin typeface="Arial"/>
                          <a:ea typeface="Arial"/>
                          <a:cs typeface="Arial"/>
                        </a:rPr>
                        <a:t>Route</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Responsibility</a:t>
                      </a:r>
                    </a:p>
                  </a:txBody>
                  <a:tcPr marL="91440" marR="91440" marT="45720" marB="45720">
                    <a:solidFill>
                      <a:srgbClr val="F4F5F6"/>
                    </a:solidFill>
                  </a:tcPr>
                </a:tc>
              </a:tr>
              <a:tr h="595993">
                <a:tc>
                  <a:txBody>
                    <a:bodyPr anchor="ctr"/>
                    <a:lstStyle/>
                    <a:p>
                      <a:r>
                        <a:rPr sz="1800" b="0">
                          <a:solidFill>
                            <a:srgbClr val="202124"/>
                          </a:solidFill>
                          <a:latin typeface="Arial"/>
                          <a:ea typeface="Arial"/>
                          <a:cs typeface="Arial"/>
                        </a:rPr>
                        <a: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Entity Search and result confirmation</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/entities/[id]</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Server lookup + Overview / Assessment / Memo tabs</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/dashboard</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Start a screening or explore the sample case</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/cases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Open the fixed demonstration case</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/reference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Workflow guidance and demo limitations</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/api/entities; /api/screenings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Search and screening API boundaries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733885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FD0ADA9A-3B62-4254-9295-EA00BB13209A}"/>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15</a:t>
            </a:r>
          </a:p>
        </p:txBody>
      </p:sp>
      <p:sp>
        <p:nvSpPr>
          <p:cNvPr id="2" name="title">
            <a:extLst xmlns:a="http://schemas.openxmlformats.org/drawingml/2006/main">
              <a:ext uri="{FF2B5EF4-FFF2-40B4-BE49-F238E27FC236}">
                <a16:creationId xmlns:a16="http://schemas.microsoft.com/office/drawing/2014/main" id="{4A31277B-33B6-46D0-BBFD-29EEC63AF517}"/>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Search has a small validated contract</a:t>
            </a:r>
          </a:p>
        </p:txBody>
      </p:sp>
      <p:sp>
        <p:nvSpPr>
          <p:cNvPr id="3" name="footer">
            <a:extLst xmlns:a="http://schemas.openxmlformats.org/drawingml/2006/main">
              <a:ext uri="{FF2B5EF4-FFF2-40B4-BE49-F238E27FC236}">
                <a16:creationId xmlns:a16="http://schemas.microsoft.com/office/drawing/2014/main" id="{DD6A6895-C89A-4DB4-998C-809503AF1BE5}"/>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Search has a small validated contract</a:t>
            </a:r>
          </a:p>
        </p:txBody>
      </p:sp>
      <p:sp>
        <p:nvSpPr>
          <p:cNvPr id="4" name="page">
            <a:extLst xmlns:a="http://schemas.openxmlformats.org/drawingml/2006/main">
              <a:ext uri="{FF2B5EF4-FFF2-40B4-BE49-F238E27FC236}">
                <a16:creationId xmlns:a16="http://schemas.microsoft.com/office/drawing/2014/main" id="{F0B238A1-BD16-4C10-9BD6-D06CD4DFF839}"/>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15</a:t>
            </a:r>
          </a:p>
        </p:txBody>
      </p:sp>
      <p:sp>
        <p:nvSpPr>
          <p:cNvPr id="5" name="GET /api/entities-heading">
            <a:extLst xmlns:a="http://schemas.openxmlformats.org/drawingml/2006/main">
              <a:ext uri="{FF2B5EF4-FFF2-40B4-BE49-F238E27FC236}">
                <a16:creationId xmlns:a16="http://schemas.microsoft.com/office/drawing/2014/main" id="{77732764-1928-4651-BEB9-BB0F0DFF5ADD}"/>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GET /api/entities</a:t>
            </a:r>
          </a:p>
        </p:txBody>
      </p:sp>
      <p:sp>
        <p:nvSpPr>
          <p:cNvPr id="6" name="GET /api/entities-255">
            <a:extLst xmlns:a="http://schemas.openxmlformats.org/drawingml/2006/main">
              <a:ext uri="{FF2B5EF4-FFF2-40B4-BE49-F238E27FC236}">
                <a16:creationId xmlns:a16="http://schemas.microsoft.com/office/drawing/2014/main" id="{DA18AA8B-2411-407A-8AA7-2F348DCC117F}"/>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Request: ?q=Meridian</a:t>
            </a:r>
          </a:p>
        </p:txBody>
      </p:sp>
      <p:sp>
        <p:nvSpPr>
          <p:cNvPr id="7" name="GET /api/entities-333">
            <a:extLst xmlns:a="http://schemas.openxmlformats.org/drawingml/2006/main">
              <a:ext uri="{FF2B5EF4-FFF2-40B4-BE49-F238E27FC236}">
                <a16:creationId xmlns:a16="http://schemas.microsoft.com/office/drawing/2014/main" id="{D03FFD17-FFC0-43B1-AD7D-477DD34F25F0}"/>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Response: { query, entities }</a:t>
            </a:r>
          </a:p>
        </p:txBody>
      </p:sp>
      <p:sp>
        <p:nvSpPr>
          <p:cNvPr id="8" name="GET /api/entities-411">
            <a:extLst xmlns:a="http://schemas.openxmlformats.org/drawingml/2006/main">
              <a:ext uri="{FF2B5EF4-FFF2-40B4-BE49-F238E27FC236}">
                <a16:creationId xmlns:a16="http://schemas.microsoft.com/office/drawing/2014/main" id="{E78977A0-2FDA-424E-9B7F-52D31137E187}"/>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Matching is case-insensitive across name, legal name, GCIF, and group name.</a:t>
            </a:r>
          </a:p>
        </p:txBody>
      </p:sp>
      <p:sp>
        <p:nvSpPr>
          <p:cNvPr id="9" name="Boundary behavior-heading">
            <a:extLst xmlns:a="http://schemas.openxmlformats.org/drawingml/2006/main">
              <a:ext uri="{FF2B5EF4-FFF2-40B4-BE49-F238E27FC236}">
                <a16:creationId xmlns:a16="http://schemas.microsoft.com/office/drawing/2014/main" id="{DB0C7627-D43A-49BE-9EA5-735B3E461B81}"/>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Boundary behavior</a:t>
            </a:r>
          </a:p>
        </p:txBody>
      </p:sp>
      <p:sp>
        <p:nvSpPr>
          <p:cNvPr id="10" name="Boundary behavior-255">
            <a:extLst xmlns:a="http://schemas.openxmlformats.org/drawingml/2006/main">
              <a:ext uri="{FF2B5EF4-FFF2-40B4-BE49-F238E27FC236}">
                <a16:creationId xmlns:a16="http://schemas.microsoft.com/office/drawing/2014/main" id="{4F36B2C7-3102-49C2-95BE-997276E7F6B5}"/>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Trim input; require 1–120 characters; reject control characters.</a:t>
            </a:r>
          </a:p>
        </p:txBody>
      </p:sp>
      <p:sp>
        <p:nvSpPr>
          <p:cNvPr id="11" name="Boundary behavior-333">
            <a:extLst xmlns:a="http://schemas.openxmlformats.org/drawingml/2006/main">
              <a:ext uri="{FF2B5EF4-FFF2-40B4-BE49-F238E27FC236}">
                <a16:creationId xmlns:a16="http://schemas.microsoft.com/office/drawing/2014/main" id="{2B829C03-D331-4F67-B480-9BBBE9000178}"/>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Validate returned entity fields and ownership percentages.</a:t>
            </a:r>
          </a:p>
        </p:txBody>
      </p:sp>
      <p:sp>
        <p:nvSpPr>
          <p:cNvPr id="12" name="Boundary behavior-411">
            <a:extLst xmlns:a="http://schemas.openxmlformats.org/drawingml/2006/main">
              <a:ext uri="{FF2B5EF4-FFF2-40B4-BE49-F238E27FC236}">
                <a16:creationId xmlns:a16="http://schemas.microsoft.com/office/drawing/2014/main" id="{D4F00CF8-B30A-44F2-84D3-581855057083}"/>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400 invalid query; 503 unavailable service. Private, no-store responses.</a:t>
            </a:r>
          </a:p>
        </p:txBody>
      </p:sp>
    </p:spTree>
    <p:extLst>
      <p:ext uri="{BB962C8B-B14F-4D97-AF65-F5344CB8AC3E}">
        <p14:creationId xmlns:p14="http://schemas.microsoft.com/office/powerpoint/2010/main" val="18448026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6165CE53-CA7F-44A3-B9B7-D2A83E832201}"/>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16</a:t>
            </a:r>
          </a:p>
        </p:txBody>
      </p:sp>
      <p:sp>
        <p:nvSpPr>
          <p:cNvPr id="2" name="title">
            <a:extLst xmlns:a="http://schemas.openxmlformats.org/drawingml/2006/main">
              <a:ext uri="{FF2B5EF4-FFF2-40B4-BE49-F238E27FC236}">
                <a16:creationId xmlns:a16="http://schemas.microsoft.com/office/drawing/2014/main" id="{B65B2AC5-7B63-49C5-8BFA-18906709B286}"/>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Screening returns a typed report</a:t>
            </a:r>
          </a:p>
        </p:txBody>
      </p:sp>
      <p:sp>
        <p:nvSpPr>
          <p:cNvPr id="3" name="footer">
            <a:extLst xmlns:a="http://schemas.openxmlformats.org/drawingml/2006/main">
              <a:ext uri="{FF2B5EF4-FFF2-40B4-BE49-F238E27FC236}">
                <a16:creationId xmlns:a16="http://schemas.microsoft.com/office/drawing/2014/main" id="{C34F33AA-DC77-4FB7-9E44-905A401007B5}"/>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Screening returns a typed report</a:t>
            </a:r>
          </a:p>
        </p:txBody>
      </p:sp>
      <p:sp>
        <p:nvSpPr>
          <p:cNvPr id="4" name="page">
            <a:extLst xmlns:a="http://schemas.openxmlformats.org/drawingml/2006/main">
              <a:ext uri="{FF2B5EF4-FFF2-40B4-BE49-F238E27FC236}">
                <a16:creationId xmlns:a16="http://schemas.microsoft.com/office/drawing/2014/main" id="{AA27F140-3FEF-4409-A73D-D6AC3CD5EA52}"/>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16</a:t>
            </a:r>
          </a:p>
        </p:txBody>
      </p:sp>
      <p:sp>
        <p:nvSpPr>
          <p:cNvPr id="5" name="POST /api/screenings-heading">
            <a:extLst xmlns:a="http://schemas.openxmlformats.org/drawingml/2006/main">
              <a:ext uri="{FF2B5EF4-FFF2-40B4-BE49-F238E27FC236}">
                <a16:creationId xmlns:a16="http://schemas.microsoft.com/office/drawing/2014/main" id="{30B71204-C7B0-4CC8-BE48-6D6966517B1E}"/>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POST /api/screenings</a:t>
            </a:r>
          </a:p>
        </p:txBody>
      </p:sp>
      <p:sp>
        <p:nvSpPr>
          <p:cNvPr id="6" name="POST /api/screenings-255">
            <a:extLst xmlns:a="http://schemas.openxmlformats.org/drawingml/2006/main">
              <a:ext uri="{FF2B5EF4-FFF2-40B4-BE49-F238E27FC236}">
                <a16:creationId xmlns:a16="http://schemas.microsoft.com/office/drawing/2014/main" id="{92B73F0A-3F81-4FEB-9639-39FAA6FD14A3}"/>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Request: { entityId: "ENT-001" }</a:t>
            </a:r>
          </a:p>
        </p:txBody>
      </p:sp>
      <p:sp>
        <p:nvSpPr>
          <p:cNvPr id="7" name="POST /api/screenings-333">
            <a:extLst xmlns:a="http://schemas.openxmlformats.org/drawingml/2006/main">
              <a:ext uri="{FF2B5EF4-FFF2-40B4-BE49-F238E27FC236}">
                <a16:creationId xmlns:a16="http://schemas.microsoft.com/office/drawing/2014/main" id="{7242B0B7-6043-4AB6-8017-885C98A7A81B}"/>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Report: ID, entityId, generatedAt, overallRisk, categories, and findings.</a:t>
            </a:r>
          </a:p>
        </p:txBody>
      </p:sp>
      <p:sp>
        <p:nvSpPr>
          <p:cNvPr id="8" name="POST /api/screenings-411">
            <a:extLst xmlns:a="http://schemas.openxmlformats.org/drawingml/2006/main">
              <a:ext uri="{FF2B5EF4-FFF2-40B4-BE49-F238E27FC236}">
                <a16:creationId xmlns:a16="http://schemas.microsoft.com/office/drawing/2014/main" id="{F07A5720-8583-4595-81BC-18A1EF12E0B8}"/>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Client verifies the schema and that the response entity matches the request.</a:t>
            </a:r>
          </a:p>
        </p:txBody>
      </p:sp>
      <p:sp>
        <p:nvSpPr>
          <p:cNvPr id="9" name="Current mock response-heading">
            <a:extLst xmlns:a="http://schemas.openxmlformats.org/drawingml/2006/main">
              <a:ext uri="{FF2B5EF4-FFF2-40B4-BE49-F238E27FC236}">
                <a16:creationId xmlns:a16="http://schemas.microsoft.com/office/drawing/2014/main" id="{0F70D9FF-4ABB-4980-B682-DACB1FC6FCA1}"/>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Current mock response</a:t>
            </a:r>
          </a:p>
        </p:txBody>
      </p:sp>
      <p:sp>
        <p:nvSpPr>
          <p:cNvPr id="10" name="Current mock response-255">
            <a:extLst xmlns:a="http://schemas.openxmlformats.org/drawingml/2006/main">
              <a:ext uri="{FF2B5EF4-FFF2-40B4-BE49-F238E27FC236}">
                <a16:creationId xmlns:a16="http://schemas.microsoft.com/office/drawing/2014/main" id="{2E7D481F-2208-40F9-B507-886B29BBABFA}"/>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Case: ARMO-2026-0005</a:t>
            </a:r>
          </a:p>
        </p:txBody>
      </p:sp>
      <p:sp>
        <p:nvSpPr>
          <p:cNvPr id="11" name="Current mock response-333">
            <a:extLst xmlns:a="http://schemas.openxmlformats.org/drawingml/2006/main">
              <a:ext uri="{FF2B5EF4-FFF2-40B4-BE49-F238E27FC236}">
                <a16:creationId xmlns:a16="http://schemas.microsoft.com/office/drawing/2014/main" id="{5F70FD4B-B06F-4752-B3C7-5EC92FA4CBB2}"/>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3 group entities; 84 illustrative sources; 2 fictional findings.</a:t>
            </a:r>
          </a:p>
        </p:txBody>
      </p:sp>
      <p:sp>
        <p:nvSpPr>
          <p:cNvPr id="12" name="Current mock response-411">
            <a:extLst xmlns:a="http://schemas.openxmlformats.org/drawingml/2006/main">
              <a:ext uri="{FF2B5EF4-FFF2-40B4-BE49-F238E27FC236}">
                <a16:creationId xmlns:a16="http://schemas.microsoft.com/office/drawing/2014/main" id="{90DED8D7-FCFA-4939-B5DB-721D2A2F9243}"/>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Provider inherent risk: Critical. The response is marked sample: true.</a:t>
            </a:r>
          </a:p>
        </p:txBody>
      </p:sp>
    </p:spTree>
    <p:extLst>
      <p:ext uri="{BB962C8B-B14F-4D97-AF65-F5344CB8AC3E}">
        <p14:creationId xmlns:p14="http://schemas.microsoft.com/office/powerpoint/2010/main" val="16578882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5B971F05-B8C5-4837-B106-29CC43F3AB0D}"/>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17</a:t>
            </a:r>
          </a:p>
        </p:txBody>
      </p:sp>
      <p:sp>
        <p:nvSpPr>
          <p:cNvPr id="2" name="title">
            <a:extLst xmlns:a="http://schemas.openxmlformats.org/drawingml/2006/main">
              <a:ext uri="{FF2B5EF4-FFF2-40B4-BE49-F238E27FC236}">
                <a16:creationId xmlns:a16="http://schemas.microsoft.com/office/drawing/2014/main" id="{814918F2-8737-47C4-B03F-B5DAC014872B}"/>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The screening API rejects invalid requests</a:t>
            </a:r>
          </a:p>
        </p:txBody>
      </p:sp>
      <p:sp>
        <p:nvSpPr>
          <p:cNvPr id="3" name="footer">
            <a:extLst xmlns:a="http://schemas.openxmlformats.org/drawingml/2006/main">
              <a:ext uri="{FF2B5EF4-FFF2-40B4-BE49-F238E27FC236}">
                <a16:creationId xmlns:a16="http://schemas.microsoft.com/office/drawing/2014/main" id="{9FD9732A-2817-4283-A32A-97612EED3D01}"/>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The screening API rejects invalid requests</a:t>
            </a:r>
          </a:p>
        </p:txBody>
      </p:sp>
      <p:sp>
        <p:nvSpPr>
          <p:cNvPr id="4" name="page">
            <a:extLst xmlns:a="http://schemas.openxmlformats.org/drawingml/2006/main">
              <a:ext uri="{FF2B5EF4-FFF2-40B4-BE49-F238E27FC236}">
                <a16:creationId xmlns:a16="http://schemas.microsoft.com/office/drawing/2014/main" id="{D3333897-7DD7-4795-B843-0348C1785F5A}"/>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17</a:t>
            </a:r>
          </a:p>
        </p:txBody>
      </p:sp>
      <p:graphicFrame>
        <p:nvGraphicFramePr>
          <p:cNvPr id="10" name=""/>
          <p:cNvGraphicFramePr/>
          <p:nvPr/>
        </p:nvGraphicFramePr>
        <p:xfrm>
          <a:off xmlns:a="http://schemas.openxmlformats.org/drawingml/2006/main" x="533400" y="1638300"/>
          <a:ext xmlns:a="http://schemas.openxmlformats.org/drawingml/2006/main" cx="11125200" cy="4171950"/>
        </p:xfrm>
        <a:graphic xmlns:a="http://schemas.openxmlformats.org/drawingml/2006/main">
          <a:graphicData uri="http://schemas.openxmlformats.org/drawingml/2006/table">
            <a:tbl>
              <a:tblPr/>
              <a:tblGrid>
                <a:gridCol w="1190625"/>
                <a:gridCol w="5715000"/>
                <a:gridCol w="4219575"/>
              </a:tblGrid>
              <a:tr h="595993">
                <a:tc>
                  <a:txBody>
                    <a:bodyPr anchor="ctr"/>
                    <a:lstStyle/>
                    <a:p>
                      <a:r>
                        <a:rPr sz="1800" b="1">
                          <a:solidFill>
                            <a:srgbClr val="202124"/>
                          </a:solidFill>
                          <a:latin typeface="Arial"/>
                          <a:ea typeface="Arial"/>
                          <a:cs typeface="Arial"/>
                        </a:rPr>
                        <a:t>HTTP</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Condition</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Boundary</a:t>
                      </a:r>
                    </a:p>
                  </a:txBody>
                  <a:tcPr marL="91440" marR="91440" marT="45720" marB="45720">
                    <a:solidFill>
                      <a:srgbClr val="F4F5F6"/>
                    </a:solidFill>
                  </a:tcPr>
                </a:tc>
              </a:tr>
              <a:tr h="595993">
                <a:tc>
                  <a:txBody>
                    <a:bodyPr anchor="ctr"/>
                    <a:lstStyle/>
                    <a:p>
                      <a:r>
                        <a:rPr sz="1800" b="0">
                          <a:solidFill>
                            <a:srgbClr val="202124"/>
                          </a:solidFill>
                          <a:latin typeface="Arial"/>
                          <a:ea typeface="Arial"/>
                          <a:cs typeface="Arial"/>
                        </a:rPr>
                        <a:t>400</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Malformed JSON or invalid shape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Strict request schema</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403</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Origin differs from expected origin</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APP_ORIGIN or protocol + Host</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404</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Entity ID is not in the directory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Server entity lookup</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413</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Read body exceeds 2,048 characters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Local size check</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415</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Content type is not application/json</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Content-type check</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500</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Provider throws unexpectedly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Generic failure response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139764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913BE1F9-FAD2-47A8-9421-3F525B13618E}"/>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18</a:t>
            </a:r>
          </a:p>
        </p:txBody>
      </p:sp>
      <p:sp>
        <p:nvSpPr>
          <p:cNvPr id="2" name="title">
            <a:extLst xmlns:a="http://schemas.openxmlformats.org/drawingml/2006/main">
              <a:ext uri="{FF2B5EF4-FFF2-40B4-BE49-F238E27FC236}">
                <a16:creationId xmlns:a16="http://schemas.microsoft.com/office/drawing/2014/main" id="{2B1D926B-94C4-44FF-A740-9742EF9A7170}"/>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Three data groups drive the workspace</a:t>
            </a:r>
          </a:p>
        </p:txBody>
      </p:sp>
      <p:sp>
        <p:nvSpPr>
          <p:cNvPr id="3" name="footer">
            <a:extLst xmlns:a="http://schemas.openxmlformats.org/drawingml/2006/main">
              <a:ext uri="{FF2B5EF4-FFF2-40B4-BE49-F238E27FC236}">
                <a16:creationId xmlns:a16="http://schemas.microsoft.com/office/drawing/2014/main" id="{96F931F0-5870-4898-8E15-E04621AF6123}"/>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Three data groups drive the workspace</a:t>
            </a:r>
          </a:p>
        </p:txBody>
      </p:sp>
      <p:sp>
        <p:nvSpPr>
          <p:cNvPr id="4" name="page">
            <a:extLst xmlns:a="http://schemas.openxmlformats.org/drawingml/2006/main">
              <a:ext uri="{FF2B5EF4-FFF2-40B4-BE49-F238E27FC236}">
                <a16:creationId xmlns:a16="http://schemas.microsoft.com/office/drawing/2014/main" id="{F3A490B1-80CD-42DE-B7BD-5AF76D8AC7E4}"/>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18</a:t>
            </a:r>
          </a:p>
        </p:txBody>
      </p:sp>
      <p:sp>
        <p:nvSpPr>
          <p:cNvPr id="5" name="Entity-heading">
            <a:extLst xmlns:a="http://schemas.openxmlformats.org/drawingml/2006/main">
              <a:ext uri="{FF2B5EF4-FFF2-40B4-BE49-F238E27FC236}">
                <a16:creationId xmlns:a16="http://schemas.microsoft.com/office/drawing/2014/main" id="{346BEA91-50FB-475F-86A9-60274C9B4554}"/>
              </a:ext>
            </a:extLst>
          </p:cNvPr>
          <p:cNvSpPr>
            <a:spLocks xmlns:a="http://schemas.openxmlformats.org/drawingml/2006/main" noGrp="1"/>
          </p:cNvSpPr>
          <p:nvPr/>
        </p:nvSpPr>
        <p:spPr>
          <a:xfrm xmlns:a="http://schemas.openxmlformats.org/drawingml/2006/main">
            <a:off x="53340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Entity</a:t>
            </a:r>
          </a:p>
        </p:txBody>
      </p:sp>
      <p:sp>
        <p:nvSpPr>
          <p:cNvPr id="6" name="Entity-271">
            <a:extLst xmlns:a="http://schemas.openxmlformats.org/drawingml/2006/main">
              <a:ext uri="{FF2B5EF4-FFF2-40B4-BE49-F238E27FC236}">
                <a16:creationId xmlns:a16="http://schemas.microsoft.com/office/drawing/2014/main" id="{C73D2A6D-342B-45FE-8CDE-0C07DAC1B81C}"/>
              </a:ext>
            </a:extLst>
          </p:cNvPr>
          <p:cNvSpPr>
            <a:spLocks xmlns:a="http://schemas.openxmlformats.org/drawingml/2006/main" noGrp="1"/>
          </p:cNvSpPr>
          <p:nvPr/>
        </p:nvSpPr>
        <p:spPr>
          <a:xfrm xmlns:a="http://schemas.openxmlformats.org/drawingml/2006/main">
            <a:off x="533400"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ID, name, legal name, country, sector, GCIF, role, parent, and rating.</a:t>
            </a:r>
          </a:p>
        </p:txBody>
      </p:sp>
      <p:sp>
        <p:nvSpPr>
          <p:cNvPr id="7" name="Entity-377">
            <a:extLst xmlns:a="http://schemas.openxmlformats.org/drawingml/2006/main">
              <a:ext uri="{FF2B5EF4-FFF2-40B4-BE49-F238E27FC236}">
                <a16:creationId xmlns:a16="http://schemas.microsoft.com/office/drawing/2014/main" id="{03F857E8-B10C-414B-B456-BDF65F19CC28}"/>
              </a:ext>
            </a:extLst>
          </p:cNvPr>
          <p:cNvSpPr>
            <a:spLocks xmlns:a="http://schemas.openxmlformats.org/drawingml/2006/main" noGrp="1"/>
          </p:cNvSpPr>
          <p:nvPr/>
        </p:nvSpPr>
        <p:spPr>
          <a:xfrm xmlns:a="http://schemas.openxmlformats.org/drawingml/2006/main">
            <a:off x="533400" y="359092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Group name and members with ownership percentages.</a:t>
            </a:r>
          </a:p>
        </p:txBody>
      </p:sp>
      <p:sp>
        <p:nvSpPr>
          <p:cNvPr id="8" name="Screening report-heading">
            <a:extLst xmlns:a="http://schemas.openxmlformats.org/drawingml/2006/main">
              <a:ext uri="{FF2B5EF4-FFF2-40B4-BE49-F238E27FC236}">
                <a16:creationId xmlns:a16="http://schemas.microsoft.com/office/drawing/2014/main" id="{7BC5E236-4A0C-44E1-A976-FC3B46B24550}"/>
              </a:ext>
            </a:extLst>
          </p:cNvPr>
          <p:cNvSpPr>
            <a:spLocks xmlns:a="http://schemas.openxmlformats.org/drawingml/2006/main" noGrp="1"/>
          </p:cNvSpPr>
          <p:nvPr/>
        </p:nvSpPr>
        <p:spPr>
          <a:xfrm xmlns:a="http://schemas.openxmlformats.org/drawingml/2006/main">
            <a:off x="4391025"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Screening report</a:t>
            </a:r>
          </a:p>
        </p:txBody>
      </p:sp>
      <p:sp>
        <p:nvSpPr>
          <p:cNvPr id="9" name="Screening report-271">
            <a:extLst xmlns:a="http://schemas.openxmlformats.org/drawingml/2006/main">
              <a:ext uri="{FF2B5EF4-FFF2-40B4-BE49-F238E27FC236}">
                <a16:creationId xmlns:a16="http://schemas.microsoft.com/office/drawing/2014/main" id="{87BB34A3-F4F2-4836-B7E3-401CC33BA179}"/>
              </a:ext>
            </a:extLst>
          </p:cNvPr>
          <p:cNvSpPr>
            <a:spLocks xmlns:a="http://schemas.openxmlformats.org/drawingml/2006/main" noGrp="1"/>
          </p:cNvSpPr>
          <p:nvPr/>
        </p:nvSpPr>
        <p:spPr>
          <a:xfrm xmlns:a="http://schemas.openxmlformats.org/drawingml/2006/main">
            <a:off x="4391025"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Case ID, entity ID, timestamp, sample flag, counts, and inherent risk.</a:t>
            </a:r>
          </a:p>
        </p:txBody>
      </p:sp>
      <p:sp>
        <p:nvSpPr>
          <p:cNvPr id="10" name="Screening report-377">
            <a:extLst xmlns:a="http://schemas.openxmlformats.org/drawingml/2006/main">
              <a:ext uri="{FF2B5EF4-FFF2-40B4-BE49-F238E27FC236}">
                <a16:creationId xmlns:a16="http://schemas.microsoft.com/office/drawing/2014/main" id="{024401E6-4008-4F0F-8045-0A0DFAEAA616}"/>
              </a:ext>
            </a:extLst>
          </p:cNvPr>
          <p:cNvSpPr>
            <a:spLocks xmlns:a="http://schemas.openxmlformats.org/drawingml/2006/main" noGrp="1"/>
          </p:cNvSpPr>
          <p:nvPr/>
        </p:nvSpPr>
        <p:spPr>
          <a:xfrm xmlns:a="http://schemas.openxmlformats.org/drawingml/2006/main">
            <a:off x="4391025" y="359092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Categories plus findings, severity, decision, and reviewer notes.</a:t>
            </a:r>
          </a:p>
        </p:txBody>
      </p:sp>
      <p:sp>
        <p:nvSpPr>
          <p:cNvPr id="11" name="Case assessment-heading">
            <a:extLst xmlns:a="http://schemas.openxmlformats.org/drawingml/2006/main">
              <a:ext uri="{FF2B5EF4-FFF2-40B4-BE49-F238E27FC236}">
                <a16:creationId xmlns:a16="http://schemas.microsoft.com/office/drawing/2014/main" id="{9C75F8DF-6873-4DF8-8488-A937C0A2F558}"/>
              </a:ext>
            </a:extLst>
          </p:cNvPr>
          <p:cNvSpPr>
            <a:spLocks xmlns:a="http://schemas.openxmlformats.org/drawingml/2006/main" noGrp="1"/>
          </p:cNvSpPr>
          <p:nvPr/>
        </p:nvSpPr>
        <p:spPr>
          <a:xfrm xmlns:a="http://schemas.openxmlformats.org/drawingml/2006/main">
            <a:off x="824865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Case assessment</a:t>
            </a:r>
          </a:p>
        </p:txBody>
      </p:sp>
      <p:sp>
        <p:nvSpPr>
          <p:cNvPr id="12" name="Case assessment-271">
            <a:extLst xmlns:a="http://schemas.openxmlformats.org/drawingml/2006/main">
              <a:ext uri="{FF2B5EF4-FFF2-40B4-BE49-F238E27FC236}">
                <a16:creationId xmlns:a16="http://schemas.microsoft.com/office/drawing/2014/main" id="{321A8985-0071-4A6E-9F8E-772CE67435CF}"/>
              </a:ext>
            </a:extLst>
          </p:cNvPr>
          <p:cNvSpPr>
            <a:spLocks xmlns:a="http://schemas.openxmlformats.org/drawingml/2006/main" noGrp="1"/>
          </p:cNvSpPr>
          <p:nvPr/>
        </p:nvSpPr>
        <p:spPr>
          <a:xfrm xmlns:a="http://schemas.openxmlformats.org/drawingml/2006/main">
            <a:off x="8248650"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Assigned officer, transaction type, and facility description.</a:t>
            </a:r>
          </a:p>
        </p:txBody>
      </p:sp>
      <p:sp>
        <p:nvSpPr>
          <p:cNvPr id="13" name="Case assessment-377">
            <a:extLst xmlns:a="http://schemas.openxmlformats.org/drawingml/2006/main">
              <a:ext uri="{FF2B5EF4-FFF2-40B4-BE49-F238E27FC236}">
                <a16:creationId xmlns:a16="http://schemas.microsoft.com/office/drawing/2014/main" id="{A84634A9-A9C5-4687-A0FD-F72C4B4CA0E5}"/>
              </a:ext>
            </a:extLst>
          </p:cNvPr>
          <p:cNvSpPr>
            <a:spLocks xmlns:a="http://schemas.openxmlformats.org/drawingml/2006/main" noGrp="1"/>
          </p:cNvSpPr>
          <p:nvPr/>
        </p:nvSpPr>
        <p:spPr>
          <a:xfrm xmlns:a="http://schemas.openxmlformats.org/drawingml/2006/main">
            <a:off x="8248650" y="359092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Sensitive sector, policy notes, Equator Principles, assessed risk, and rationale.</a:t>
            </a:r>
          </a:p>
        </p:txBody>
      </p:sp>
    </p:spTree>
    <p:extLst>
      <p:ext uri="{BB962C8B-B14F-4D97-AF65-F5344CB8AC3E}">
        <p14:creationId xmlns:p14="http://schemas.microsoft.com/office/powerpoint/2010/main" val="4945929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86CBD205-4EC2-464A-976A-98105444D3AC}"/>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19</a:t>
            </a:r>
          </a:p>
        </p:txBody>
      </p:sp>
      <p:sp>
        <p:nvSpPr>
          <p:cNvPr id="2" name="title">
            <a:extLst xmlns:a="http://schemas.openxmlformats.org/drawingml/2006/main">
              <a:ext uri="{FF2B5EF4-FFF2-40B4-BE49-F238E27FC236}">
                <a16:creationId xmlns:a16="http://schemas.microsoft.com/office/drawing/2014/main" id="{0D17314C-5DD8-438C-B877-FB7210FA1AB3}"/>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Case state follows a clear lifecycle</a:t>
            </a:r>
          </a:p>
        </p:txBody>
      </p:sp>
      <p:sp>
        <p:nvSpPr>
          <p:cNvPr id="3" name="footer">
            <a:extLst xmlns:a="http://schemas.openxmlformats.org/drawingml/2006/main">
              <a:ext uri="{FF2B5EF4-FFF2-40B4-BE49-F238E27FC236}">
                <a16:creationId xmlns:a16="http://schemas.microsoft.com/office/drawing/2014/main" id="{9912E500-151E-44AD-80B3-548355E71CAA}"/>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Case state follows a clear lifecycle</a:t>
            </a:r>
          </a:p>
        </p:txBody>
      </p:sp>
      <p:sp>
        <p:nvSpPr>
          <p:cNvPr id="4" name="page">
            <a:extLst xmlns:a="http://schemas.openxmlformats.org/drawingml/2006/main">
              <a:ext uri="{FF2B5EF4-FFF2-40B4-BE49-F238E27FC236}">
                <a16:creationId xmlns:a16="http://schemas.microsoft.com/office/drawing/2014/main" id="{F0B28922-6FF2-449D-B4AF-09F64226F160}"/>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19</a:t>
            </a:r>
          </a:p>
        </p:txBody>
      </p:sp>
      <p:graphicFrame>
        <p:nvGraphicFramePr>
          <p:cNvPr id="10" name=""/>
          <p:cNvGraphicFramePr/>
          <p:nvPr/>
        </p:nvGraphicFramePr>
        <p:xfrm>
          <a:off xmlns:a="http://schemas.openxmlformats.org/drawingml/2006/main" x="533400" y="1714500"/>
          <a:ext xmlns:a="http://schemas.openxmlformats.org/drawingml/2006/main" cx="11125200" cy="3857625"/>
        </p:xfrm>
        <a:graphic xmlns:a="http://schemas.openxmlformats.org/drawingml/2006/main">
          <a:graphicData uri="http://schemas.openxmlformats.org/drawingml/2006/table">
            <a:tbl>
              <a:tblPr/>
              <a:tblGrid>
                <a:gridCol w="2686050"/>
                <a:gridCol w="4686300"/>
                <a:gridCol w="3752850"/>
              </a:tblGrid>
              <a:tr h="642938">
                <a:tc>
                  <a:txBody>
                    <a:bodyPr anchor="ctr"/>
                    <a:lstStyle/>
                    <a:p>
                      <a:r>
                        <a:rPr sz="1800" b="1">
                          <a:solidFill>
                            <a:srgbClr val="202124"/>
                          </a:solidFill>
                          <a:latin typeface="Arial"/>
                          <a:ea typeface="Arial"/>
                          <a:cs typeface="Arial"/>
                        </a:rPr>
                        <a:t>Event</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State effect</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Visible result</a:t>
                      </a:r>
                    </a:p>
                  </a:txBody>
                  <a:tcPr marL="91440" marR="91440" marT="45720" marB="45720">
                    <a:solidFill>
                      <a:srgbClr val="F4F5F6"/>
                    </a:solidFill>
                  </a:tcPr>
                </a:tc>
              </a:tr>
              <a:tr h="642938">
                <a:tc>
                  <a:txBody>
                    <a:bodyPr anchor="ctr"/>
                    <a:lstStyle/>
                    <a:p>
                      <a:r>
                        <a:rPr sz="1800" b="0">
                          <a:solidFill>
                            <a:srgbClr val="202124"/>
                          </a:solidFill>
                          <a:latin typeface="Arial"/>
                          <a:ea typeface="Arial"/>
                          <a:cs typeface="Arial"/>
                        </a:rPr>
                        <a:t>Launch</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idle → running; select assessment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Progress panel</a:t>
                      </a:r>
                    </a:p>
                  </a:txBody>
                  <a:tcPr marL="91440" marR="91440" marT="45720" marB="45720">
                    <a:solidFill>
                      <a:srgbClr val="FFFFFF"/>
                    </a:solidFill>
                  </a:tcPr>
                </a:tc>
              </a:tr>
              <a:tr h="642938">
                <a:tc>
                  <a:txBody>
                    <a:bodyPr anchor="ctr"/>
                    <a:lstStyle/>
                    <a:p>
                      <a:r>
                        <a:rPr sz="1800" b="0">
                          <a:solidFill>
                            <a:srgbClr val="202124"/>
                          </a:solidFill>
                          <a:latin typeface="Arial"/>
                          <a:ea typeface="Arial"/>
                          <a:cs typeface="Arial"/>
                        </a:rPr>
                        <a:t>Provider succeeds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running → complete; store report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Findings available</a:t>
                      </a:r>
                    </a:p>
                  </a:txBody>
                  <a:tcPr marL="91440" marR="91440" marT="45720" marB="45720">
                    <a:solidFill>
                      <a:srgbClr val="FFFFFF"/>
                    </a:solidFill>
                  </a:tcPr>
                </a:tc>
              </a:tr>
              <a:tr h="642938">
                <a:tc>
                  <a:txBody>
                    <a:bodyPr anchor="ctr"/>
                    <a:lstStyle/>
                    <a:p>
                      <a:r>
                        <a:rPr sz="1800" b="0">
                          <a:solidFill>
                            <a:srgbClr val="202124"/>
                          </a:solidFill>
                          <a:latin typeface="Arial"/>
                          <a:ea typeface="Arial"/>
                          <a:cs typeface="Arial"/>
                        </a:rPr>
                        <a:t>Provider fails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running → error; keep metadata</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Retry action</a:t>
                      </a:r>
                    </a:p>
                  </a:txBody>
                  <a:tcPr marL="91440" marR="91440" marT="45720" marB="45720">
                    <a:solidFill>
                      <a:srgbClr val="FFFFFF"/>
                    </a:solidFill>
                  </a:tcPr>
                </a:tc>
              </a:tr>
              <a:tr h="642938">
                <a:tc>
                  <a:txBody>
                    <a:bodyPr anchor="ctr"/>
                    <a:lstStyle/>
                    <a:p>
                      <a:r>
                        <a:rPr sz="1800" b="0">
                          <a:solidFill>
                            <a:srgbClr val="202124"/>
                          </a:solidFill>
                          <a:latin typeface="Arial"/>
                          <a:ea typeface="Arial"/>
                          <a:cs typeface="Arial"/>
                        </a:rPr>
                        <a:t>Switch tab / edit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Update reducer state in memory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Memo reflects decisions</a:t>
                      </a:r>
                    </a:p>
                  </a:txBody>
                  <a:tcPr marL="91440" marR="91440" marT="45720" marB="45720">
                    <a:solidFill>
                      <a:srgbClr val="FFFFFF"/>
                    </a:solidFill>
                  </a:tcPr>
                </a:tc>
              </a:tr>
              <a:tr h="642938">
                <a:tc>
                  <a:txBody>
                    <a:bodyPr anchor="ctr"/>
                    <a:lstStyle/>
                    <a:p>
                      <a:r>
                        <a:rPr sz="1800" b="0">
                          <a:solidFill>
                            <a:srgbClr val="202124"/>
                          </a:solidFill>
                          <a:latin typeface="Arial"/>
                          <a:ea typeface="Arial"/>
                          <a:cs typeface="Arial"/>
                        </a:rPr>
                        <a:t>Reload / leave case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Discard the local workspace state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Fresh case on return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302752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02E902F8-05D7-434B-8E1F-CDCFBCA3C89B}"/>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20</a:t>
            </a:r>
          </a:p>
        </p:txBody>
      </p:sp>
      <p:sp>
        <p:nvSpPr>
          <p:cNvPr id="2" name="title">
            <a:extLst xmlns:a="http://schemas.openxmlformats.org/drawingml/2006/main">
              <a:ext uri="{FF2B5EF4-FFF2-40B4-BE49-F238E27FC236}">
                <a16:creationId xmlns:a16="http://schemas.microsoft.com/office/drawing/2014/main" id="{A92A5D4F-C668-4F1F-92A0-CC6DD9089BC1}"/>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Field limits constrain demo inputs</a:t>
            </a:r>
          </a:p>
        </p:txBody>
      </p:sp>
      <p:sp>
        <p:nvSpPr>
          <p:cNvPr id="3" name="footer">
            <a:extLst xmlns:a="http://schemas.openxmlformats.org/drawingml/2006/main">
              <a:ext uri="{FF2B5EF4-FFF2-40B4-BE49-F238E27FC236}">
                <a16:creationId xmlns:a16="http://schemas.microsoft.com/office/drawing/2014/main" id="{3BFF9D9B-625F-47A4-98D1-8A4DA09C296B}"/>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Field limits constrain demo inputs</a:t>
            </a:r>
          </a:p>
        </p:txBody>
      </p:sp>
      <p:sp>
        <p:nvSpPr>
          <p:cNvPr id="4" name="page">
            <a:extLst xmlns:a="http://schemas.openxmlformats.org/drawingml/2006/main">
              <a:ext uri="{FF2B5EF4-FFF2-40B4-BE49-F238E27FC236}">
                <a16:creationId xmlns:a16="http://schemas.microsoft.com/office/drawing/2014/main" id="{CD467342-D217-40B3-B978-C08591ADB707}"/>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20</a:t>
            </a:r>
          </a:p>
        </p:txBody>
      </p:sp>
      <p:graphicFrame>
        <p:nvGraphicFramePr>
          <p:cNvPr id="10" name=""/>
          <p:cNvGraphicFramePr/>
          <p:nvPr/>
        </p:nvGraphicFramePr>
        <p:xfrm>
          <a:off xmlns:a="http://schemas.openxmlformats.org/drawingml/2006/main" x="533400" y="1638300"/>
          <a:ext xmlns:a="http://schemas.openxmlformats.org/drawingml/2006/main" cx="11125200" cy="4171950"/>
        </p:xfrm>
        <a:graphic xmlns:a="http://schemas.openxmlformats.org/drawingml/2006/main">
          <a:graphicData uri="http://schemas.openxmlformats.org/drawingml/2006/table">
            <a:tbl>
              <a:tblPr/>
              <a:tblGrid>
                <a:gridCol w="6191250"/>
                <a:gridCol w="4933950"/>
              </a:tblGrid>
              <a:tr h="595993">
                <a:tc>
                  <a:txBody>
                    <a:bodyPr anchor="ctr"/>
                    <a:lstStyle/>
                    <a:p>
                      <a:r>
                        <a:rPr sz="1800" b="1">
                          <a:solidFill>
                            <a:srgbClr val="202124"/>
                          </a:solidFill>
                          <a:latin typeface="Arial"/>
                          <a:ea typeface="Arial"/>
                          <a:cs typeface="Arial"/>
                        </a:rPr>
                        <a:t>Field</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Limit or allowed values</a:t>
                      </a:r>
                    </a:p>
                  </a:txBody>
                  <a:tcPr marL="91440" marR="91440" marT="45720" marB="45720">
                    <a:solidFill>
                      <a:srgbClr val="F4F5F6"/>
                    </a:solidFill>
                  </a:tcPr>
                </a:tc>
              </a:tr>
              <a:tr h="595993">
                <a:tc>
                  <a:txBody>
                    <a:bodyPr anchor="ctr"/>
                    <a:lstStyle/>
                    <a:p>
                      <a:r>
                        <a:rPr sz="1800" b="0">
                          <a:solidFill>
                            <a:srgbClr val="202124"/>
                          </a:solidFill>
                          <a:latin typeface="Arial"/>
                          <a:ea typeface="Arial"/>
                          <a:cs typeface="Arial"/>
                        </a:rPr>
                        <a:t>Search query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1–120 characters after trimming</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Assigned officer / sensitive sector</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Maximum 120 characters each</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Facility description</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Maximum 1,000 characters</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Review notes / policy notes / rationale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Maximum 2,000 characters each</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Finding severity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Low / Medium / High</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Assessed risk</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Low / Medium / High /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304100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4603B001-9D67-45B4-A53F-EF40A6DE697D}"/>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21</a:t>
            </a:r>
          </a:p>
        </p:txBody>
      </p:sp>
      <p:sp>
        <p:nvSpPr>
          <p:cNvPr id="2" name="title">
            <a:extLst xmlns:a="http://schemas.openxmlformats.org/drawingml/2006/main">
              <a:ext uri="{FF2B5EF4-FFF2-40B4-BE49-F238E27FC236}">
                <a16:creationId xmlns:a16="http://schemas.microsoft.com/office/drawing/2014/main" id="{5CFA7536-A12F-4549-9C12-5CBD0CB814C1}"/>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Security controls have explicit limits</a:t>
            </a:r>
          </a:p>
        </p:txBody>
      </p:sp>
      <p:sp>
        <p:nvSpPr>
          <p:cNvPr id="3" name="footer">
            <a:extLst xmlns:a="http://schemas.openxmlformats.org/drawingml/2006/main">
              <a:ext uri="{FF2B5EF4-FFF2-40B4-BE49-F238E27FC236}">
                <a16:creationId xmlns:a16="http://schemas.microsoft.com/office/drawing/2014/main" id="{AAD77004-0473-4D24-BB37-EC96EA9302EE}"/>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Security controls have explicit limits</a:t>
            </a:r>
          </a:p>
        </p:txBody>
      </p:sp>
      <p:sp>
        <p:nvSpPr>
          <p:cNvPr id="4" name="page">
            <a:extLst xmlns:a="http://schemas.openxmlformats.org/drawingml/2006/main">
              <a:ext uri="{FF2B5EF4-FFF2-40B4-BE49-F238E27FC236}">
                <a16:creationId xmlns:a16="http://schemas.microsoft.com/office/drawing/2014/main" id="{ED7ADA47-7A07-41F9-985B-B656BB5D4A19}"/>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21</a:t>
            </a:r>
          </a:p>
        </p:txBody>
      </p:sp>
      <p:sp>
        <p:nvSpPr>
          <p:cNvPr id="5" name="Implemented-heading">
            <a:extLst xmlns:a="http://schemas.openxmlformats.org/drawingml/2006/main">
              <a:ext uri="{FF2B5EF4-FFF2-40B4-BE49-F238E27FC236}">
                <a16:creationId xmlns:a16="http://schemas.microsoft.com/office/drawing/2014/main" id="{D53ECFE1-CA46-494A-B4F5-1488728A628E}"/>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Implemented</a:t>
            </a:r>
          </a:p>
        </p:txBody>
      </p:sp>
      <p:sp>
        <p:nvSpPr>
          <p:cNvPr id="6" name="Implemented-255">
            <a:extLst xmlns:a="http://schemas.openxmlformats.org/drawingml/2006/main">
              <a:ext uri="{FF2B5EF4-FFF2-40B4-BE49-F238E27FC236}">
                <a16:creationId xmlns:a16="http://schemas.microsoft.com/office/drawing/2014/main" id="{BD735B5E-45A7-4AFA-BE44-34E9BF1398C5}"/>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Server-only adapters, runtime validation, escaped React text, and generic errors.</a:t>
            </a:r>
          </a:p>
        </p:txBody>
      </p:sp>
      <p:sp>
        <p:nvSpPr>
          <p:cNvPr id="7" name="Implemented-333">
            <a:extLst xmlns:a="http://schemas.openxmlformats.org/drawingml/2006/main">
              <a:ext uri="{FF2B5EF4-FFF2-40B4-BE49-F238E27FC236}">
                <a16:creationId xmlns:a16="http://schemas.microsoft.com/office/drawing/2014/main" id="{8E59D30D-B5FF-4BC7-9F73-A46A476AE5A7}"/>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No client credentials or sensitive browser storage.</a:t>
            </a:r>
          </a:p>
        </p:txBody>
      </p:sp>
      <p:sp>
        <p:nvSpPr>
          <p:cNvPr id="8" name="Implemented-411">
            <a:extLst xmlns:a="http://schemas.openxmlformats.org/drawingml/2006/main">
              <a:ext uri="{FF2B5EF4-FFF2-40B4-BE49-F238E27FC236}">
                <a16:creationId xmlns:a16="http://schemas.microsoft.com/office/drawing/2014/main" id="{C2F4053E-A284-4B7E-9CDA-0A0AD9635519}"/>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Security headers and a same-origin browser request check.</a:t>
            </a:r>
          </a:p>
        </p:txBody>
      </p:sp>
      <p:sp>
        <p:nvSpPr>
          <p:cNvPr id="9" name="Needed for real data-heading">
            <a:extLst xmlns:a="http://schemas.openxmlformats.org/drawingml/2006/main">
              <a:ext uri="{FF2B5EF4-FFF2-40B4-BE49-F238E27FC236}">
                <a16:creationId xmlns:a16="http://schemas.microsoft.com/office/drawing/2014/main" id="{09CAB634-1F02-46B0-9B93-FDBCBF67182C}"/>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Needed for real data</a:t>
            </a:r>
          </a:p>
        </p:txBody>
      </p:sp>
      <p:sp>
        <p:nvSpPr>
          <p:cNvPr id="10" name="Needed for real data-255">
            <a:extLst xmlns:a="http://schemas.openxmlformats.org/drawingml/2006/main">
              <a:ext uri="{FF2B5EF4-FFF2-40B4-BE49-F238E27FC236}">
                <a16:creationId xmlns:a16="http://schemas.microsoft.com/office/drawing/2014/main" id="{8A82299B-30A6-427C-891C-EC0B2DE1B74B}"/>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Server authentication and tenant/entity authorization.</a:t>
            </a:r>
          </a:p>
        </p:txBody>
      </p:sp>
      <p:sp>
        <p:nvSpPr>
          <p:cNvPr id="11" name="Needed for real data-333">
            <a:extLst xmlns:a="http://schemas.openxmlformats.org/drawingml/2006/main">
              <a:ext uri="{FF2B5EF4-FFF2-40B4-BE49-F238E27FC236}">
                <a16:creationId xmlns:a16="http://schemas.microsoft.com/office/drawing/2014/main" id="{F95988CF-E693-44AA-A115-F4527095106C}"/>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Rate limits, audit records, persistent storage, and upstream request limits.</a:t>
            </a:r>
          </a:p>
        </p:txBody>
      </p:sp>
      <p:sp>
        <p:nvSpPr>
          <p:cNvPr id="12" name="Needed for real data-411">
            <a:extLst xmlns:a="http://schemas.openxmlformats.org/drawingml/2006/main">
              <a:ext uri="{FF2B5EF4-FFF2-40B4-BE49-F238E27FC236}">
                <a16:creationId xmlns:a16="http://schemas.microsoft.com/office/drawing/2014/main" id="{EECCC3CE-6BE7-433E-BD54-682ACA7CE58C}"/>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Deployment-specific CSP, trusted proxy configuration, and operational monitoring.</a:t>
            </a:r>
          </a:p>
        </p:txBody>
      </p:sp>
    </p:spTree>
    <p:extLst>
      <p:ext uri="{BB962C8B-B14F-4D97-AF65-F5344CB8AC3E}">
        <p14:creationId xmlns:p14="http://schemas.microsoft.com/office/powerpoint/2010/main" val="4962082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B3886040-D8E0-48B1-A858-B5B2FA9BFA38}"/>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IMPLEMENTATION  /  22</a:t>
            </a:r>
          </a:p>
        </p:txBody>
      </p:sp>
      <p:sp>
        <p:nvSpPr>
          <p:cNvPr id="2" name="title">
            <a:extLst xmlns:a="http://schemas.openxmlformats.org/drawingml/2006/main">
              <a:ext uri="{FF2B5EF4-FFF2-40B4-BE49-F238E27FC236}">
                <a16:creationId xmlns:a16="http://schemas.microsoft.com/office/drawing/2014/main" id="{F477555B-9178-48E8-BCE2-C450368B6D75}"/>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Rendering stays lean and accessible</a:t>
            </a:r>
          </a:p>
        </p:txBody>
      </p:sp>
      <p:sp>
        <p:nvSpPr>
          <p:cNvPr id="3" name="footer">
            <a:extLst xmlns:a="http://schemas.openxmlformats.org/drawingml/2006/main">
              <a:ext uri="{FF2B5EF4-FFF2-40B4-BE49-F238E27FC236}">
                <a16:creationId xmlns:a16="http://schemas.microsoft.com/office/drawing/2014/main" id="{122F2486-1648-4182-9484-9720B4413E9C}"/>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Rendering stays lean and accessible</a:t>
            </a:r>
          </a:p>
        </p:txBody>
      </p:sp>
      <p:sp>
        <p:nvSpPr>
          <p:cNvPr id="4" name="page">
            <a:extLst xmlns:a="http://schemas.openxmlformats.org/drawingml/2006/main">
              <a:ext uri="{FF2B5EF4-FFF2-40B4-BE49-F238E27FC236}">
                <a16:creationId xmlns:a16="http://schemas.microsoft.com/office/drawing/2014/main" id="{2DA4CBED-817A-40D7-89AC-E45129C6ACED}"/>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22</a:t>
            </a:r>
          </a:p>
        </p:txBody>
      </p:sp>
      <p:sp>
        <p:nvSpPr>
          <p:cNvPr id="5" name="Server rendering-heading">
            <a:extLst xmlns:a="http://schemas.openxmlformats.org/drawingml/2006/main">
              <a:ext uri="{FF2B5EF4-FFF2-40B4-BE49-F238E27FC236}">
                <a16:creationId xmlns:a16="http://schemas.microsoft.com/office/drawing/2014/main" id="{2445BE4E-9C60-4368-97AB-734B062F53CE}"/>
              </a:ext>
            </a:extLst>
          </p:cNvPr>
          <p:cNvSpPr>
            <a:spLocks xmlns:a="http://schemas.openxmlformats.org/drawingml/2006/main" noGrp="1"/>
          </p:cNvSpPr>
          <p:nvPr/>
        </p:nvSpPr>
        <p:spPr>
          <a:xfrm xmlns:a="http://schemas.openxmlformats.org/drawingml/2006/main">
            <a:off x="53340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Server rendering</a:t>
            </a:r>
          </a:p>
        </p:txBody>
      </p:sp>
      <p:sp>
        <p:nvSpPr>
          <p:cNvPr id="6" name="Server rendering-271">
            <a:extLst xmlns:a="http://schemas.openxmlformats.org/drawingml/2006/main">
              <a:ext uri="{FF2B5EF4-FFF2-40B4-BE49-F238E27FC236}">
                <a16:creationId xmlns:a16="http://schemas.microsoft.com/office/drawing/2014/main" id="{E8BB51CA-1656-4121-A311-CD912DD3E193}"/>
              </a:ext>
            </a:extLst>
          </p:cNvPr>
          <p:cNvSpPr>
            <a:spLocks xmlns:a="http://schemas.openxmlformats.org/drawingml/2006/main" noGrp="1"/>
          </p:cNvSpPr>
          <p:nvPr/>
        </p:nvSpPr>
        <p:spPr>
          <a:xfrm xmlns:a="http://schemas.openxmlformats.org/drawingml/2006/main">
            <a:off x="533400" y="258127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Pages and metadata run on the server.</a:t>
            </a:r>
          </a:p>
        </p:txBody>
      </p:sp>
      <p:sp>
        <p:nvSpPr>
          <p:cNvPr id="7" name="Server rendering-349">
            <a:extLst xmlns:a="http://schemas.openxmlformats.org/drawingml/2006/main">
              <a:ext uri="{FF2B5EF4-FFF2-40B4-BE49-F238E27FC236}">
                <a16:creationId xmlns:a16="http://schemas.microsoft.com/office/drawing/2014/main" id="{06ADD306-A3C2-48DC-BA8E-538B0127A3EC}"/>
              </a:ext>
            </a:extLst>
          </p:cNvPr>
          <p:cNvSpPr>
            <a:spLocks xmlns:a="http://schemas.openxmlformats.org/drawingml/2006/main" noGrp="1"/>
          </p:cNvSpPr>
          <p:nvPr/>
        </p:nvSpPr>
        <p:spPr>
          <a:xfrm xmlns:a="http://schemas.openxmlformats.org/drawingml/2006/main">
            <a:off x="533400" y="332422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Entity data is loaded before the interactive workspace renders.</a:t>
            </a:r>
          </a:p>
        </p:txBody>
      </p:sp>
      <p:sp>
        <p:nvSpPr>
          <p:cNvPr id="8" name="Server rendering-455">
            <a:extLst xmlns:a="http://schemas.openxmlformats.org/drawingml/2006/main">
              <a:ext uri="{FF2B5EF4-FFF2-40B4-BE49-F238E27FC236}">
                <a16:creationId xmlns:a16="http://schemas.microsoft.com/office/drawing/2014/main" id="{69DE7039-B2D4-4663-BEF9-C504187779A9}"/>
              </a:ext>
            </a:extLst>
          </p:cNvPr>
          <p:cNvSpPr>
            <a:spLocks xmlns:a="http://schemas.openxmlformats.org/drawingml/2006/main" noGrp="1"/>
          </p:cNvSpPr>
          <p:nvPr/>
        </p:nvSpPr>
        <p:spPr>
          <a:xfrm xmlns:a="http://schemas.openxmlformats.org/drawingml/2006/main">
            <a:off x="533400" y="433387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Supporting pages can be prerendered.</a:t>
            </a:r>
          </a:p>
        </p:txBody>
      </p:sp>
      <p:sp>
        <p:nvSpPr>
          <p:cNvPr id="9" name="Client boundaries-heading">
            <a:extLst xmlns:a="http://schemas.openxmlformats.org/drawingml/2006/main">
              <a:ext uri="{FF2B5EF4-FFF2-40B4-BE49-F238E27FC236}">
                <a16:creationId xmlns:a16="http://schemas.microsoft.com/office/drawing/2014/main" id="{BF9B103A-F92E-455D-BEA6-7BFEBCB5DE68}"/>
              </a:ext>
            </a:extLst>
          </p:cNvPr>
          <p:cNvSpPr>
            <a:spLocks xmlns:a="http://schemas.openxmlformats.org/drawingml/2006/main" noGrp="1"/>
          </p:cNvSpPr>
          <p:nvPr/>
        </p:nvSpPr>
        <p:spPr>
          <a:xfrm xmlns:a="http://schemas.openxmlformats.org/drawingml/2006/main">
            <a:off x="4391025"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Client boundaries</a:t>
            </a:r>
          </a:p>
        </p:txBody>
      </p:sp>
      <p:sp>
        <p:nvSpPr>
          <p:cNvPr id="10" name="Client boundaries-271">
            <a:extLst xmlns:a="http://schemas.openxmlformats.org/drawingml/2006/main">
              <a:ext uri="{FF2B5EF4-FFF2-40B4-BE49-F238E27FC236}">
                <a16:creationId xmlns:a16="http://schemas.microsoft.com/office/drawing/2014/main" id="{160209C1-FEBE-45BE-87A3-6DE3DEDB5E80}"/>
              </a:ext>
            </a:extLst>
          </p:cNvPr>
          <p:cNvSpPr>
            <a:spLocks xmlns:a="http://schemas.openxmlformats.org/drawingml/2006/main" noGrp="1"/>
          </p:cNvSpPr>
          <p:nvPr/>
        </p:nvSpPr>
        <p:spPr>
          <a:xfrm xmlns:a="http://schemas.openxmlformats.org/drawingml/2006/main">
            <a:off x="4391025" y="258127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AppShell controls navigation.</a:t>
            </a:r>
          </a:p>
        </p:txBody>
      </p:sp>
      <p:sp>
        <p:nvSpPr>
          <p:cNvPr id="11" name="Client boundaries-349">
            <a:extLst xmlns:a="http://schemas.openxmlformats.org/drawingml/2006/main">
              <a:ext uri="{FF2B5EF4-FFF2-40B4-BE49-F238E27FC236}">
                <a16:creationId xmlns:a16="http://schemas.microsoft.com/office/drawing/2014/main" id="{F4CA0B18-07B4-4AF7-9B8B-E83987B476B0}"/>
              </a:ext>
            </a:extLst>
          </p:cNvPr>
          <p:cNvSpPr>
            <a:spLocks xmlns:a="http://schemas.openxmlformats.org/drawingml/2006/main" noGrp="1"/>
          </p:cNvSpPr>
          <p:nvPr/>
        </p:nvSpPr>
        <p:spPr>
          <a:xfrm xmlns:a="http://schemas.openxmlformats.org/drawingml/2006/main">
            <a:off x="4391025" y="332422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EntitySearch handles form events; CaseWorkspace owns review interaction.</a:t>
            </a:r>
          </a:p>
        </p:txBody>
      </p:sp>
      <p:sp>
        <p:nvSpPr>
          <p:cNvPr id="12" name="Client boundaries-455">
            <a:extLst xmlns:a="http://schemas.openxmlformats.org/drawingml/2006/main">
              <a:ext uri="{FF2B5EF4-FFF2-40B4-BE49-F238E27FC236}">
                <a16:creationId xmlns:a16="http://schemas.microsoft.com/office/drawing/2014/main" id="{808343A9-6602-4246-B247-9A32AAF43286}"/>
              </a:ext>
            </a:extLst>
          </p:cNvPr>
          <p:cNvSpPr>
            <a:spLocks xmlns:a="http://schemas.openxmlformats.org/drawingml/2006/main" noGrp="1"/>
          </p:cNvSpPr>
          <p:nvPr/>
        </p:nvSpPr>
        <p:spPr>
          <a:xfrm xmlns:a="http://schemas.openxmlformats.org/drawingml/2006/main">
            <a:off x="4391025" y="43338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System fonts and SVG icons avoid external asset requests.</a:t>
            </a:r>
          </a:p>
        </p:txBody>
      </p:sp>
      <p:sp>
        <p:nvSpPr>
          <p:cNvPr id="13" name="Accessible controls-heading">
            <a:extLst xmlns:a="http://schemas.openxmlformats.org/drawingml/2006/main">
              <a:ext uri="{FF2B5EF4-FFF2-40B4-BE49-F238E27FC236}">
                <a16:creationId xmlns:a16="http://schemas.microsoft.com/office/drawing/2014/main" id="{2B932C8D-7184-45AB-9101-225F1E39F056}"/>
              </a:ext>
            </a:extLst>
          </p:cNvPr>
          <p:cNvSpPr>
            <a:spLocks xmlns:a="http://schemas.openxmlformats.org/drawingml/2006/main" noGrp="1"/>
          </p:cNvSpPr>
          <p:nvPr/>
        </p:nvSpPr>
        <p:spPr>
          <a:xfrm xmlns:a="http://schemas.openxmlformats.org/drawingml/2006/main">
            <a:off x="8248650" y="1943100"/>
            <a:ext cx="34099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Accessible controls</a:t>
            </a:r>
          </a:p>
        </p:txBody>
      </p:sp>
      <p:sp>
        <p:nvSpPr>
          <p:cNvPr id="14" name="Accessible controls-271">
            <a:extLst xmlns:a="http://schemas.openxmlformats.org/drawingml/2006/main">
              <a:ext uri="{FF2B5EF4-FFF2-40B4-BE49-F238E27FC236}">
                <a16:creationId xmlns:a16="http://schemas.microsoft.com/office/drawing/2014/main" id="{8EB7E792-A669-4891-A64E-C2F15B63DDD2}"/>
              </a:ext>
            </a:extLst>
          </p:cNvPr>
          <p:cNvSpPr>
            <a:spLocks xmlns:a="http://schemas.openxmlformats.org/drawingml/2006/main" noGrp="1"/>
          </p:cNvSpPr>
          <p:nvPr/>
        </p:nvSpPr>
        <p:spPr>
          <a:xfrm xmlns:a="http://schemas.openxmlformats.org/drawingml/2006/main">
            <a:off x="8248650" y="25812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Labels, visible focus, status announcements, and a skip link.</a:t>
            </a:r>
          </a:p>
        </p:txBody>
      </p:sp>
      <p:sp>
        <p:nvSpPr>
          <p:cNvPr id="15" name="Accessible controls-377">
            <a:extLst xmlns:a="http://schemas.openxmlformats.org/drawingml/2006/main">
              <a:ext uri="{FF2B5EF4-FFF2-40B4-BE49-F238E27FC236}">
                <a16:creationId xmlns:a16="http://schemas.microsoft.com/office/drawing/2014/main" id="{0EE57306-A39E-4A7D-A66D-16885B39655D}"/>
              </a:ext>
            </a:extLst>
          </p:cNvPr>
          <p:cNvSpPr>
            <a:spLocks xmlns:a="http://schemas.openxmlformats.org/drawingml/2006/main" noGrp="1"/>
          </p:cNvSpPr>
          <p:nvPr/>
        </p:nvSpPr>
        <p:spPr>
          <a:xfrm xmlns:a="http://schemas.openxmlformats.org/drawingml/2006/main">
            <a:off x="8248650" y="3590925"/>
            <a:ext cx="34099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Semantic tabs with keyboard navigation.</a:t>
            </a:r>
          </a:p>
        </p:txBody>
      </p:sp>
      <p:sp>
        <p:nvSpPr>
          <p:cNvPr id="16" name="Accessible controls-455">
            <a:extLst xmlns:a="http://schemas.openxmlformats.org/drawingml/2006/main">
              <a:ext uri="{FF2B5EF4-FFF2-40B4-BE49-F238E27FC236}">
                <a16:creationId xmlns:a16="http://schemas.microsoft.com/office/drawing/2014/main" id="{CEC73D09-DD72-4B43-8C63-6FDB768A31DA}"/>
              </a:ext>
            </a:extLst>
          </p:cNvPr>
          <p:cNvSpPr>
            <a:spLocks xmlns:a="http://schemas.openxmlformats.org/drawingml/2006/main" noGrp="1"/>
          </p:cNvSpPr>
          <p:nvPr/>
        </p:nvSpPr>
        <p:spPr>
          <a:xfrm xmlns:a="http://schemas.openxmlformats.org/drawingml/2006/main">
            <a:off x="8248650" y="4333875"/>
            <a:ext cx="34099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Text accompanies risk colors; reduced motion and print styles are included.</a:t>
            </a:r>
          </a:p>
        </p:txBody>
      </p:sp>
    </p:spTree>
    <p:extLst>
      <p:ext uri="{BB962C8B-B14F-4D97-AF65-F5344CB8AC3E}">
        <p14:creationId xmlns:p14="http://schemas.microsoft.com/office/powerpoint/2010/main" val="9945074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265A2C82-1C45-498E-A83E-D3BE1D48DD98}"/>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VERIFICATION  /  23</a:t>
            </a:r>
          </a:p>
        </p:txBody>
      </p:sp>
      <p:sp>
        <p:nvSpPr>
          <p:cNvPr id="2" name="title">
            <a:extLst xmlns:a="http://schemas.openxmlformats.org/drawingml/2006/main">
              <a:ext uri="{FF2B5EF4-FFF2-40B4-BE49-F238E27FC236}">
                <a16:creationId xmlns:a16="http://schemas.microsoft.com/office/drawing/2014/main" id="{C0171FE5-8EF1-4EF3-9B41-5AAFBB7570B6}"/>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Verification covers behavior and layout</a:t>
            </a:r>
          </a:p>
        </p:txBody>
      </p:sp>
      <p:sp>
        <p:nvSpPr>
          <p:cNvPr id="3" name="footer">
            <a:extLst xmlns:a="http://schemas.openxmlformats.org/drawingml/2006/main">
              <a:ext uri="{FF2B5EF4-FFF2-40B4-BE49-F238E27FC236}">
                <a16:creationId xmlns:a16="http://schemas.microsoft.com/office/drawing/2014/main" id="{58635DD9-FCDE-4A49-87AF-8ED7598B555F}"/>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Verification covers behavior and layout</a:t>
            </a:r>
          </a:p>
        </p:txBody>
      </p:sp>
      <p:sp>
        <p:nvSpPr>
          <p:cNvPr id="4" name="page">
            <a:extLst xmlns:a="http://schemas.openxmlformats.org/drawingml/2006/main">
              <a:ext uri="{FF2B5EF4-FFF2-40B4-BE49-F238E27FC236}">
                <a16:creationId xmlns:a16="http://schemas.microsoft.com/office/drawing/2014/main" id="{BBD03777-A273-4BB8-AB8B-7E7F0874D540}"/>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23</a:t>
            </a:r>
          </a:p>
        </p:txBody>
      </p:sp>
      <p:sp>
        <p:nvSpPr>
          <p:cNvPr id="5" name="unit-count">
            <a:extLst xmlns:a="http://schemas.openxmlformats.org/drawingml/2006/main">
              <a:ext uri="{FF2B5EF4-FFF2-40B4-BE49-F238E27FC236}">
                <a16:creationId xmlns:a16="http://schemas.microsoft.com/office/drawing/2014/main" id="{F7DE82F4-2871-4964-A1FB-D5398F28AF23}"/>
              </a:ext>
            </a:extLst>
          </p:cNvPr>
          <p:cNvSpPr>
            <a:spLocks xmlns:a="http://schemas.openxmlformats.org/drawingml/2006/main" noGrp="1"/>
          </p:cNvSpPr>
          <p:nvPr/>
        </p:nvSpPr>
        <p:spPr>
          <a:xfrm xmlns:a="http://schemas.openxmlformats.org/drawingml/2006/main">
            <a:off x="533400" y="1819275"/>
            <a:ext cx="24765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6750" b="1">
                <a:solidFill>
                  <a:srgbClr val="C90024"/>
                </a:solidFill>
                <a:latin typeface="Arial"/>
                <a:ea typeface="Arial"/>
                <a:cs typeface="Arial"/>
              </a:defRPr>
            </a:pPr>
            <a:r>
              <a:t>9</a:t>
            </a:r>
          </a:p>
        </p:txBody>
      </p:sp>
      <p:sp>
        <p:nvSpPr>
          <p:cNvPr id="6" name="unit-label">
            <a:extLst xmlns:a="http://schemas.openxmlformats.org/drawingml/2006/main">
              <a:ext uri="{FF2B5EF4-FFF2-40B4-BE49-F238E27FC236}">
                <a16:creationId xmlns:a16="http://schemas.microsoft.com/office/drawing/2014/main" id="{3F9E32FF-B40B-470B-9D1E-17DCB0030EC9}"/>
              </a:ext>
            </a:extLst>
          </p:cNvPr>
          <p:cNvSpPr>
            <a:spLocks xmlns:a="http://schemas.openxmlformats.org/drawingml/2006/main" noGrp="1"/>
          </p:cNvSpPr>
          <p:nvPr/>
        </p:nvSpPr>
        <p:spPr>
          <a:xfrm xmlns:a="http://schemas.openxmlformats.org/drawingml/2006/main">
            <a:off x="533400" y="3028950"/>
            <a:ext cx="27622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Unit tests</a:t>
            </a:r>
          </a:p>
        </p:txBody>
      </p:sp>
      <p:sp>
        <p:nvSpPr>
          <p:cNvPr id="7" name="unit-desc">
            <a:extLst xmlns:a="http://schemas.openxmlformats.org/drawingml/2006/main">
              <a:ext uri="{FF2B5EF4-FFF2-40B4-BE49-F238E27FC236}">
                <a16:creationId xmlns:a16="http://schemas.microsoft.com/office/drawing/2014/main" id="{94324DF6-B1EC-4CD9-9A02-B6966BC7B60F}"/>
              </a:ext>
            </a:extLst>
          </p:cNvPr>
          <p:cNvSpPr>
            <a:spLocks xmlns:a="http://schemas.openxmlformats.org/drawingml/2006/main" noGrp="1"/>
          </p:cNvSpPr>
          <p:nvPr/>
        </p:nvSpPr>
        <p:spPr>
          <a:xfrm xmlns:a="http://schemas.openxmlformats.org/drawingml/2006/main">
            <a:off x="533400" y="3695700"/>
            <a:ext cx="3219450" cy="1657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Query validation, fixture isolation, report schemas, lifecycle, and memo inclusion.</a:t>
            </a:r>
          </a:p>
        </p:txBody>
      </p:sp>
      <p:sp>
        <p:nvSpPr>
          <p:cNvPr id="8" name="browser-count">
            <a:extLst xmlns:a="http://schemas.openxmlformats.org/drawingml/2006/main">
              <a:ext uri="{FF2B5EF4-FFF2-40B4-BE49-F238E27FC236}">
                <a16:creationId xmlns:a16="http://schemas.microsoft.com/office/drawing/2014/main" id="{F017ADAB-C162-4877-9E5F-F35DAC9F3872}"/>
              </a:ext>
            </a:extLst>
          </p:cNvPr>
          <p:cNvSpPr>
            <a:spLocks xmlns:a="http://schemas.openxmlformats.org/drawingml/2006/main" noGrp="1"/>
          </p:cNvSpPr>
          <p:nvPr/>
        </p:nvSpPr>
        <p:spPr>
          <a:xfrm xmlns:a="http://schemas.openxmlformats.org/drawingml/2006/main">
            <a:off x="4391025" y="1819275"/>
            <a:ext cx="24765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6750" b="1">
                <a:solidFill>
                  <a:srgbClr val="C90024"/>
                </a:solidFill>
                <a:latin typeface="Arial"/>
                <a:ea typeface="Arial"/>
                <a:cs typeface="Arial"/>
              </a:defRPr>
            </a:pPr>
            <a:r>
              <a:t>6</a:t>
            </a:r>
          </a:p>
        </p:txBody>
      </p:sp>
      <p:sp>
        <p:nvSpPr>
          <p:cNvPr id="9" name="browser-label">
            <a:extLst xmlns:a="http://schemas.openxmlformats.org/drawingml/2006/main">
              <a:ext uri="{FF2B5EF4-FFF2-40B4-BE49-F238E27FC236}">
                <a16:creationId xmlns:a16="http://schemas.microsoft.com/office/drawing/2014/main" id="{00C773F1-4754-4D9C-87E2-16C05C9355E8}"/>
              </a:ext>
            </a:extLst>
          </p:cNvPr>
          <p:cNvSpPr>
            <a:spLocks xmlns:a="http://schemas.openxmlformats.org/drawingml/2006/main" noGrp="1"/>
          </p:cNvSpPr>
          <p:nvPr/>
        </p:nvSpPr>
        <p:spPr>
          <a:xfrm xmlns:a="http://schemas.openxmlformats.org/drawingml/2006/main">
            <a:off x="4391025" y="3028950"/>
            <a:ext cx="32194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Browser specs</a:t>
            </a:r>
          </a:p>
        </p:txBody>
      </p:sp>
      <p:sp>
        <p:nvSpPr>
          <p:cNvPr id="10" name="browser-desc">
            <a:extLst xmlns:a="http://schemas.openxmlformats.org/drawingml/2006/main">
              <a:ext uri="{FF2B5EF4-FFF2-40B4-BE49-F238E27FC236}">
                <a16:creationId xmlns:a16="http://schemas.microsoft.com/office/drawing/2014/main" id="{A020E916-F949-471D-B1AB-690EB51263DE}"/>
              </a:ext>
            </a:extLst>
          </p:cNvPr>
          <p:cNvSpPr>
            <a:spLocks xmlns:a="http://schemas.openxmlformats.org/drawingml/2006/main" noGrp="1"/>
          </p:cNvSpPr>
          <p:nvPr/>
        </p:nvSpPr>
        <p:spPr>
          <a:xfrm xmlns:a="http://schemas.openxmlformats.org/drawingml/2006/main">
            <a:off x="4391025" y="3695700"/>
            <a:ext cx="3219450" cy="1657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Desktop/mobile flow, API failures, invalid requests, keyboard tabs, and selected axe checks.</a:t>
            </a:r>
          </a:p>
        </p:txBody>
      </p:sp>
      <p:sp>
        <p:nvSpPr>
          <p:cNvPr id="11" name="quality-label">
            <a:extLst xmlns:a="http://schemas.openxmlformats.org/drawingml/2006/main">
              <a:ext uri="{FF2B5EF4-FFF2-40B4-BE49-F238E27FC236}">
                <a16:creationId xmlns:a16="http://schemas.microsoft.com/office/drawing/2014/main" id="{5D685B9A-6477-48A6-B4A2-09A5BAC0D60F}"/>
              </a:ext>
            </a:extLst>
          </p:cNvPr>
          <p:cNvSpPr>
            <a:spLocks xmlns:a="http://schemas.openxmlformats.org/drawingml/2006/main" noGrp="1"/>
          </p:cNvSpPr>
          <p:nvPr/>
        </p:nvSpPr>
        <p:spPr>
          <a:xfrm xmlns:a="http://schemas.openxmlformats.org/drawingml/2006/main">
            <a:off x="8248650" y="2066925"/>
            <a:ext cx="34099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700" b="1">
                <a:solidFill>
                  <a:srgbClr val="202124"/>
                </a:solidFill>
                <a:latin typeface="Arial"/>
                <a:ea typeface="Arial"/>
                <a:cs typeface="Arial"/>
              </a:defRPr>
            </a:pPr>
            <a:r>
              <a:t>Build checks</a:t>
            </a:r>
          </a:p>
        </p:txBody>
      </p:sp>
      <p:sp>
        <p:nvSpPr>
          <p:cNvPr id="12" name="quality-desc">
            <a:extLst xmlns:a="http://schemas.openxmlformats.org/drawingml/2006/main">
              <a:ext uri="{FF2B5EF4-FFF2-40B4-BE49-F238E27FC236}">
                <a16:creationId xmlns:a16="http://schemas.microsoft.com/office/drawing/2014/main" id="{4E14DC9A-9A3F-4167-BF95-A6FA33D4F966}"/>
              </a:ext>
            </a:extLst>
          </p:cNvPr>
          <p:cNvSpPr>
            <a:spLocks xmlns:a="http://schemas.openxmlformats.org/drawingml/2006/main" noGrp="1"/>
          </p:cNvSpPr>
          <p:nvPr/>
        </p:nvSpPr>
        <p:spPr>
          <a:xfrm xmlns:a="http://schemas.openxmlformats.org/drawingml/2006/main">
            <a:off x="8248650" y="3000375"/>
            <a:ext cx="3409950" cy="2314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Production build</a:t>
            </a:r>
          </a:p>
          <a:p xmlns:a="http://schemas.openxmlformats.org/drawingml/2006/main">
            <a:pPr>
              <a:defRPr sz="1800" b="0">
                <a:solidFill>
                  <a:srgbClr val="202124"/>
                </a:solidFill>
                <a:latin typeface="Arial"/>
                <a:ea typeface="Arial"/>
                <a:cs typeface="Arial"/>
              </a:defRPr>
            </a:pPr>
            <a:r>
              <a:t>TypeScript checks</a:t>
            </a:r>
          </a:p>
          <a:p xmlns:a="http://schemas.openxmlformats.org/drawingml/2006/main">
            <a:pPr>
              <a:defRPr sz="1800" b="0">
                <a:solidFill>
                  <a:srgbClr val="202124"/>
                </a:solidFill>
                <a:latin typeface="Arial"/>
                <a:ea typeface="Arial"/>
                <a:cs typeface="Arial"/>
              </a:defRPr>
            </a:pPr>
            <a:r>
              <a:t>ESLint</a:t>
            </a:r>
          </a:p>
          <a:p xmlns:a="http://schemas.openxmlformats.org/drawingml/2006/main">
            <a:pPr>
              <a:defRPr sz="1800" b="0">
                <a:solidFill>
                  <a:srgbClr val="202124"/>
                </a:solidFill>
                <a:latin typeface="Arial"/>
                <a:ea typeface="Arial"/>
                <a:cs typeface="Arial"/>
              </a:defRPr>
            </a:pPr>
            <a:r>
              <a:t/>
            </a:r>
          </a:p>
          <a:p xmlns:a="http://schemas.openxmlformats.org/drawingml/2006/main">
            <a:pPr>
              <a:defRPr sz="1800" b="0">
                <a:solidFill>
                  <a:srgbClr val="202124"/>
                </a:solidFill>
                <a:latin typeface="Arial"/>
                <a:ea typeface="Arial"/>
                <a:cs typeface="Arial"/>
              </a:defRPr>
            </a:pPr>
            <a:r>
              <a:t>Passed during implementation verification.</a:t>
            </a:r>
          </a:p>
        </p:txBody>
      </p:sp>
    </p:spTree>
    <p:extLst>
      <p:ext uri="{BB962C8B-B14F-4D97-AF65-F5344CB8AC3E}">
        <p14:creationId xmlns:p14="http://schemas.microsoft.com/office/powerpoint/2010/main" val="16414744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0847E118-36EF-4F34-B8EA-D39351F855AD}"/>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OPERATIONS  /  24</a:t>
            </a:r>
          </a:p>
        </p:txBody>
      </p:sp>
      <p:sp>
        <p:nvSpPr>
          <p:cNvPr id="2" name="title">
            <a:extLst xmlns:a="http://schemas.openxmlformats.org/drawingml/2006/main">
              <a:ext uri="{FF2B5EF4-FFF2-40B4-BE49-F238E27FC236}">
                <a16:creationId xmlns:a16="http://schemas.microsoft.com/office/drawing/2014/main" id="{8C8272ED-483B-49B6-9077-BF66714DD13A}"/>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Run and verify the application locally</a:t>
            </a:r>
          </a:p>
        </p:txBody>
      </p:sp>
      <p:sp>
        <p:nvSpPr>
          <p:cNvPr id="3" name="footer">
            <a:extLst xmlns:a="http://schemas.openxmlformats.org/drawingml/2006/main">
              <a:ext uri="{FF2B5EF4-FFF2-40B4-BE49-F238E27FC236}">
                <a16:creationId xmlns:a16="http://schemas.microsoft.com/office/drawing/2014/main" id="{96E9CAB1-9020-4C61-BAA3-03B0D5D03C17}"/>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Run and verify the application locally</a:t>
            </a:r>
          </a:p>
        </p:txBody>
      </p:sp>
      <p:sp>
        <p:nvSpPr>
          <p:cNvPr id="4" name="page">
            <a:extLst xmlns:a="http://schemas.openxmlformats.org/drawingml/2006/main">
              <a:ext uri="{FF2B5EF4-FFF2-40B4-BE49-F238E27FC236}">
                <a16:creationId xmlns:a16="http://schemas.microsoft.com/office/drawing/2014/main" id="{D3F99ABB-A67B-4669-8958-982942783904}"/>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24</a:t>
            </a:r>
          </a:p>
        </p:txBody>
      </p:sp>
      <p:sp>
        <p:nvSpPr>
          <p:cNvPr id="5" name="Install and start-heading">
            <a:extLst xmlns:a="http://schemas.openxmlformats.org/drawingml/2006/main">
              <a:ext uri="{FF2B5EF4-FFF2-40B4-BE49-F238E27FC236}">
                <a16:creationId xmlns:a16="http://schemas.microsoft.com/office/drawing/2014/main" id="{776B814A-8F79-4FBA-B0D8-346F75B799B1}"/>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Install and start</a:t>
            </a:r>
          </a:p>
        </p:txBody>
      </p:sp>
      <p:sp>
        <p:nvSpPr>
          <p:cNvPr id="6" name="Install and start-255">
            <a:extLst xmlns:a="http://schemas.openxmlformats.org/drawingml/2006/main">
              <a:ext uri="{FF2B5EF4-FFF2-40B4-BE49-F238E27FC236}">
                <a16:creationId xmlns:a16="http://schemas.microsoft.com/office/drawing/2014/main" id="{A3CE3787-526D-4DCE-9634-649C9294DC2B}"/>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Node.js 20.9 or later.</a:t>
            </a:r>
          </a:p>
        </p:txBody>
      </p:sp>
      <p:sp>
        <p:nvSpPr>
          <p:cNvPr id="7" name="Install and start-333">
            <a:extLst xmlns:a="http://schemas.openxmlformats.org/drawingml/2006/main">
              <a:ext uri="{FF2B5EF4-FFF2-40B4-BE49-F238E27FC236}">
                <a16:creationId xmlns:a16="http://schemas.microsoft.com/office/drawing/2014/main" id="{42B34669-FA02-4FF0-970E-5DB48653C9C9}"/>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npm ci</a:t>
            </a:r>
          </a:p>
          <a:p xmlns:a="http://schemas.openxmlformats.org/drawingml/2006/main">
            <a:pPr>
              <a:defRPr sz="1800" b="0">
                <a:solidFill>
                  <a:srgbClr val="202124"/>
                </a:solidFill>
                <a:latin typeface="Arial"/>
                <a:ea typeface="Arial"/>
                <a:cs typeface="Arial"/>
              </a:defRPr>
            </a:pPr>
            <a:r>
              <a:t>npm run dev</a:t>
            </a:r>
          </a:p>
        </p:txBody>
      </p:sp>
      <p:sp>
        <p:nvSpPr>
          <p:cNvPr id="8" name="Install and start-411">
            <a:extLst xmlns:a="http://schemas.openxmlformats.org/drawingml/2006/main">
              <a:ext uri="{FF2B5EF4-FFF2-40B4-BE49-F238E27FC236}">
                <a16:creationId xmlns:a16="http://schemas.microsoft.com/office/drawing/2014/main" id="{CF94EDC7-E907-4548-85E9-BBD52094DE66}"/>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Open http://127.0.0.1:3000</a:t>
            </a:r>
          </a:p>
          <a:p xmlns:a="http://schemas.openxmlformats.org/drawingml/2006/main">
            <a:pPr>
              <a:defRPr sz="1800" b="0">
                <a:solidFill>
                  <a:srgbClr val="202124"/>
                </a:solidFill>
                <a:latin typeface="Arial"/>
                <a:ea typeface="Arial"/>
                <a:cs typeface="Arial"/>
              </a:defRPr>
            </a:pPr>
            <a:r>
              <a:t>Search Meridian or ENT-001.</a:t>
            </a:r>
          </a:p>
        </p:txBody>
      </p:sp>
      <p:sp>
        <p:nvSpPr>
          <p:cNvPr id="9" name="Check and build-heading">
            <a:extLst xmlns:a="http://schemas.openxmlformats.org/drawingml/2006/main">
              <a:ext uri="{FF2B5EF4-FFF2-40B4-BE49-F238E27FC236}">
                <a16:creationId xmlns:a16="http://schemas.microsoft.com/office/drawing/2014/main" id="{8711EEC6-7C89-4A5C-9D72-A4FF2D55780E}"/>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Check and build</a:t>
            </a:r>
          </a:p>
        </p:txBody>
      </p:sp>
      <p:sp>
        <p:nvSpPr>
          <p:cNvPr id="10" name="Check and build-255">
            <a:extLst xmlns:a="http://schemas.openxmlformats.org/drawingml/2006/main">
              <a:ext uri="{FF2B5EF4-FFF2-40B4-BE49-F238E27FC236}">
                <a16:creationId xmlns:a16="http://schemas.microsoft.com/office/drawing/2014/main" id="{03B9819B-01B5-466A-833B-272416154FA1}"/>
              </a:ext>
            </a:extLst>
          </p:cNvPr>
          <p:cNvSpPr>
            <a:spLocks xmlns:a="http://schemas.openxmlformats.org/drawingml/2006/main" noGrp="1"/>
          </p:cNvSpPr>
          <p:nvPr/>
        </p:nvSpPr>
        <p:spPr>
          <a:xfrm xmlns:a="http://schemas.openxmlformats.org/drawingml/2006/main">
            <a:off x="6419850" y="2428875"/>
            <a:ext cx="5238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npm run typecheck</a:t>
            </a:r>
          </a:p>
          <a:p xmlns:a="http://schemas.openxmlformats.org/drawingml/2006/main">
            <a:pPr>
              <a:defRPr sz="1800" b="0">
                <a:solidFill>
                  <a:srgbClr val="202124"/>
                </a:solidFill>
                <a:latin typeface="Arial"/>
                <a:ea typeface="Arial"/>
                <a:cs typeface="Arial"/>
              </a:defRPr>
            </a:pPr>
            <a:r>
              <a:t>npm run lint</a:t>
            </a:r>
          </a:p>
          <a:p xmlns:a="http://schemas.openxmlformats.org/drawingml/2006/main">
            <a:pPr>
              <a:defRPr sz="1800" b="0">
                <a:solidFill>
                  <a:srgbClr val="202124"/>
                </a:solidFill>
                <a:latin typeface="Arial"/>
                <a:ea typeface="Arial"/>
                <a:cs typeface="Arial"/>
              </a:defRPr>
            </a:pPr>
            <a:r>
              <a:t>npm test</a:t>
            </a:r>
          </a:p>
          <a:p xmlns:a="http://schemas.openxmlformats.org/drawingml/2006/main">
            <a:pPr>
              <a:defRPr sz="1800" b="0">
                <a:solidFill>
                  <a:srgbClr val="202124"/>
                </a:solidFill>
                <a:latin typeface="Arial"/>
                <a:ea typeface="Arial"/>
                <a:cs typeface="Arial"/>
              </a:defRPr>
            </a:pPr>
            <a:r>
              <a:t>npm run test:e2e</a:t>
            </a:r>
          </a:p>
        </p:txBody>
      </p:sp>
      <p:sp>
        <p:nvSpPr>
          <p:cNvPr id="11" name="Check and build-391">
            <a:extLst xmlns:a="http://schemas.openxmlformats.org/drawingml/2006/main">
              <a:ext uri="{FF2B5EF4-FFF2-40B4-BE49-F238E27FC236}">
                <a16:creationId xmlns:a16="http://schemas.microsoft.com/office/drawing/2014/main" id="{EB9076F5-43D9-4B93-B096-9ED6154309CE}"/>
              </a:ext>
            </a:extLst>
          </p:cNvPr>
          <p:cNvSpPr>
            <a:spLocks xmlns:a="http://schemas.openxmlformats.org/drawingml/2006/main" noGrp="1"/>
          </p:cNvSpPr>
          <p:nvPr/>
        </p:nvSpPr>
        <p:spPr>
          <a:xfrm xmlns:a="http://schemas.openxmlformats.org/drawingml/2006/main">
            <a:off x="6419850" y="37242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npm run build</a:t>
            </a:r>
          </a:p>
          <a:p xmlns:a="http://schemas.openxmlformats.org/drawingml/2006/main">
            <a:pPr>
              <a:defRPr sz="1800" b="0">
                <a:solidFill>
                  <a:srgbClr val="202124"/>
                </a:solidFill>
                <a:latin typeface="Arial"/>
                <a:ea typeface="Arial"/>
                <a:cs typeface="Arial"/>
              </a:defRPr>
            </a:pPr>
            <a:r>
              <a:t>npm start</a:t>
            </a:r>
          </a:p>
        </p:txBody>
      </p:sp>
      <p:sp>
        <p:nvSpPr>
          <p:cNvPr id="12" name="Check and build-469">
            <a:extLst xmlns:a="http://schemas.openxmlformats.org/drawingml/2006/main">
              <a:ext uri="{FF2B5EF4-FFF2-40B4-BE49-F238E27FC236}">
                <a16:creationId xmlns:a16="http://schemas.microsoft.com/office/drawing/2014/main" id="{0342EA46-0A9B-47CD-B32B-8A68F6993D99}"/>
              </a:ext>
            </a:extLst>
          </p:cNvPr>
          <p:cNvSpPr>
            <a:spLocks xmlns:a="http://schemas.openxmlformats.org/drawingml/2006/main" noGrp="1"/>
          </p:cNvSpPr>
          <p:nvPr/>
        </p:nvSpPr>
        <p:spPr>
          <a:xfrm xmlns:a="http://schemas.openxmlformats.org/drawingml/2006/main">
            <a:off x="6419850" y="44672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Stop the development server before starting production on the same port.</a:t>
            </a:r>
          </a:p>
        </p:txBody>
      </p:sp>
    </p:spTree>
    <p:extLst>
      <p:ext uri="{BB962C8B-B14F-4D97-AF65-F5344CB8AC3E}">
        <p14:creationId xmlns:p14="http://schemas.microsoft.com/office/powerpoint/2010/main" val="4917415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B33F2989-DDF2-4342-8DC4-1A4A293BDA3F}"/>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OPERATIONS  /  25</a:t>
            </a:r>
          </a:p>
        </p:txBody>
      </p:sp>
      <p:sp>
        <p:nvSpPr>
          <p:cNvPr id="2" name="title">
            <a:extLst xmlns:a="http://schemas.openxmlformats.org/drawingml/2006/main">
              <a:ext uri="{FF2B5EF4-FFF2-40B4-BE49-F238E27FC236}">
                <a16:creationId xmlns:a16="http://schemas.microsoft.com/office/drawing/2014/main" id="{668DC9B3-BD19-4C4E-B15F-CA3BDF09ACD3}"/>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Dependencies are pinned for reproducibility</a:t>
            </a:r>
          </a:p>
        </p:txBody>
      </p:sp>
      <p:sp>
        <p:nvSpPr>
          <p:cNvPr id="3" name="footer">
            <a:extLst xmlns:a="http://schemas.openxmlformats.org/drawingml/2006/main">
              <a:ext uri="{FF2B5EF4-FFF2-40B4-BE49-F238E27FC236}">
                <a16:creationId xmlns:a16="http://schemas.microsoft.com/office/drawing/2014/main" id="{711EE64E-A9E3-468D-A53F-EC9B5FE4BC4D}"/>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Dependencies are pinned for reproducibility</a:t>
            </a:r>
          </a:p>
        </p:txBody>
      </p:sp>
      <p:sp>
        <p:nvSpPr>
          <p:cNvPr id="4" name="page">
            <a:extLst xmlns:a="http://schemas.openxmlformats.org/drawingml/2006/main">
              <a:ext uri="{FF2B5EF4-FFF2-40B4-BE49-F238E27FC236}">
                <a16:creationId xmlns:a16="http://schemas.microsoft.com/office/drawing/2014/main" id="{450EB757-3B2D-43A5-8216-D069CF8F6A1D}"/>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25</a:t>
            </a:r>
          </a:p>
        </p:txBody>
      </p:sp>
      <p:graphicFrame>
        <p:nvGraphicFramePr>
          <p:cNvPr id="10" name=""/>
          <p:cNvGraphicFramePr/>
          <p:nvPr/>
        </p:nvGraphicFramePr>
        <p:xfrm>
          <a:off xmlns:a="http://schemas.openxmlformats.org/drawingml/2006/main" x="533400" y="1638300"/>
          <a:ext xmlns:a="http://schemas.openxmlformats.org/drawingml/2006/main" cx="11125200" cy="4171950"/>
        </p:xfrm>
        <a:graphic xmlns:a="http://schemas.openxmlformats.org/drawingml/2006/main">
          <a:graphicData uri="http://schemas.openxmlformats.org/drawingml/2006/table">
            <a:tbl>
              <a:tblPr/>
              <a:tblGrid>
                <a:gridCol w="4476750"/>
                <a:gridCol w="6648450"/>
              </a:tblGrid>
              <a:tr h="595993">
                <a:tc>
                  <a:txBody>
                    <a:bodyPr anchor="ctr"/>
                    <a:lstStyle/>
                    <a:p>
                      <a:r>
                        <a:rPr sz="1800" b="1">
                          <a:solidFill>
                            <a:srgbClr val="202124"/>
                          </a:solidFill>
                          <a:latin typeface="Arial"/>
                          <a:ea typeface="Arial"/>
                          <a:cs typeface="Arial"/>
                        </a:rPr>
                        <a:t>Layer</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Pinned version / implementation</a:t>
                      </a:r>
                    </a:p>
                  </a:txBody>
                  <a:tcPr marL="91440" marR="91440" marT="45720" marB="45720">
                    <a:solidFill>
                      <a:srgbClr val="F4F5F6"/>
                    </a:solidFill>
                  </a:tcPr>
                </a:tc>
              </a:tr>
              <a:tr h="595993">
                <a:tc>
                  <a:txBody>
                    <a:bodyPr anchor="ctr"/>
                    <a:lstStyle/>
                    <a:p>
                      <a:r>
                        <a:rPr sz="1800" b="0">
                          <a:solidFill>
                            <a:srgbClr val="202124"/>
                          </a:solidFill>
                          <a:latin typeface="Arial"/>
                          <a:ea typeface="Arial"/>
                          <a:cs typeface="Arial"/>
                        </a:rPr>
                        <a:t>Framework</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Next.js 16.3.6 with App Router</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UI runtime</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React and React DOM 19.3.0</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Styling</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Tailwind CSS 4.3.3</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Type checking</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TypeScript compiler 7.0.2</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Tooling compatibility</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TypeScript 6.0.2 API alias</a:t>
                      </a:r>
                    </a:p>
                  </a:txBody>
                  <a:tcPr marL="91440" marR="91440" marT="45720" marB="45720">
                    <a:solidFill>
                      <a:srgbClr val="FFFFFF"/>
                    </a:solidFill>
                  </a:tcPr>
                </a:tc>
              </a:tr>
              <a:tr h="595993">
                <a:tc>
                  <a:txBody>
                    <a:bodyPr anchor="ctr"/>
                    <a:lstStyle/>
                    <a:p>
                      <a:r>
                        <a:rPr sz="1800" b="0">
                          <a:solidFill>
                            <a:srgbClr val="202124"/>
                          </a:solidFill>
                          <a:latin typeface="Arial"/>
                          <a:ea typeface="Arial"/>
                          <a:cs typeface="Arial"/>
                        </a:rPr>
                        <a:t>Validation</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Zod 4.6.5</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6960260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39ED566E-B799-4907-B23B-72C901D7DC78}"/>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PRODUCTION HANDOFF  /  26</a:t>
            </a:r>
          </a:p>
        </p:txBody>
      </p:sp>
      <p:sp>
        <p:nvSpPr>
          <p:cNvPr id="2" name="title">
            <a:extLst xmlns:a="http://schemas.openxmlformats.org/drawingml/2006/main">
              <a:ext uri="{FF2B5EF4-FFF2-40B4-BE49-F238E27FC236}">
                <a16:creationId xmlns:a16="http://schemas.microsoft.com/office/drawing/2014/main" id="{F346100D-AC8E-4226-BB34-89FE62BC1C7D}"/>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Connect real services without changing the UI</a:t>
            </a:r>
          </a:p>
        </p:txBody>
      </p:sp>
      <p:sp>
        <p:nvSpPr>
          <p:cNvPr id="3" name="footer">
            <a:extLst xmlns:a="http://schemas.openxmlformats.org/drawingml/2006/main">
              <a:ext uri="{FF2B5EF4-FFF2-40B4-BE49-F238E27FC236}">
                <a16:creationId xmlns:a16="http://schemas.microsoft.com/office/drawing/2014/main" id="{BC05BD67-0C5B-48AE-8481-9D5B3D7B784C}"/>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Connect real services without changing the UI</a:t>
            </a:r>
          </a:p>
        </p:txBody>
      </p:sp>
      <p:sp>
        <p:nvSpPr>
          <p:cNvPr id="4" name="page">
            <a:extLst xmlns:a="http://schemas.openxmlformats.org/drawingml/2006/main">
              <a:ext uri="{FF2B5EF4-FFF2-40B4-BE49-F238E27FC236}">
                <a16:creationId xmlns:a16="http://schemas.microsoft.com/office/drawing/2014/main" id="{CBA5BE8B-8D9B-4B79-BE55-28662F828E11}"/>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26</a:t>
            </a:r>
          </a:p>
        </p:txBody>
      </p:sp>
      <p:sp>
        <p:nvSpPr>
          <p:cNvPr id="5" name="Keep the contracts-heading">
            <a:extLst xmlns:a="http://schemas.openxmlformats.org/drawingml/2006/main">
              <a:ext uri="{FF2B5EF4-FFF2-40B4-BE49-F238E27FC236}">
                <a16:creationId xmlns:a16="http://schemas.microsoft.com/office/drawing/2014/main" id="{60CAADB4-92B4-4AE9-BD9F-04F236421E9E}"/>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Keep the contracts</a:t>
            </a:r>
          </a:p>
        </p:txBody>
      </p:sp>
      <p:sp>
        <p:nvSpPr>
          <p:cNvPr id="6" name="Keep the contracts-255">
            <a:extLst xmlns:a="http://schemas.openxmlformats.org/drawingml/2006/main">
              <a:ext uri="{FF2B5EF4-FFF2-40B4-BE49-F238E27FC236}">
                <a16:creationId xmlns:a16="http://schemas.microsoft.com/office/drawing/2014/main" id="{EC5B5276-56ED-454C-8902-2089D42B803C}"/>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Replace entity-service.ts with the authorized entity directory.</a:t>
            </a:r>
          </a:p>
        </p:txBody>
      </p:sp>
      <p:sp>
        <p:nvSpPr>
          <p:cNvPr id="7" name="Keep the contracts-333">
            <a:extLst xmlns:a="http://schemas.openxmlformats.org/drawingml/2006/main">
              <a:ext uri="{FF2B5EF4-FFF2-40B4-BE49-F238E27FC236}">
                <a16:creationId xmlns:a16="http://schemas.microsoft.com/office/drawing/2014/main" id="{BC2637F0-1517-43CA-9828-BEBE4EA851AD}"/>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Replace screening-service.ts with a real provider adapter.</a:t>
            </a:r>
          </a:p>
        </p:txBody>
      </p:sp>
      <p:sp>
        <p:nvSpPr>
          <p:cNvPr id="8" name="Keep the contracts-411">
            <a:extLst xmlns:a="http://schemas.openxmlformats.org/drawingml/2006/main">
              <a:ext uri="{FF2B5EF4-FFF2-40B4-BE49-F238E27FC236}">
                <a16:creationId xmlns:a16="http://schemas.microsoft.com/office/drawing/2014/main" id="{46C600B5-B35A-4CD1-BF46-C9ED4D913A07}"/>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Validate upstream responses and remove sample-only labels and schema restrictions.</a:t>
            </a:r>
          </a:p>
        </p:txBody>
      </p:sp>
      <p:sp>
        <p:nvSpPr>
          <p:cNvPr id="9" name="Add durable operations-heading">
            <a:extLst xmlns:a="http://schemas.openxmlformats.org/drawingml/2006/main">
              <a:ext uri="{FF2B5EF4-FFF2-40B4-BE49-F238E27FC236}">
                <a16:creationId xmlns:a16="http://schemas.microsoft.com/office/drawing/2014/main" id="{BF85719E-760F-4BE0-8385-9184C7581D25}"/>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Add durable operations</a:t>
            </a:r>
          </a:p>
        </p:txBody>
      </p:sp>
      <p:sp>
        <p:nvSpPr>
          <p:cNvPr id="10" name="Add durable operations-255">
            <a:extLst xmlns:a="http://schemas.openxmlformats.org/drawingml/2006/main">
              <a:ext uri="{FF2B5EF4-FFF2-40B4-BE49-F238E27FC236}">
                <a16:creationId xmlns:a16="http://schemas.microsoft.com/office/drawing/2014/main" id="{243B5D18-8F5F-4FAB-9F39-1DD41AA27A3D}"/>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Use screening jobs with polling and server-side idempotency.</a:t>
            </a:r>
          </a:p>
        </p:txBody>
      </p:sp>
      <p:sp>
        <p:nvSpPr>
          <p:cNvPr id="11" name="Add durable operations-333">
            <a:extLst xmlns:a="http://schemas.openxmlformats.org/drawingml/2006/main">
              <a:ext uri="{FF2B5EF4-FFF2-40B4-BE49-F238E27FC236}">
                <a16:creationId xmlns:a16="http://schemas.microsoft.com/office/drawing/2014/main" id="{D190E6B5-6312-4A9B-A8DD-ACA64444E319}"/>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Store case decisions, metadata, policy fields, and audit history.</a:t>
            </a:r>
          </a:p>
        </p:txBody>
      </p:sp>
      <p:sp>
        <p:nvSpPr>
          <p:cNvPr id="12" name="Add durable operations-411">
            <a:extLst xmlns:a="http://schemas.openxmlformats.org/drawingml/2006/main">
              <a:ext uri="{FF2B5EF4-FFF2-40B4-BE49-F238E27FC236}">
                <a16:creationId xmlns:a16="http://schemas.microsoft.com/office/drawing/2014/main" id="{DB9C467B-2023-4AA4-83B9-A10FD932CFE4}"/>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Enforce access controls on every server data operation.</a:t>
            </a:r>
          </a:p>
        </p:txBody>
      </p:sp>
    </p:spTree>
    <p:extLst>
      <p:ext uri="{BB962C8B-B14F-4D97-AF65-F5344CB8AC3E}">
        <p14:creationId xmlns:p14="http://schemas.microsoft.com/office/powerpoint/2010/main" val="46844438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5A334657-BB8B-4F86-BD88-3E746EABF27E}"/>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HANDOFF NOTES  /  27</a:t>
            </a:r>
          </a:p>
        </p:txBody>
      </p:sp>
      <p:sp>
        <p:nvSpPr>
          <p:cNvPr id="2" name="title">
            <a:extLst xmlns:a="http://schemas.openxmlformats.org/drawingml/2006/main">
              <a:ext uri="{FF2B5EF4-FFF2-40B4-BE49-F238E27FC236}">
                <a16:creationId xmlns:a16="http://schemas.microsoft.com/office/drawing/2014/main" id="{DAA60DCB-EDF7-4118-96F6-E3053CC3145F}"/>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Read the demo with these assumptions</a:t>
            </a:r>
          </a:p>
        </p:txBody>
      </p:sp>
      <p:sp>
        <p:nvSpPr>
          <p:cNvPr id="3" name="footer">
            <a:extLst xmlns:a="http://schemas.openxmlformats.org/drawingml/2006/main">
              <a:ext uri="{FF2B5EF4-FFF2-40B4-BE49-F238E27FC236}">
                <a16:creationId xmlns:a16="http://schemas.microsoft.com/office/drawing/2014/main" id="{3754967A-2361-4DCB-ADC8-EA6D3BD9E937}"/>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Read the demo with these assumptions</a:t>
            </a:r>
          </a:p>
        </p:txBody>
      </p:sp>
      <p:sp>
        <p:nvSpPr>
          <p:cNvPr id="4" name="page">
            <a:extLst xmlns:a="http://schemas.openxmlformats.org/drawingml/2006/main">
              <a:ext uri="{FF2B5EF4-FFF2-40B4-BE49-F238E27FC236}">
                <a16:creationId xmlns:a16="http://schemas.microsoft.com/office/drawing/2014/main" id="{87834195-8895-4311-BBAA-7F1E70AB14D7}"/>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27</a:t>
            </a:r>
          </a:p>
        </p:txBody>
      </p:sp>
      <p:graphicFrame>
        <p:nvGraphicFramePr>
          <p:cNvPr id="10" name=""/>
          <p:cNvGraphicFramePr/>
          <p:nvPr/>
        </p:nvGraphicFramePr>
        <p:xfrm>
          <a:off xmlns:a="http://schemas.openxmlformats.org/drawingml/2006/main" x="533400" y="1714500"/>
          <a:ext xmlns:a="http://schemas.openxmlformats.org/drawingml/2006/main" cx="11125200" cy="3905250"/>
        </p:xfrm>
        <a:graphic xmlns:a="http://schemas.openxmlformats.org/drawingml/2006/main">
          <a:graphicData uri="http://schemas.openxmlformats.org/drawingml/2006/table">
            <a:tbl>
              <a:tblPr/>
              <a:tblGrid>
                <a:gridCol w="5391150"/>
                <a:gridCol w="5734050"/>
              </a:tblGrid>
              <a:tr h="650875">
                <a:tc>
                  <a:txBody>
                    <a:bodyPr anchor="ctr"/>
                    <a:lstStyle/>
                    <a:p>
                      <a:r>
                        <a:rPr sz="1800" b="1">
                          <a:solidFill>
                            <a:srgbClr val="202124"/>
                          </a:solidFill>
                          <a:latin typeface="Arial"/>
                          <a:ea typeface="Arial"/>
                          <a:cs typeface="Arial"/>
                        </a:rPr>
                        <a:t>Reference ambiguity</a:t>
                      </a:r>
                    </a:p>
                  </a:txBody>
                  <a:tcPr marL="91440" marR="91440" marT="45720" marB="45720">
                    <a:solidFill>
                      <a:srgbClr val="F4F5F6"/>
                    </a:solidFill>
                  </a:tcPr>
                </a:tc>
                <a:tc>
                  <a:txBody>
                    <a:bodyPr anchor="ctr"/>
                    <a:lstStyle/>
                    <a:p>
                      <a:r>
                        <a:rPr sz="1800" b="1">
                          <a:solidFill>
                            <a:srgbClr val="202124"/>
                          </a:solidFill>
                          <a:latin typeface="Arial"/>
                          <a:ea typeface="Arial"/>
                          <a:cs typeface="Arial"/>
                        </a:rPr>
                        <a:t>Implementation decision</a:t>
                      </a:r>
                    </a:p>
                  </a:txBody>
                  <a:tcPr marL="91440" marR="91440" marT="45720" marB="45720">
                    <a:solidFill>
                      <a:srgbClr val="F4F5F6"/>
                    </a:solidFill>
                  </a:tcPr>
                </a:tc>
              </a:tr>
              <a:tr h="650875">
                <a:tc>
                  <a:txBody>
                    <a:bodyPr anchor="ctr"/>
                    <a:lstStyle/>
                    <a:p>
                      <a:r>
                        <a:rPr sz="1800" b="0">
                          <a:solidFill>
                            <a:srgbClr val="202124"/>
                          </a:solidFill>
                          <a:latin typeface="Arial"/>
                          <a:ea typeface="Arial"/>
                          <a:cs typeface="Arial"/>
                        </a:rPr>
                        <a:t>Different GCIF values in photographs</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Use ENT-001 consistently</a:t>
                      </a:r>
                    </a:p>
                  </a:txBody>
                  <a:tcPr marL="91440" marR="91440" marT="45720" marB="45720">
                    <a:solidFill>
                      <a:srgbClr val="FFFFFF"/>
                    </a:solidFill>
                  </a:tcPr>
                </a:tc>
              </a:tr>
              <a:tr h="650875">
                <a:tc>
                  <a:txBody>
                    <a:bodyPr anchor="ctr"/>
                    <a:lstStyle/>
                    <a:p>
                      <a:r>
                        <a:rPr sz="1800" b="0">
                          <a:solidFill>
                            <a:srgbClr val="202124"/>
                          </a:solidFill>
                          <a:latin typeface="Arial"/>
                          <a:ea typeface="Arial"/>
                          <a:cs typeface="Arial"/>
                        </a:rPr>
                        <a:t>Unreadable news/source text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Use explicitly fictional sample findings</a:t>
                      </a:r>
                    </a:p>
                  </a:txBody>
                  <a:tcPr marL="91440" marR="91440" marT="45720" marB="45720">
                    <a:solidFill>
                      <a:srgbClr val="FFFFFF"/>
                    </a:solidFill>
                  </a:tcPr>
                </a:tc>
              </a:tr>
              <a:tr h="650875">
                <a:tc>
                  <a:txBody>
                    <a:bodyPr anchor="ctr"/>
                    <a:lstStyle/>
                    <a:p>
                      <a:r>
                        <a:rPr sz="1800" b="0">
                          <a:solidFill>
                            <a:srgbClr val="202124"/>
                          </a:solidFill>
                          <a:latin typeface="Arial"/>
                          <a:ea typeface="Arial"/>
                          <a:cs typeface="Arial"/>
                        </a:rPr>
                        <a:t>Seven findings shown during loading</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Provide the two visible sample findings</a:t>
                      </a:r>
                    </a:p>
                  </a:txBody>
                  <a:tcPr marL="91440" marR="91440" marT="45720" marB="45720">
                    <a:solidFill>
                      <a:srgbClr val="FFFFFF"/>
                    </a:solidFill>
                  </a:tcPr>
                </a:tc>
              </a:tr>
              <a:tr h="650875">
                <a:tc>
                  <a:txBody>
                    <a:bodyPr anchor="ctr"/>
                    <a:lstStyle/>
                    <a:p>
                      <a:r>
                        <a:rPr sz="1800" b="0">
                          <a:solidFill>
                            <a:srgbClr val="202124"/>
                          </a:solidFill>
                          <a:latin typeface="Arial"/>
                          <a:ea typeface="Arial"/>
                          <a:cs typeface="Arial"/>
                        </a:rPr>
                        <a:t>Critical report vs Low memo screenshot</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Start memo risk at Critical; allow reviewer edits</a:t>
                      </a:r>
                    </a:p>
                  </a:txBody>
                  <a:tcPr marL="91440" marR="91440" marT="45720" marB="45720">
                    <a:solidFill>
                      <a:srgbClr val="FFFFFF"/>
                    </a:solidFill>
                  </a:tcPr>
                </a:tc>
              </a:tr>
              <a:tr h="650875">
                <a:tc>
                  <a:txBody>
                    <a:bodyPr anchor="ctr"/>
                    <a:lstStyle/>
                    <a:p>
                      <a:r>
                        <a:rPr sz="1800" b="0">
                          <a:solidFill>
                            <a:srgbClr val="202124"/>
                          </a:solidFill>
                          <a:latin typeface="Arial"/>
                          <a:ea typeface="Arial"/>
                          <a:cs typeface="Arial"/>
                        </a:rPr>
                        <a:t>MUFG brand asset not supplied</a:t>
                      </a:r>
                    </a:p>
                  </a:txBody>
                  <a:tcPr marL="91440" marR="91440" marT="45720" marB="45720">
                    <a:solidFill>
                      <a:srgbClr val="FFFFFF"/>
                    </a:solidFill>
                  </a:tcPr>
                </a:tc>
                <a:tc>
                  <a:txBody>
                    <a:bodyPr anchor="ctr"/>
                    <a:lstStyle/>
                    <a:p>
                      <a:r>
                        <a:rPr sz="1800" b="0">
                          <a:solidFill>
                            <a:srgbClr val="202124"/>
                          </a:solidFill>
                          <a:latin typeface="Arial"/>
                          <a:ea typeface="Arial"/>
                          <a:cs typeface="Arial"/>
                        </a:rPr>
                        <a:t>Use an SVG approximation pending approved artwork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883232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E30BBD1F-B91C-4B77-9089-4040D9E2F417}"/>
              </a:ext>
            </a:extLst>
          </p:cNvPr>
          <p:cNvSpPr>
            <a:spLocks xmlns:a="http://schemas.openxmlformats.org/drawingml/2006/main" noGrp="1"/>
          </p:cNvSpPr>
          <p:nvPr/>
        </p:nvSpPr>
        <p:spPr>
          <a:xfrm xmlns:a="http://schemas.openxmlformats.org/drawingml/2006/main">
            <a:off x="533400" y="257175"/>
            <a:ext cx="10477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C90024"/>
                </a:solidFill>
                <a:latin typeface="Arial"/>
                <a:ea typeface="Arial"/>
                <a:cs typeface="Arial"/>
              </a:defRPr>
            </a:pPr>
            <a:r>
              <a:t>NEXT STEPS  /  28</a:t>
            </a:r>
          </a:p>
        </p:txBody>
      </p:sp>
      <p:sp>
        <p:nvSpPr>
          <p:cNvPr id="2" name="title">
            <a:extLst xmlns:a="http://schemas.openxmlformats.org/drawingml/2006/main">
              <a:ext uri="{FF2B5EF4-FFF2-40B4-BE49-F238E27FC236}">
                <a16:creationId xmlns:a16="http://schemas.microsoft.com/office/drawing/2014/main" id="{C6F2A285-CB7A-4413-BFF9-472ABFD69359}"/>
              </a:ext>
            </a:extLst>
          </p:cNvPr>
          <p:cNvSpPr>
            <a:spLocks xmlns:a="http://schemas.openxmlformats.org/drawingml/2006/main" noGrp="1"/>
          </p:cNvSpPr>
          <p:nvPr/>
        </p:nvSpPr>
        <p:spPr>
          <a:xfrm xmlns:a="http://schemas.openxmlformats.org/drawingml/2006/main">
            <a:off x="533400" y="723900"/>
            <a:ext cx="11125200" cy="647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02124"/>
                </a:solidFill>
                <a:latin typeface="Arial"/>
                <a:ea typeface="Arial"/>
                <a:cs typeface="Arial"/>
              </a:defRPr>
            </a:pPr>
            <a:r>
              <a:t>Use the full journey to review the handover</a:t>
            </a:r>
          </a:p>
        </p:txBody>
      </p:sp>
      <p:sp>
        <p:nvSpPr>
          <p:cNvPr id="3" name="footer">
            <a:extLst xmlns:a="http://schemas.openxmlformats.org/drawingml/2006/main">
              <a:ext uri="{FF2B5EF4-FFF2-40B4-BE49-F238E27FC236}">
                <a16:creationId xmlns:a16="http://schemas.microsoft.com/office/drawing/2014/main" id="{870FF355-8AC1-48EB-A9BC-8508237A4248}"/>
              </a:ext>
            </a:extLst>
          </p:cNvPr>
          <p:cNvSpPr>
            <a:spLocks xmlns:a="http://schemas.openxmlformats.org/drawingml/2006/main" noGrp="1"/>
          </p:cNvSpPr>
          <p:nvPr/>
        </p:nvSpPr>
        <p:spPr>
          <a:xfrm xmlns:a="http://schemas.openxmlformats.org/drawingml/2006/main">
            <a:off x="533400" y="6400800"/>
            <a:ext cx="95250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0646C"/>
                </a:solidFill>
                <a:latin typeface="Arial"/>
                <a:ea typeface="Arial"/>
                <a:cs typeface="Arial"/>
              </a:defRPr>
            </a:pPr>
            <a:r>
              <a:t>ARMO  /  Use the full journey to review the handover</a:t>
            </a:r>
          </a:p>
        </p:txBody>
      </p:sp>
      <p:sp>
        <p:nvSpPr>
          <p:cNvPr id="4" name="page">
            <a:extLst xmlns:a="http://schemas.openxmlformats.org/drawingml/2006/main">
              <a:ext uri="{FF2B5EF4-FFF2-40B4-BE49-F238E27FC236}">
                <a16:creationId xmlns:a16="http://schemas.microsoft.com/office/drawing/2014/main" id="{B1669BA4-15A9-4111-86C9-AB469E881FFD}"/>
              </a:ext>
            </a:extLst>
          </p:cNvPr>
          <p:cNvSpPr>
            <a:spLocks xmlns:a="http://schemas.openxmlformats.org/drawingml/2006/main" noGrp="1"/>
          </p:cNvSpPr>
          <p:nvPr/>
        </p:nvSpPr>
        <p:spPr>
          <a:xfrm xmlns:a="http://schemas.openxmlformats.org/drawingml/2006/main">
            <a:off x="11144250" y="6400800"/>
            <a:ext cx="5143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60646C"/>
                </a:solidFill>
                <a:latin typeface="Arial"/>
                <a:ea typeface="Arial"/>
                <a:cs typeface="Arial"/>
              </a:defRPr>
            </a:pPr>
            <a:r>
              <a:t>28</a:t>
            </a:r>
          </a:p>
        </p:txBody>
      </p:sp>
      <p:sp>
        <p:nvSpPr>
          <p:cNvPr id="5" name="Walk through the demo-heading">
            <a:extLst xmlns:a="http://schemas.openxmlformats.org/drawingml/2006/main">
              <a:ext uri="{FF2B5EF4-FFF2-40B4-BE49-F238E27FC236}">
                <a16:creationId xmlns:a16="http://schemas.microsoft.com/office/drawing/2014/main" id="{EC35757F-EB75-479B-BFC8-D93B94CB0AA9}"/>
              </a:ext>
            </a:extLst>
          </p:cNvPr>
          <p:cNvSpPr>
            <a:spLocks xmlns:a="http://schemas.openxmlformats.org/drawingml/2006/main" noGrp="1"/>
          </p:cNvSpPr>
          <p:nvPr/>
        </p:nvSpPr>
        <p:spPr>
          <a:xfrm xmlns:a="http://schemas.openxmlformats.org/drawingml/2006/main">
            <a:off x="53340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Walk through the demo</a:t>
            </a:r>
          </a:p>
        </p:txBody>
      </p:sp>
      <p:sp>
        <p:nvSpPr>
          <p:cNvPr id="6" name="Walk through the demo-255">
            <a:extLst xmlns:a="http://schemas.openxmlformats.org/drawingml/2006/main">
              <a:ext uri="{FF2B5EF4-FFF2-40B4-BE49-F238E27FC236}">
                <a16:creationId xmlns:a16="http://schemas.microsoft.com/office/drawing/2014/main" id="{DDC949DE-3726-425A-B19B-CF92E7E2CBE9}"/>
              </a:ext>
            </a:extLst>
          </p:cNvPr>
          <p:cNvSpPr>
            <a:spLocks xmlns:a="http://schemas.openxmlformats.org/drawingml/2006/main" noGrp="1"/>
          </p:cNvSpPr>
          <p:nvPr/>
        </p:nvSpPr>
        <p:spPr>
          <a:xfrm xmlns:a="http://schemas.openxmlformats.org/drawingml/2006/main">
            <a:off x="53340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Search Meridian and confirm the entity.</a:t>
            </a:r>
          </a:p>
        </p:txBody>
      </p:sp>
      <p:sp>
        <p:nvSpPr>
          <p:cNvPr id="7" name="Walk through the demo-333">
            <a:extLst xmlns:a="http://schemas.openxmlformats.org/drawingml/2006/main">
              <a:ext uri="{FF2B5EF4-FFF2-40B4-BE49-F238E27FC236}">
                <a16:creationId xmlns:a16="http://schemas.microsoft.com/office/drawing/2014/main" id="{6C7E6FE5-6595-4553-940B-671DC473412C}"/>
              </a:ext>
            </a:extLst>
          </p:cNvPr>
          <p:cNvSpPr>
            <a:spLocks xmlns:a="http://schemas.openxmlformats.org/drawingml/2006/main" noGrp="1"/>
          </p:cNvSpPr>
          <p:nvPr/>
        </p:nvSpPr>
        <p:spPr>
          <a:xfrm xmlns:a="http://schemas.openxmlformats.org/drawingml/2006/main">
            <a:off x="53340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Review the group and launch screening.</a:t>
            </a:r>
          </a:p>
        </p:txBody>
      </p:sp>
      <p:sp>
        <p:nvSpPr>
          <p:cNvPr id="8" name="Walk through the demo-411">
            <a:extLst xmlns:a="http://schemas.openxmlformats.org/drawingml/2006/main">
              <a:ext uri="{FF2B5EF4-FFF2-40B4-BE49-F238E27FC236}">
                <a16:creationId xmlns:a16="http://schemas.microsoft.com/office/drawing/2014/main" id="{D97E4426-AF28-4214-945F-2D60552A132D}"/>
              </a:ext>
            </a:extLst>
          </p:cNvPr>
          <p:cNvSpPr>
            <a:spLocks xmlns:a="http://schemas.openxmlformats.org/drawingml/2006/main" noGrp="1"/>
          </p:cNvSpPr>
          <p:nvPr/>
        </p:nvSpPr>
        <p:spPr>
          <a:xfrm xmlns:a="http://schemas.openxmlformats.org/drawingml/2006/main">
            <a:off x="53340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Include one finding, exclude another, then inspect the memo.</a:t>
            </a:r>
          </a:p>
        </p:txBody>
      </p:sp>
      <p:sp>
        <p:nvSpPr>
          <p:cNvPr id="9" name="Continue with the source-heading">
            <a:extLst xmlns:a="http://schemas.openxmlformats.org/drawingml/2006/main">
              <a:ext uri="{FF2B5EF4-FFF2-40B4-BE49-F238E27FC236}">
                <a16:creationId xmlns:a16="http://schemas.microsoft.com/office/drawing/2014/main" id="{84C1B8EB-7468-408A-8607-74EEABB02229}"/>
              </a:ext>
            </a:extLst>
          </p:cNvPr>
          <p:cNvSpPr>
            <a:spLocks xmlns:a="http://schemas.openxmlformats.org/drawingml/2006/main" noGrp="1"/>
          </p:cNvSpPr>
          <p:nvPr/>
        </p:nvSpPr>
        <p:spPr>
          <a:xfrm xmlns:a="http://schemas.openxmlformats.org/drawingml/2006/main">
            <a:off x="6419850" y="17907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02124"/>
                </a:solidFill>
                <a:latin typeface="Arial"/>
                <a:ea typeface="Arial"/>
                <a:cs typeface="Arial"/>
              </a:defRPr>
            </a:pPr>
            <a:r>
              <a:t>Continue with the source</a:t>
            </a:r>
          </a:p>
        </p:txBody>
      </p:sp>
      <p:sp>
        <p:nvSpPr>
          <p:cNvPr id="10" name="Continue with the source-255">
            <a:extLst xmlns:a="http://schemas.openxmlformats.org/drawingml/2006/main">
              <a:ext uri="{FF2B5EF4-FFF2-40B4-BE49-F238E27FC236}">
                <a16:creationId xmlns:a16="http://schemas.microsoft.com/office/drawing/2014/main" id="{9C5D2838-4D63-4E85-AA10-E8A23E5894F3}"/>
              </a:ext>
            </a:extLst>
          </p:cNvPr>
          <p:cNvSpPr>
            <a:spLocks xmlns:a="http://schemas.openxmlformats.org/drawingml/2006/main" noGrp="1"/>
          </p:cNvSpPr>
          <p:nvPr/>
        </p:nvSpPr>
        <p:spPr>
          <a:xfrm xmlns:a="http://schemas.openxmlformats.org/drawingml/2006/main">
            <a:off x="6419850" y="24288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README.md contains setup, design assumptions, and integration guidance.</a:t>
            </a:r>
          </a:p>
        </p:txBody>
      </p:sp>
      <p:sp>
        <p:nvSpPr>
          <p:cNvPr id="11" name="Continue with the source-333">
            <a:extLst xmlns:a="http://schemas.openxmlformats.org/drawingml/2006/main">
              <a:ext uri="{FF2B5EF4-FFF2-40B4-BE49-F238E27FC236}">
                <a16:creationId xmlns:a16="http://schemas.microsoft.com/office/drawing/2014/main" id="{B6F7D365-44D1-46D7-9634-1F53AAEBCCD2}"/>
              </a:ext>
            </a:extLst>
          </p:cNvPr>
          <p:cNvSpPr>
            <a:spLocks xmlns:a="http://schemas.openxmlformats.org/drawingml/2006/main" noGrp="1"/>
          </p:cNvSpPr>
          <p:nvPr/>
        </p:nvSpPr>
        <p:spPr>
          <a:xfrm xmlns:a="http://schemas.openxmlformats.org/drawingml/2006/main">
            <a:off x="6419850" y="317182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IMPLEMENTATION.md contains the complete file-by-file source.</a:t>
            </a:r>
          </a:p>
        </p:txBody>
      </p:sp>
      <p:sp>
        <p:nvSpPr>
          <p:cNvPr id="12" name="Continue with the source-411">
            <a:extLst xmlns:a="http://schemas.openxmlformats.org/drawingml/2006/main">
              <a:ext uri="{FF2B5EF4-FFF2-40B4-BE49-F238E27FC236}">
                <a16:creationId xmlns:a16="http://schemas.microsoft.com/office/drawing/2014/main" id="{F4996DAE-39B6-4F24-82DB-6B3E169C3EB3}"/>
              </a:ext>
            </a:extLst>
          </p:cNvPr>
          <p:cNvSpPr>
            <a:spLocks xmlns:a="http://schemas.openxmlformats.org/drawingml/2006/main" noGrp="1"/>
          </p:cNvSpPr>
          <p:nvPr/>
        </p:nvSpPr>
        <p:spPr>
          <a:xfrm xmlns:a="http://schemas.openxmlformats.org/drawingml/2006/main">
            <a:off x="6419850" y="3914775"/>
            <a:ext cx="5238750"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202124"/>
                </a:solidFill>
                <a:latin typeface="Arial"/>
                <a:ea typeface="Arial"/>
                <a:cs typeface="Arial"/>
              </a:defRPr>
            </a:pPr>
            <a:r>
              <a:t>Agree the real data, identity, storage, and approval requirements before deployment.</a:t>
            </a:r>
          </a:p>
        </p:txBody>
      </p:sp>
    </p:spTree>
    <p:extLst>
      <p:ext uri="{BB962C8B-B14F-4D97-AF65-F5344CB8AC3E}">
        <p14:creationId xmlns:p14="http://schemas.microsoft.com/office/powerpoint/2010/main" val="1272724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2026-09-26T13:43:12.2980000Z</dcterms:created>
  <dcterms:modified xsi:type="dcterms:W3CDTF">2026-09-26T13:43:12.2980000Z</dcterms:modified>
</coreProperties>
</file>